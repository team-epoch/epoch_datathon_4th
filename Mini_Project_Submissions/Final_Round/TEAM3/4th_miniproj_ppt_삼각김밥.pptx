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6"/>
  </p:notesMasterIdLst>
  <p:sldIdLst>
    <p:sldId id="264" r:id="rId3"/>
    <p:sldId id="339" r:id="rId4"/>
    <p:sldId id="340" r:id="rId5"/>
    <p:sldId id="350" r:id="rId6"/>
    <p:sldId id="345" r:id="rId7"/>
    <p:sldId id="351" r:id="rId8"/>
    <p:sldId id="341" r:id="rId9"/>
    <p:sldId id="352" r:id="rId10"/>
    <p:sldId id="353" r:id="rId11"/>
    <p:sldId id="354" r:id="rId12"/>
    <p:sldId id="358" r:id="rId13"/>
    <p:sldId id="359" r:id="rId14"/>
    <p:sldId id="361" r:id="rId15"/>
    <p:sldId id="360" r:id="rId16"/>
    <p:sldId id="362" r:id="rId17"/>
    <p:sldId id="366" r:id="rId18"/>
    <p:sldId id="363" r:id="rId19"/>
    <p:sldId id="355" r:id="rId20"/>
    <p:sldId id="348" r:id="rId21"/>
    <p:sldId id="349" r:id="rId22"/>
    <p:sldId id="367" r:id="rId23"/>
    <p:sldId id="357" r:id="rId24"/>
    <p:sldId id="356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65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163DF1-1162-4526-9E2A-7117D4B1A99A}" v="14" dt="2026-03-30T11:57:23.532"/>
    <p1510:client id="{CBCE2250-AED8-4F8B-BC16-2F9E92AA03A2}" v="2" dt="2026-03-30T14:11:20.8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AF606853-7671-496A-8E4F-DF71F8EC918B}" styleName="어두운 스타일 1 - 강조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88723"/>
  </p:normalViewPr>
  <p:slideViewPr>
    <p:cSldViewPr snapToGrid="0">
      <p:cViewPr varScale="1">
        <p:scale>
          <a:sx n="70" d="100"/>
          <a:sy n="70" d="100"/>
        </p:scale>
        <p:origin x="906" y="267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7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재원 신" userId="cf9c179672ef1def" providerId="LiveId" clId="{9CC87821-95D0-4DCF-9440-9C8E176F6F84}"/>
    <pc:docChg chg="undo custSel addSld delSld modSld">
      <pc:chgData name="재원 신" userId="cf9c179672ef1def" providerId="LiveId" clId="{9CC87821-95D0-4DCF-9440-9C8E176F6F84}" dt="2026-03-30T14:25:26.128" v="364" actId="20577"/>
      <pc:docMkLst>
        <pc:docMk/>
      </pc:docMkLst>
      <pc:sldChg chg="addSp modSp mod">
        <pc:chgData name="재원 신" userId="cf9c179672ef1def" providerId="LiveId" clId="{9CC87821-95D0-4DCF-9440-9C8E176F6F84}" dt="2026-03-30T14:11:55.653" v="348" actId="1076"/>
        <pc:sldMkLst>
          <pc:docMk/>
          <pc:sldMk cId="3153345936" sldId="339"/>
        </pc:sldMkLst>
        <pc:spChg chg="add mod">
          <ac:chgData name="재원 신" userId="cf9c179672ef1def" providerId="LiveId" clId="{9CC87821-95D0-4DCF-9440-9C8E176F6F84}" dt="2026-03-30T14:10:56.211" v="340" actId="113"/>
          <ac:spMkLst>
            <pc:docMk/>
            <pc:sldMk cId="3153345936" sldId="339"/>
            <ac:spMk id="2" creationId="{251C598A-14BF-0158-08BA-C10549AA5315}"/>
          </ac:spMkLst>
        </pc:spChg>
        <pc:spChg chg="add mod">
          <ac:chgData name="재원 신" userId="cf9c179672ef1def" providerId="LiveId" clId="{9CC87821-95D0-4DCF-9440-9C8E176F6F84}" dt="2026-03-30T14:11:48.366" v="347" actId="1076"/>
          <ac:spMkLst>
            <pc:docMk/>
            <pc:sldMk cId="3153345936" sldId="339"/>
            <ac:spMk id="4" creationId="{E9CE8E4C-43F6-29D8-533F-ECD4E84B6582}"/>
          </ac:spMkLst>
        </pc:spChg>
        <pc:spChg chg="mod">
          <ac:chgData name="재원 신" userId="cf9c179672ef1def" providerId="LiveId" clId="{9CC87821-95D0-4DCF-9440-9C8E176F6F84}" dt="2026-03-30T14:08:56.227" v="315" actId="1076"/>
          <ac:spMkLst>
            <pc:docMk/>
            <pc:sldMk cId="3153345936" sldId="339"/>
            <ac:spMk id="5" creationId="{00000000-0000-0000-0000-000000000000}"/>
          </ac:spMkLst>
        </pc:spChg>
        <pc:cxnChg chg="add mod">
          <ac:chgData name="재원 신" userId="cf9c179672ef1def" providerId="LiveId" clId="{9CC87821-95D0-4DCF-9440-9C8E176F6F84}" dt="2026-03-30T14:11:55.653" v="348" actId="1076"/>
          <ac:cxnSpMkLst>
            <pc:docMk/>
            <pc:sldMk cId="3153345936" sldId="339"/>
            <ac:cxnSpMk id="7" creationId="{8741CEBA-0E96-2F46-62A1-1886A96DDE93}"/>
          </ac:cxnSpMkLst>
        </pc:cxnChg>
      </pc:sldChg>
      <pc:sldChg chg="modSp mod">
        <pc:chgData name="재원 신" userId="cf9c179672ef1def" providerId="LiveId" clId="{9CC87821-95D0-4DCF-9440-9C8E176F6F84}" dt="2026-03-30T12:15:44.814" v="41" actId="20577"/>
        <pc:sldMkLst>
          <pc:docMk/>
          <pc:sldMk cId="88700345" sldId="348"/>
        </pc:sldMkLst>
        <pc:spChg chg="mod">
          <ac:chgData name="재원 신" userId="cf9c179672ef1def" providerId="LiveId" clId="{9CC87821-95D0-4DCF-9440-9C8E176F6F84}" dt="2026-03-30T12:15:44.814" v="41" actId="20577"/>
          <ac:spMkLst>
            <pc:docMk/>
            <pc:sldMk cId="88700345" sldId="348"/>
            <ac:spMk id="6" creationId="{F77D8868-AAA0-51BD-B56E-26737DC6B756}"/>
          </ac:spMkLst>
        </pc:spChg>
      </pc:sldChg>
      <pc:sldChg chg="modSp mod">
        <pc:chgData name="재원 신" userId="cf9c179672ef1def" providerId="LiveId" clId="{9CC87821-95D0-4DCF-9440-9C8E176F6F84}" dt="2026-03-30T14:25:26.128" v="364" actId="20577"/>
        <pc:sldMkLst>
          <pc:docMk/>
          <pc:sldMk cId="3841164014" sldId="349"/>
        </pc:sldMkLst>
        <pc:spChg chg="mod">
          <ac:chgData name="재원 신" userId="cf9c179672ef1def" providerId="LiveId" clId="{9CC87821-95D0-4DCF-9440-9C8E176F6F84}" dt="2026-03-30T12:15:50.238" v="45" actId="20577"/>
          <ac:spMkLst>
            <pc:docMk/>
            <pc:sldMk cId="3841164014" sldId="349"/>
            <ac:spMk id="6" creationId="{C6BEFBA4-E574-C718-4E91-0603E31B3FCA}"/>
          </ac:spMkLst>
        </pc:spChg>
        <pc:spChg chg="mod">
          <ac:chgData name="재원 신" userId="cf9c179672ef1def" providerId="LiveId" clId="{9CC87821-95D0-4DCF-9440-9C8E176F6F84}" dt="2026-03-30T14:25:26.128" v="364" actId="20577"/>
          <ac:spMkLst>
            <pc:docMk/>
            <pc:sldMk cId="3841164014" sldId="349"/>
            <ac:spMk id="18" creationId="{B4A21F95-638D-525B-512F-2DD8AF03BC97}"/>
          </ac:spMkLst>
        </pc:spChg>
      </pc:sldChg>
      <pc:sldChg chg="modSp mod">
        <pc:chgData name="재원 신" userId="cf9c179672ef1def" providerId="LiveId" clId="{9CC87821-95D0-4DCF-9440-9C8E176F6F84}" dt="2026-03-30T12:15:38.676" v="37" actId="20577"/>
        <pc:sldMkLst>
          <pc:docMk/>
          <pc:sldMk cId="80155054" sldId="355"/>
        </pc:sldMkLst>
        <pc:spChg chg="mod">
          <ac:chgData name="재원 신" userId="cf9c179672ef1def" providerId="LiveId" clId="{9CC87821-95D0-4DCF-9440-9C8E176F6F84}" dt="2026-03-30T12:15:38.676" v="37" actId="20577"/>
          <ac:spMkLst>
            <pc:docMk/>
            <pc:sldMk cId="80155054" sldId="355"/>
            <ac:spMk id="6" creationId="{600414C1-1113-6382-1C59-BB8C47131DB5}"/>
          </ac:spMkLst>
        </pc:spChg>
      </pc:sldChg>
      <pc:sldChg chg="modSp mod">
        <pc:chgData name="재원 신" userId="cf9c179672ef1def" providerId="LiveId" clId="{9CC87821-95D0-4DCF-9440-9C8E176F6F84}" dt="2026-03-30T12:14:07.267" v="1" actId="20577"/>
        <pc:sldMkLst>
          <pc:docMk/>
          <pc:sldMk cId="2169494284" sldId="358"/>
        </pc:sldMkLst>
        <pc:spChg chg="mod">
          <ac:chgData name="재원 신" userId="cf9c179672ef1def" providerId="LiveId" clId="{9CC87821-95D0-4DCF-9440-9C8E176F6F84}" dt="2026-03-30T12:14:07.267" v="1" actId="20577"/>
          <ac:spMkLst>
            <pc:docMk/>
            <pc:sldMk cId="2169494284" sldId="358"/>
            <ac:spMk id="6" creationId="{9F32DAAA-5E31-F559-8F21-912C7E60E394}"/>
          </ac:spMkLst>
        </pc:spChg>
      </pc:sldChg>
      <pc:sldChg chg="modSp mod">
        <pc:chgData name="재원 신" userId="cf9c179672ef1def" providerId="LiveId" clId="{9CC87821-95D0-4DCF-9440-9C8E176F6F84}" dt="2026-03-30T12:14:23.318" v="8" actId="20577"/>
        <pc:sldMkLst>
          <pc:docMk/>
          <pc:sldMk cId="4032021818" sldId="359"/>
        </pc:sldMkLst>
        <pc:spChg chg="mod">
          <ac:chgData name="재원 신" userId="cf9c179672ef1def" providerId="LiveId" clId="{9CC87821-95D0-4DCF-9440-9C8E176F6F84}" dt="2026-03-30T12:14:23.318" v="8" actId="20577"/>
          <ac:spMkLst>
            <pc:docMk/>
            <pc:sldMk cId="4032021818" sldId="359"/>
            <ac:spMk id="6" creationId="{5C80C67D-1A13-6814-DD61-A1ED07165365}"/>
          </ac:spMkLst>
        </pc:spChg>
      </pc:sldChg>
      <pc:sldChg chg="modSp mod">
        <pc:chgData name="재원 신" userId="cf9c179672ef1def" providerId="LiveId" clId="{9CC87821-95D0-4DCF-9440-9C8E176F6F84}" dt="2026-03-30T14:04:22.251" v="279" actId="20577"/>
        <pc:sldMkLst>
          <pc:docMk/>
          <pc:sldMk cId="868787123" sldId="360"/>
        </pc:sldMkLst>
        <pc:spChg chg="mod">
          <ac:chgData name="재원 신" userId="cf9c179672ef1def" providerId="LiveId" clId="{9CC87821-95D0-4DCF-9440-9C8E176F6F84}" dt="2026-03-30T12:14:41.831" v="16" actId="20577"/>
          <ac:spMkLst>
            <pc:docMk/>
            <pc:sldMk cId="868787123" sldId="360"/>
            <ac:spMk id="6" creationId="{2AD5BD98-6289-4961-551D-E8EEF9CBDC35}"/>
          </ac:spMkLst>
        </pc:spChg>
        <pc:spChg chg="mod">
          <ac:chgData name="재원 신" userId="cf9c179672ef1def" providerId="LiveId" clId="{9CC87821-95D0-4DCF-9440-9C8E176F6F84}" dt="2026-03-30T14:04:22.251" v="279" actId="20577"/>
          <ac:spMkLst>
            <pc:docMk/>
            <pc:sldMk cId="868787123" sldId="360"/>
            <ac:spMk id="18" creationId="{24337F49-83CA-7DCD-7C2E-3DDEBEC234B9}"/>
          </ac:spMkLst>
        </pc:spChg>
      </pc:sldChg>
      <pc:sldChg chg="modSp mod">
        <pc:chgData name="재원 신" userId="cf9c179672ef1def" providerId="LiveId" clId="{9CC87821-95D0-4DCF-9440-9C8E176F6F84}" dt="2026-03-30T14:01:45.587" v="50" actId="1076"/>
        <pc:sldMkLst>
          <pc:docMk/>
          <pc:sldMk cId="4197739732" sldId="361"/>
        </pc:sldMkLst>
        <pc:spChg chg="mod">
          <ac:chgData name="재원 신" userId="cf9c179672ef1def" providerId="LiveId" clId="{9CC87821-95D0-4DCF-9440-9C8E176F6F84}" dt="2026-03-30T12:14:33.729" v="14" actId="20577"/>
          <ac:spMkLst>
            <pc:docMk/>
            <pc:sldMk cId="4197739732" sldId="361"/>
            <ac:spMk id="6" creationId="{8F5C3119-817A-26F3-30F9-1744B50F9E0A}"/>
          </ac:spMkLst>
        </pc:spChg>
        <pc:picChg chg="mod">
          <ac:chgData name="재원 신" userId="cf9c179672ef1def" providerId="LiveId" clId="{9CC87821-95D0-4DCF-9440-9C8E176F6F84}" dt="2026-03-30T14:01:45.587" v="50" actId="1076"/>
          <ac:picMkLst>
            <pc:docMk/>
            <pc:sldMk cId="4197739732" sldId="361"/>
            <ac:picMk id="4" creationId="{E9354506-14CF-890D-C4E4-3B3BA4A6EB03}"/>
          </ac:picMkLst>
        </pc:picChg>
      </pc:sldChg>
      <pc:sldChg chg="modSp mod">
        <pc:chgData name="재원 신" userId="cf9c179672ef1def" providerId="LiveId" clId="{9CC87821-95D0-4DCF-9440-9C8E176F6F84}" dt="2026-03-30T12:14:46.801" v="19" actId="20577"/>
        <pc:sldMkLst>
          <pc:docMk/>
          <pc:sldMk cId="554923533" sldId="362"/>
        </pc:sldMkLst>
        <pc:spChg chg="mod">
          <ac:chgData name="재원 신" userId="cf9c179672ef1def" providerId="LiveId" clId="{9CC87821-95D0-4DCF-9440-9C8E176F6F84}" dt="2026-03-30T12:14:46.801" v="19" actId="20577"/>
          <ac:spMkLst>
            <pc:docMk/>
            <pc:sldMk cId="554923533" sldId="362"/>
            <ac:spMk id="6" creationId="{D09CBC7F-153B-4AC3-6AA3-C0ACA70D3E99}"/>
          </ac:spMkLst>
        </pc:spChg>
        <pc:cxnChg chg="mod">
          <ac:chgData name="재원 신" userId="cf9c179672ef1def" providerId="LiveId" clId="{9CC87821-95D0-4DCF-9440-9C8E176F6F84}" dt="2026-03-30T12:14:44.063" v="17" actId="1076"/>
          <ac:cxnSpMkLst>
            <pc:docMk/>
            <pc:sldMk cId="554923533" sldId="362"/>
            <ac:cxnSpMk id="8" creationId="{773ACD98-263A-49DA-6188-D6364A8FB4B1}"/>
          </ac:cxnSpMkLst>
        </pc:cxnChg>
      </pc:sldChg>
      <pc:sldChg chg="modSp mod">
        <pc:chgData name="재원 신" userId="cf9c179672ef1def" providerId="LiveId" clId="{9CC87821-95D0-4DCF-9440-9C8E176F6F84}" dt="2026-03-30T12:15:31.690" v="33" actId="20577"/>
        <pc:sldMkLst>
          <pc:docMk/>
          <pc:sldMk cId="2957613718" sldId="363"/>
        </pc:sldMkLst>
        <pc:spChg chg="mod">
          <ac:chgData name="재원 신" userId="cf9c179672ef1def" providerId="LiveId" clId="{9CC87821-95D0-4DCF-9440-9C8E176F6F84}" dt="2026-03-30T12:15:31.690" v="33" actId="20577"/>
          <ac:spMkLst>
            <pc:docMk/>
            <pc:sldMk cId="2957613718" sldId="363"/>
            <ac:spMk id="6" creationId="{15C24D04-CB4A-4EA0-73CE-247AC62CC99B}"/>
          </ac:spMkLst>
        </pc:spChg>
      </pc:sldChg>
      <pc:sldChg chg="modSp mod">
        <pc:chgData name="재원 신" userId="cf9c179672ef1def" providerId="LiveId" clId="{9CC87821-95D0-4DCF-9440-9C8E176F6F84}" dt="2026-03-30T12:14:50.954" v="21" actId="20577"/>
        <pc:sldMkLst>
          <pc:docMk/>
          <pc:sldMk cId="921913316" sldId="366"/>
        </pc:sldMkLst>
        <pc:spChg chg="mod">
          <ac:chgData name="재원 신" userId="cf9c179672ef1def" providerId="LiveId" clId="{9CC87821-95D0-4DCF-9440-9C8E176F6F84}" dt="2026-03-30T12:14:50.954" v="21" actId="20577"/>
          <ac:spMkLst>
            <pc:docMk/>
            <pc:sldMk cId="921913316" sldId="366"/>
            <ac:spMk id="6" creationId="{515366EF-DB53-7380-BD18-871DF4A1935D}"/>
          </ac:spMkLst>
        </pc:spChg>
      </pc:sldChg>
      <pc:sldChg chg="modSp mod">
        <pc:chgData name="재원 신" userId="cf9c179672ef1def" providerId="LiveId" clId="{9CC87821-95D0-4DCF-9440-9C8E176F6F84}" dt="2026-03-30T14:25:06.494" v="359" actId="20577"/>
        <pc:sldMkLst>
          <pc:docMk/>
          <pc:sldMk cId="1282685625" sldId="367"/>
        </pc:sldMkLst>
        <pc:spChg chg="mod">
          <ac:chgData name="재원 신" userId="cf9c179672ef1def" providerId="LiveId" clId="{9CC87821-95D0-4DCF-9440-9C8E176F6F84}" dt="2026-03-30T12:15:56.096" v="49" actId="20577"/>
          <ac:spMkLst>
            <pc:docMk/>
            <pc:sldMk cId="1282685625" sldId="367"/>
            <ac:spMk id="6" creationId="{5406478F-BDC1-78C0-2B5B-5523F288287B}"/>
          </ac:spMkLst>
        </pc:spChg>
        <pc:spChg chg="mod">
          <ac:chgData name="재원 신" userId="cf9c179672ef1def" providerId="LiveId" clId="{9CC87821-95D0-4DCF-9440-9C8E176F6F84}" dt="2026-03-30T14:25:06.494" v="359" actId="20577"/>
          <ac:spMkLst>
            <pc:docMk/>
            <pc:sldMk cId="1282685625" sldId="367"/>
            <ac:spMk id="18" creationId="{E33B3916-4DAD-9CD5-691B-DE03EE6EB117}"/>
          </ac:spMkLst>
        </pc:spChg>
      </pc:sldChg>
      <pc:sldChg chg="new del">
        <pc:chgData name="재원 신" userId="cf9c179672ef1def" providerId="LiveId" clId="{9CC87821-95D0-4DCF-9440-9C8E176F6F84}" dt="2026-03-30T14:05:35.019" v="281" actId="680"/>
        <pc:sldMkLst>
          <pc:docMk/>
          <pc:sldMk cId="3249874332" sldId="3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BA24FF7-D6C9-3342-8E48-F910E3F7C5E3}" type="datetime1">
              <a:rPr kumimoji="1" lang="ko-KR" altLang="en-US" smtClean="0"/>
              <a:t>2026-03-30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kumimoji="1" lang="ko-KR" altLang="en-US"/>
              <a:t>마스터 텍스트 스타일을 편집하려면 클릭</a:t>
            </a:r>
          </a:p>
          <a:p>
            <a:pPr lvl="1">
              <a:defRPr/>
            </a:pPr>
            <a:r>
              <a:rPr kumimoji="1" lang="ko-KR" altLang="en-US"/>
              <a:t>두 번째 수준</a:t>
            </a:r>
          </a:p>
          <a:p>
            <a:pPr lvl="2">
              <a:defRPr/>
            </a:pPr>
            <a:r>
              <a:rPr kumimoji="1" lang="ko-KR" altLang="en-US"/>
              <a:t>세 번째 수준</a:t>
            </a:r>
          </a:p>
          <a:p>
            <a:pPr lvl="3">
              <a:defRPr/>
            </a:pPr>
            <a:r>
              <a:rPr kumimoji="1" lang="ko-KR" altLang="en-US"/>
              <a:t>네 번째 수준</a:t>
            </a:r>
          </a:p>
          <a:p>
            <a:pPr lvl="4">
              <a:defRPr/>
            </a:pPr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A76E3019-72ED-3949-B285-BED8ADAD3CC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8703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8021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D9F1C-FBE7-5CE2-E5FC-BACD9273E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F9F11D-34A9-E4A1-792D-F6527ED8F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BEF389-FB1B-DF2E-2C45-A71A58265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1FB5E5-2BF5-025D-5158-26484CCDE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68169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D9F1C-FBE7-5CE2-E5FC-BACD9273E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F9F11D-34A9-E4A1-792D-F6527ED8F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BEF389-FB1B-DF2E-2C45-A71A58265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1FB5E5-2BF5-025D-5158-26484CCDE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6E3019-72ED-3949-B285-BED8ADAD3CCA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3236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80DC4-8EC8-6AC4-DB45-1D95BFD6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E3720-0FB7-36E5-F78F-4242D8C5D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047241-4F8B-FBFB-2150-F5EC4EFDB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3180E4-9C48-1952-8DBB-C1B89B11E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7449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80DC4-8EC8-6AC4-DB45-1D95BFD6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E3720-0FB7-36E5-F78F-4242D8C5D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047241-4F8B-FBFB-2150-F5EC4EFDB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3180E4-9C48-1952-8DBB-C1B89B11E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6E3019-72ED-3949-B285-BED8ADAD3CCA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9113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AC1C3-6CF5-29FE-DBBD-A4F4916D7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F4D7F2-C133-42F7-7D79-31CEF14BA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617A9F-3602-E152-BBB2-7D83AF49F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CCACAB-7523-EAB1-83E2-EAC720B7B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69516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AC1C3-6CF5-29FE-DBBD-A4F4916D7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F4D7F2-C133-42F7-7D79-31CEF14BA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617A9F-3602-E152-BBB2-7D83AF49F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CCACAB-7523-EAB1-83E2-EAC720B7B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6E3019-72ED-3949-B285-BED8ADAD3CCA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223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AC1C3-6CF5-29FE-DBBD-A4F4916D7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F4D7F2-C133-42F7-7D79-31CEF14BA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617A9F-3602-E152-BBB2-7D83AF49F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CCACAB-7523-EAB1-83E2-EAC720B7B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6E3019-72ED-3949-B285-BED8ADAD3CCA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9602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AC1C3-6CF5-29FE-DBBD-A4F4916D7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F4D7F2-C133-42F7-7D79-31CEF14BA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617A9F-3602-E152-BBB2-7D83AF49F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CCACAB-7523-EAB1-83E2-EAC720B7B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6E3019-72ED-3949-B285-BED8ADAD3CCA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59952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D9F1C-FBE7-5CE2-E5FC-BACD9273E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F9F11D-34A9-E4A1-792D-F6527ED8F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BEF389-FB1B-DF2E-2C45-A71A58265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1FB5E5-2BF5-025D-5158-26484CCDE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68169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ACE5F-641F-32D7-6671-652C132EF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C727F2-C553-A143-CB99-321DE60F8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F7E476-0AF2-9B45-3D5A-FC4A4B840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EC120E-BED7-0B34-3D94-6775DF7147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70370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0A62C-2F35-48D3-FAC6-8B1776ECC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3D1638-5843-109C-8689-37AE45867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45B57A-9021-8EB3-3A5E-19BDBDB92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BE80F9-7879-044A-CBA5-F95B3D392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483288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8021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AC1C3-6CF5-29FE-DBBD-A4F4916D7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F4D7F2-C133-42F7-7D79-31CEF14BA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617A9F-3602-E152-BBB2-7D83AF49F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CCACAB-7523-EAB1-83E2-EAC720B7B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695165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C370-5CF4-7381-625F-92BF1BD19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27664A-6957-3BA6-B4AF-EAF31E14B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54AB8C-5F3F-DC68-8308-17EC595E8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D6DF4-2E86-E280-71B1-F037E972F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67382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80DC4-8EC8-6AC4-DB45-1D95BFD6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E3720-0FB7-36E5-F78F-4242D8C5D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047241-4F8B-FBFB-2150-F5EC4EFDB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3180E4-9C48-1952-8DBB-C1B89B11E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74491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D8F00-BFDD-C28F-E340-43E919DDE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752AF4-E792-9EFD-46BD-1C09484B2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9D2EF2-7C05-ECC8-C5F0-A98A6C0B2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18B84-FCC1-16F4-206E-7DE68BD48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672618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51278-3E03-8A66-F913-D2310EB3B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9A1A9D-074E-38F5-33AA-E5BDC9A20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3B7285-C4D0-14E0-C2CD-B8F412DD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987D2D-9CBD-0ECD-5F35-DA142A42F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919381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C8983-E0ED-A715-E64E-737F288DE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89C88B-0BFE-2DBE-34AA-AA3E4926A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1A8628-F82C-19F3-BCFF-2AA9AE4A0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BB72B0-D652-506D-1E63-D4007B6B2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849369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F2689-EB47-E27D-7127-F93A0327D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9F9E6D-D0E2-EF54-A952-D118BBA37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172F28-4ACB-9868-9FF5-0305D4957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557C8E-0596-77E7-172E-95E6B0930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3019-72ED-3949-B285-BED8ADAD3CCA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815540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AC1C3-6CF5-29FE-DBBD-A4F4916D7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F4D7F2-C133-42F7-7D79-31CEF14BA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617A9F-3602-E152-BBB2-7D83AF49F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CCACAB-7523-EAB1-83E2-EAC720B7B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6E3019-72ED-3949-B285-BED8ADAD3CCA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2472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F0EF7-1CBB-4746-B0FC-9E9B1F21B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218D00-B33C-462B-9126-AB5F87A91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B59918-92A3-4AFF-B49B-84412296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EC63C4-7AA3-49F1-8E07-F2877589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2DD77E-E7D5-489B-91B5-D711EF0E4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040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6C3845-36F4-44A6-9DE0-61EBB58C5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49E9C4-3869-4815-9127-F4BF5EEE7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185CD8-0560-4E7A-BD63-D73414B1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CA8B2D-9D5B-4C61-9BF3-F7B80400C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5E331C-CC4E-45D7-B5E1-0D44B4AA3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983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D61DCE-F862-4918-964E-1C7A3EA8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3D4AA0-C031-40E1-8DA3-A52B291D6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66F19C-5324-4BED-A942-9AA712CC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B559EE-764D-460A-B3B8-817754D63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33945F-C98C-4A4D-8DAA-FDA32090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469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04C69-8734-4D7E-8FF5-25FB3B721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D00C3D-06B2-4C21-BFED-A9EC55F6F4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4F7068-500B-40BF-BD00-23BA291E8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B58502-32AD-49C7-AFBA-39023A3F1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FF6A7A-9AC2-4341-8BBC-E2961656E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2FB994-A25B-4D78-9139-70839628B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103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AE2D8-83F6-4FD1-8AC5-36173333F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59EB69-3503-4491-AC0A-E137BF532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78339D-0DC5-4EFA-817B-8201FBF78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658726B-5430-4064-AE07-D0B703F36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07DCD22-39DE-4E45-BE5E-08704D9DCB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159136-7C6C-4AC2-9AAE-9BB1DE2C7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53186A-D601-4E2B-B69B-33CC5763A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0170BE-5AAB-4A5C-9EA6-AFE9DF79C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267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4CA41-4007-4CD6-9C41-53BCB6338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D32AC5-6856-473E-A6BE-3D606AEC1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986B32-1965-4CE8-82D3-B5AF8982B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96067A-DEDB-4FE4-9292-6A2815AB6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209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91AB04-9B70-4167-8544-CA1C3A3F1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E4C82BA-9EC2-4D89-9C80-F7957BE45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BF3141-96D5-4D78-BD0B-F273B8E3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260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F104E-4010-4BA2-998A-ABE0B0CD8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2A834A-EDEF-4F15-B0AA-CD4986245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63B5D9-5261-4106-8B19-AA6582054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32E9AD-2819-4D1B-93F7-B593E4E5E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FF2B67-7411-465A-8B42-60E93FAEA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48F7FD-5A99-4583-8FD2-21688AA2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78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1F5E3-639A-4939-82E0-8004869C8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300DC54-8445-46E9-B2D7-C3DFD2A2B1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2E3213-CE4B-46AD-B75B-E85D59565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6B9BE5-010A-4700-9B85-8EE343C46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CA1BD1-7958-4AC2-A30D-BDF76853C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0EF7FD-D720-4899-8755-31A89C75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77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323CF-13D0-4873-AE76-4977117A1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7C63E2-E418-4ACA-AE82-91ECB2ADC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D3C73D-B2F2-44F5-B38D-F29A6E9B7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80448B-20DE-40EC-9BC6-223ABB5C8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B10354-CFCB-411C-B31E-2E566BDDF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068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DF78F3-CD77-4AFB-B006-9529A3F74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B2276F-1957-48DA-BDE8-9FF36D0BB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2E073B-43C7-4F3D-B16C-9AAC8974F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CD2C-72D7-4E19-9A46-C3158706DCFD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77D8C6-35FD-4618-A890-6CA6B55BE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0A7528-4096-46E8-833A-AFC630D9D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188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760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421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527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177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786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758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2834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9331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8127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5849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FFC53-2431-4518-BA71-D917FE416D80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441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4F2D5C-6DF3-4D4B-A7DB-43982456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DB8206-9A27-4FBF-AE75-D23B40829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58A1EB-9696-4F43-84A5-42E66AF20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7CD2C-72D7-4E19-9A46-C3158706DCFD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38ACFD-4485-46BD-8304-64D80C4D9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5F1B87-6E0D-42AB-A1AA-0A5562FB6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BBA35-8C81-44EF-9282-1F4A9588D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443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FFC53-2431-4518-BA71-D917FE416D80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900C0-07E5-4C7B-B63E-650DD69CF8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413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6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상징, 그래픽, 로고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17CF05E-47D2-7BC2-84C0-7395490316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476" y="-114001"/>
            <a:ext cx="6721040" cy="6721038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3E26F027-C6EB-4ED3-B8A4-08E38B951580}"/>
              </a:ext>
            </a:extLst>
          </p:cNvPr>
          <p:cNvGrpSpPr/>
          <p:nvPr/>
        </p:nvGrpSpPr>
        <p:grpSpPr>
          <a:xfrm>
            <a:off x="352425" y="414338"/>
            <a:ext cx="11487150" cy="6029325"/>
            <a:chOff x="352425" y="400836"/>
            <a:chExt cx="11487150" cy="6029325"/>
          </a:xfrm>
        </p:grpSpPr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9316A8CD-437F-4D8E-9391-48648A8E6029}"/>
                </a:ext>
              </a:extLst>
            </p:cNvPr>
            <p:cNvCxnSpPr>
              <a:cxnSpLocks/>
            </p:cNvCxnSpPr>
            <p:nvPr/>
          </p:nvCxnSpPr>
          <p:spPr>
            <a:xfrm>
              <a:off x="352425" y="6430161"/>
              <a:ext cx="114871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E3F56A21-36FE-4277-845C-3C042FF8C1EA}"/>
                </a:ext>
              </a:extLst>
            </p:cNvPr>
            <p:cNvCxnSpPr>
              <a:cxnSpLocks/>
            </p:cNvCxnSpPr>
            <p:nvPr/>
          </p:nvCxnSpPr>
          <p:spPr>
            <a:xfrm>
              <a:off x="352425" y="400836"/>
              <a:ext cx="114871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5102480" y="5358906"/>
            <a:ext cx="19870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latinLnBrk="0">
              <a:defRPr/>
            </a:pPr>
            <a:r>
              <a:rPr lang="ko-KR" altLang="en-US" sz="2000" dirty="0">
                <a:solidFill>
                  <a:prstClr val="white"/>
                </a:solidFill>
                <a:latin typeface="Pretendard Bold"/>
              </a:rPr>
              <a:t>삼각김밥</a:t>
            </a:r>
            <a:endParaRPr lang="en-US" altLang="ko-KR" sz="2000" dirty="0">
              <a:solidFill>
                <a:prstClr val="white"/>
              </a:solidFill>
              <a:latin typeface="Pretendard Bold"/>
            </a:endParaRPr>
          </a:p>
          <a:p>
            <a:pPr algn="ctr" defTabSz="457200" latinLnBrk="0">
              <a:defRPr/>
            </a:pPr>
            <a:r>
              <a:rPr lang="en-US" altLang="ko-KR" sz="2000" dirty="0">
                <a:solidFill>
                  <a:prstClr val="white"/>
                </a:solidFill>
                <a:latin typeface="Pretendard Bold"/>
              </a:rPr>
              <a:t>(</a:t>
            </a:r>
            <a:r>
              <a:rPr lang="ko-KR" altLang="en-US" sz="2000" dirty="0" err="1">
                <a:solidFill>
                  <a:prstClr val="white"/>
                </a:solidFill>
                <a:latin typeface="Pretendard Bold"/>
              </a:rPr>
              <a:t>신재원</a:t>
            </a:r>
            <a:r>
              <a:rPr lang="en-US" altLang="ko-KR" sz="2000" dirty="0">
                <a:solidFill>
                  <a:prstClr val="white"/>
                </a:solidFill>
                <a:latin typeface="Pretendard Bold"/>
              </a:rPr>
              <a:t>,</a:t>
            </a:r>
            <a:r>
              <a:rPr lang="ko-KR" altLang="en-US" sz="2000" dirty="0" err="1">
                <a:solidFill>
                  <a:prstClr val="white"/>
                </a:solidFill>
                <a:latin typeface="Pretendard Bold"/>
              </a:rPr>
              <a:t>이채현</a:t>
            </a:r>
            <a:r>
              <a:rPr lang="en-US" altLang="ko-KR" sz="2000" dirty="0">
                <a:solidFill>
                  <a:prstClr val="white"/>
                </a:solidFill>
                <a:latin typeface="Pretendard Bold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144" y="2631629"/>
            <a:ext cx="9995712" cy="158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9559"/>
              </a:lnSpc>
              <a:defRPr/>
            </a:pPr>
            <a:r>
              <a:rPr lang="en-US" sz="48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Taiwanese Bankruptcy Prediction</a:t>
            </a:r>
            <a:endParaRPr lang="en-US" sz="4800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  <a:p>
            <a:pPr lvl="0" algn="ctr">
              <a:lnSpc>
                <a:spcPct val="109559"/>
              </a:lnSpc>
              <a:defRPr/>
            </a:pPr>
            <a:r>
              <a:rPr lang="ko-KR" altLang="en-US" sz="40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대만 기업 파산 예측 </a:t>
            </a:r>
            <a:r>
              <a:rPr lang="ko-KR" altLang="en-US" sz="400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데이터톤</a:t>
            </a:r>
            <a:endParaRPr lang="en-US" sz="4000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22079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600074" y="1106236"/>
            <a:ext cx="12747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4400" b="1" spc="-150" dirty="0">
                <a:solidFill>
                  <a:srgbClr val="37654A"/>
                </a:solidFill>
                <a:latin typeface="Pretendard Bold"/>
              </a:rPr>
              <a:t>목차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D5BD98-6289-4961-551D-E8EEF9CBDC35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1.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3A9EFD69-2584-1BA6-96B7-D109DB7BEFB8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0658D2A-2377-BFE8-487B-D0A897716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3817171" y="2594723"/>
            <a:ext cx="636719" cy="10038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50000"/>
              </a:lnSpc>
              <a:buFont typeface="Arial"/>
              <a:buChar char="•"/>
              <a:defRPr/>
            </a:pPr>
            <a:endParaRPr lang="ko-KR" altLang="en-US" sz="2400" spc="-15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C598A-14BF-0158-08BA-C10549AA5315}"/>
              </a:ext>
            </a:extLst>
          </p:cNvPr>
          <p:cNvSpPr txBox="1"/>
          <p:nvPr/>
        </p:nvSpPr>
        <p:spPr>
          <a:xfrm>
            <a:off x="1237428" y="2063967"/>
            <a:ext cx="432166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37654A"/>
                </a:solidFill>
                <a:latin typeface="+mj-ea"/>
                <a:ea typeface="+mj-ea"/>
              </a:rPr>
              <a:t>1. </a:t>
            </a:r>
            <a:r>
              <a:rPr lang="ko-KR" altLang="en-US" b="1" dirty="0">
                <a:latin typeface="+mj-ea"/>
                <a:ea typeface="+mj-ea"/>
              </a:rPr>
              <a:t>데이터 </a:t>
            </a:r>
            <a:r>
              <a:rPr lang="en-US" altLang="ko-KR" b="1" dirty="0">
                <a:latin typeface="+mj-ea"/>
                <a:ea typeface="+mj-ea"/>
              </a:rPr>
              <a:t>EDA</a:t>
            </a:r>
            <a:br>
              <a:rPr lang="en-US" altLang="ko-KR" b="1" dirty="0">
                <a:latin typeface="+mj-ea"/>
                <a:ea typeface="+mj-ea"/>
              </a:rPr>
            </a:br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solidFill>
                <a:srgbClr val="37654A"/>
              </a:solidFill>
              <a:latin typeface="+mj-ea"/>
              <a:ea typeface="+mj-ea"/>
            </a:endParaRPr>
          </a:p>
          <a:p>
            <a:r>
              <a:rPr lang="en-US" altLang="ko-KR" b="1" dirty="0">
                <a:solidFill>
                  <a:srgbClr val="37654A"/>
                </a:solidFill>
                <a:latin typeface="+mj-ea"/>
                <a:ea typeface="+mj-ea"/>
              </a:rPr>
              <a:t>2. </a:t>
            </a:r>
            <a:r>
              <a:rPr lang="ko-KR" altLang="en-US" b="1" dirty="0">
                <a:latin typeface="+mj-ea"/>
                <a:ea typeface="+mj-ea"/>
              </a:rPr>
              <a:t>데이터 </a:t>
            </a:r>
            <a:r>
              <a:rPr lang="ko-KR" altLang="en-US" b="1" dirty="0" err="1">
                <a:latin typeface="+mj-ea"/>
                <a:ea typeface="+mj-ea"/>
              </a:rPr>
              <a:t>전처리</a:t>
            </a:r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solidFill>
                <a:srgbClr val="37654A"/>
              </a:solidFill>
              <a:latin typeface="+mj-ea"/>
              <a:ea typeface="+mj-ea"/>
            </a:endParaRPr>
          </a:p>
          <a:p>
            <a:r>
              <a:rPr lang="en-US" altLang="ko-KR" b="1" dirty="0">
                <a:solidFill>
                  <a:srgbClr val="37654A"/>
                </a:solidFill>
                <a:latin typeface="+mj-ea"/>
                <a:ea typeface="+mj-ea"/>
              </a:rPr>
              <a:t>3. </a:t>
            </a:r>
            <a:r>
              <a:rPr lang="ko-KR" altLang="en-US" b="1" dirty="0">
                <a:latin typeface="+mj-ea"/>
                <a:ea typeface="+mj-ea"/>
              </a:rPr>
              <a:t>모델 선정</a:t>
            </a:r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solidFill>
                <a:srgbClr val="37654A"/>
              </a:solidFill>
              <a:latin typeface="+mj-ea"/>
              <a:ea typeface="+mj-ea"/>
            </a:endParaRPr>
          </a:p>
          <a:p>
            <a:r>
              <a:rPr lang="en-US" altLang="ko-KR" b="1" dirty="0">
                <a:solidFill>
                  <a:srgbClr val="37654A"/>
                </a:solidFill>
                <a:latin typeface="+mj-ea"/>
                <a:ea typeface="+mj-ea"/>
              </a:rPr>
              <a:t>4.</a:t>
            </a:r>
            <a:r>
              <a:rPr lang="ko-KR" altLang="en-US" b="1" dirty="0">
                <a:solidFill>
                  <a:srgbClr val="37654A"/>
                </a:solidFill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튜닝 방법</a:t>
            </a:r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solidFill>
                <a:srgbClr val="37654A"/>
              </a:solidFill>
              <a:latin typeface="+mj-ea"/>
              <a:ea typeface="+mj-ea"/>
            </a:endParaRPr>
          </a:p>
          <a:p>
            <a:r>
              <a:rPr lang="en-US" altLang="ko-KR" b="1" dirty="0">
                <a:solidFill>
                  <a:srgbClr val="37654A"/>
                </a:solidFill>
                <a:latin typeface="+mj-ea"/>
                <a:ea typeface="+mj-ea"/>
              </a:rPr>
              <a:t>5. </a:t>
            </a:r>
            <a:r>
              <a:rPr lang="ko-KR" altLang="en-US" b="1" dirty="0">
                <a:latin typeface="+mj-ea"/>
                <a:ea typeface="+mj-ea"/>
              </a:rPr>
              <a:t>파라미터 튜닝</a:t>
            </a:r>
            <a:endParaRPr lang="en-US" altLang="ko-KR" b="1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solidFill>
                <a:srgbClr val="37654A"/>
              </a:solidFill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E8E4C-43F6-29D8-533F-ECD4E84B6582}"/>
              </a:ext>
            </a:extLst>
          </p:cNvPr>
          <p:cNvSpPr txBox="1"/>
          <p:nvPr/>
        </p:nvSpPr>
        <p:spPr>
          <a:xfrm>
            <a:off x="7220280" y="2063967"/>
            <a:ext cx="60971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37654A"/>
                </a:solidFill>
                <a:latin typeface="+mj-ea"/>
                <a:ea typeface="+mj-ea"/>
              </a:rPr>
              <a:t>6. </a:t>
            </a:r>
            <a:r>
              <a:rPr lang="ko-KR" altLang="en-US" b="1" dirty="0">
                <a:latin typeface="+mj-ea"/>
                <a:ea typeface="+mj-ea"/>
              </a:rPr>
              <a:t>성능 변화</a:t>
            </a:r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solidFill>
                <a:srgbClr val="37654A"/>
              </a:solidFill>
              <a:latin typeface="+mj-ea"/>
              <a:ea typeface="+mj-ea"/>
            </a:endParaRPr>
          </a:p>
          <a:p>
            <a:r>
              <a:rPr lang="en-US" altLang="ko-KR" b="1" dirty="0">
                <a:solidFill>
                  <a:srgbClr val="37654A"/>
                </a:solidFill>
                <a:latin typeface="+mj-ea"/>
                <a:ea typeface="+mj-ea"/>
              </a:rPr>
              <a:t>7. </a:t>
            </a:r>
            <a:r>
              <a:rPr lang="ko-KR" altLang="en-US" b="1" dirty="0">
                <a:latin typeface="+mj-ea"/>
                <a:ea typeface="+mj-ea"/>
              </a:rPr>
              <a:t>성능 평가</a:t>
            </a:r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solidFill>
                <a:srgbClr val="37654A"/>
              </a:solidFill>
              <a:latin typeface="+mj-ea"/>
              <a:ea typeface="+mj-ea"/>
            </a:endParaRPr>
          </a:p>
          <a:p>
            <a:r>
              <a:rPr lang="en-US" altLang="ko-KR" b="1" dirty="0">
                <a:solidFill>
                  <a:srgbClr val="37654A"/>
                </a:solidFill>
                <a:latin typeface="+mj-ea"/>
                <a:ea typeface="+mj-ea"/>
              </a:rPr>
              <a:t>8. </a:t>
            </a:r>
            <a:r>
              <a:rPr lang="ko-KR" altLang="en-US" b="1" dirty="0">
                <a:latin typeface="+mj-ea"/>
                <a:ea typeface="+mj-ea"/>
              </a:rPr>
              <a:t>모델 해석</a:t>
            </a:r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solidFill>
                <a:srgbClr val="37654A"/>
              </a:solidFill>
              <a:latin typeface="+mj-ea"/>
              <a:ea typeface="+mj-ea"/>
            </a:endParaRPr>
          </a:p>
          <a:p>
            <a:r>
              <a:rPr lang="en-US" altLang="ko-KR" b="1" dirty="0">
                <a:solidFill>
                  <a:srgbClr val="37654A"/>
                </a:solidFill>
                <a:latin typeface="+mj-ea"/>
                <a:ea typeface="+mj-ea"/>
              </a:rPr>
              <a:t>9. </a:t>
            </a:r>
            <a:r>
              <a:rPr lang="ko-KR" altLang="en-US" b="1" dirty="0">
                <a:latin typeface="+mj-ea"/>
                <a:ea typeface="+mj-ea"/>
              </a:rPr>
              <a:t>인사이트 및 결과해석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741CEBA-0E96-2F46-62A1-1886A96DDE93}"/>
              </a:ext>
            </a:extLst>
          </p:cNvPr>
          <p:cNvCxnSpPr>
            <a:cxnSpLocks/>
          </p:cNvCxnSpPr>
          <p:nvPr/>
        </p:nvCxnSpPr>
        <p:spPr>
          <a:xfrm>
            <a:off x="5741230" y="1041009"/>
            <a:ext cx="0" cy="561301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34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22F32-E0C2-81EE-423C-6B3B63292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5998419-2199-6960-F5A7-5915D3367069}"/>
              </a:ext>
            </a:extLst>
          </p:cNvPr>
          <p:cNvSpPr/>
          <p:nvPr/>
        </p:nvSpPr>
        <p:spPr>
          <a:xfrm>
            <a:off x="4568723" y="929223"/>
            <a:ext cx="305455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데이터 </a:t>
            </a:r>
            <a:r>
              <a:rPr lang="en-US" altLang="ko-KR" sz="4400" b="1" spc="-150" dirty="0">
                <a:solidFill>
                  <a:srgbClr val="37654A"/>
                </a:solidFill>
                <a:latin typeface="+mn-ea"/>
              </a:rPr>
              <a:t>EDA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32DAAA-5E31-F559-8F21-912C7E60E394}"/>
              </a:ext>
            </a:extLst>
          </p:cNvPr>
          <p:cNvSpPr txBox="1"/>
          <p:nvPr/>
        </p:nvSpPr>
        <p:spPr>
          <a:xfrm>
            <a:off x="414337" y="463411"/>
            <a:ext cx="712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2.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DCEEB099-7F71-E33B-22AC-BABD91D9A993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6D8E115-9A87-4FA8-E4F7-BA948AD852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876675" y="1777681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Bankrupt? </a:t>
            </a:r>
            <a:r>
              <a:rPr lang="ko-KR" altLang="en-US" dirty="0"/>
              <a:t>기업의 파산을 예측하는 데이터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6353175" y="2333625"/>
            <a:ext cx="0" cy="420052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4664" y="2604328"/>
            <a:ext cx="45053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0</a:t>
            </a:r>
            <a:r>
              <a:rPr lang="ko-KR" altLang="ko-KR" sz="1500" dirty="0"/>
              <a:t>값이 약</a:t>
            </a:r>
            <a:r>
              <a:rPr lang="en-US" altLang="ko-KR" sz="1500" dirty="0"/>
              <a:t> 97% 1</a:t>
            </a:r>
            <a:r>
              <a:rPr lang="ko-KR" altLang="ko-KR" sz="1500" dirty="0"/>
              <a:t>값이 약</a:t>
            </a:r>
            <a:r>
              <a:rPr lang="en-US" altLang="ko-KR" sz="1500" dirty="0"/>
              <a:t> 3%</a:t>
            </a:r>
          </a:p>
          <a:p>
            <a:endParaRPr lang="en-US" altLang="ko-KR" sz="1500" dirty="0"/>
          </a:p>
          <a:p>
            <a:r>
              <a:rPr lang="en-US" altLang="ko-KR" sz="1500" dirty="0"/>
              <a:t>                   </a:t>
            </a:r>
            <a:r>
              <a:rPr lang="ko-KR" altLang="ko-KR" sz="1500" dirty="0"/>
              <a:t>데이터 불균형이 심함</a:t>
            </a:r>
          </a:p>
          <a:p>
            <a:endParaRPr lang="ko-KR" altLang="en-US" sz="1500" dirty="0"/>
          </a:p>
        </p:txBody>
      </p:sp>
      <p:pic>
        <p:nvPicPr>
          <p:cNvPr id="12" name="shape102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28701" y="3342186"/>
            <a:ext cx="3269933" cy="3055754"/>
          </a:xfrm>
          <a:prstGeom prst="rect">
            <a:avLst/>
          </a:prstGeom>
        </p:spPr>
      </p:pic>
      <p:grpSp>
        <p:nvGrpSpPr>
          <p:cNvPr id="26" name="그룹 25"/>
          <p:cNvGrpSpPr/>
          <p:nvPr/>
        </p:nvGrpSpPr>
        <p:grpSpPr>
          <a:xfrm>
            <a:off x="678179" y="3386889"/>
            <a:ext cx="2043113" cy="2093996"/>
            <a:chOff x="414337" y="3310895"/>
            <a:chExt cx="2043113" cy="2093996"/>
          </a:xfrm>
        </p:grpSpPr>
        <p:pic>
          <p:nvPicPr>
            <p:cNvPr id="11" name="shape1025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14337" y="3310895"/>
              <a:ext cx="1947863" cy="1615027"/>
            </a:xfrm>
            <a:prstGeom prst="rect">
              <a:avLst/>
            </a:prstGeom>
          </p:spPr>
        </p:pic>
        <p:sp>
          <p:nvSpPr>
            <p:cNvPr id="10" name="액자 9"/>
            <p:cNvSpPr/>
            <p:nvPr/>
          </p:nvSpPr>
          <p:spPr>
            <a:xfrm>
              <a:off x="694164" y="4073705"/>
              <a:ext cx="381000" cy="720364"/>
            </a:xfrm>
            <a:prstGeom prst="fram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23" name="직선 화살표 연결선 22"/>
            <p:cNvCxnSpPr/>
            <p:nvPr/>
          </p:nvCxnSpPr>
          <p:spPr>
            <a:xfrm>
              <a:off x="551289" y="5057775"/>
              <a:ext cx="2179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884664" y="4912448"/>
              <a:ext cx="1572786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dirty="0"/>
                <a:t>0 </a:t>
              </a:r>
              <a:r>
                <a:rPr lang="ko-KR" altLang="en-US" sz="1300" dirty="0"/>
                <a:t>파산하지 않음</a:t>
              </a:r>
              <a:endParaRPr lang="en-US" altLang="ko-KR" sz="1300" dirty="0"/>
            </a:p>
            <a:p>
              <a:r>
                <a:rPr lang="en-US" altLang="ko-KR" sz="1300" dirty="0"/>
                <a:t>1 </a:t>
              </a:r>
              <a:r>
                <a:rPr lang="ko-KR" altLang="en-US" sz="1300" dirty="0"/>
                <a:t>파산함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7623277" y="2598806"/>
            <a:ext cx="337874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특성 값의 범위가 큰 특성 일부 존재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1820" y="3074488"/>
            <a:ext cx="4390084" cy="2600167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A5C8644-19F2-DBCA-EDDD-5C2339A67DD3}"/>
              </a:ext>
            </a:extLst>
          </p:cNvPr>
          <p:cNvCxnSpPr>
            <a:cxnSpLocks/>
          </p:cNvCxnSpPr>
          <p:nvPr/>
        </p:nvCxnSpPr>
        <p:spPr>
          <a:xfrm>
            <a:off x="1733550" y="3190875"/>
            <a:ext cx="390525" cy="0"/>
          </a:xfrm>
          <a:prstGeom prst="straightConnector1">
            <a:avLst/>
          </a:prstGeom>
          <a:ln w="76200">
            <a:solidFill>
              <a:srgbClr val="3765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830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22F32-E0C2-81EE-423C-6B3B63292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5998419-2199-6960-F5A7-5915D3367069}"/>
              </a:ext>
            </a:extLst>
          </p:cNvPr>
          <p:cNvSpPr/>
          <p:nvPr/>
        </p:nvSpPr>
        <p:spPr>
          <a:xfrm>
            <a:off x="4568723" y="929223"/>
            <a:ext cx="305455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-150" normalizeH="0" baseline="0" noProof="0" dirty="0">
                <a:ln>
                  <a:noFill/>
                </a:ln>
                <a:solidFill>
                  <a:srgbClr val="37654A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 </a:t>
            </a:r>
            <a:r>
              <a:rPr kumimoji="0" lang="en-US" altLang="ko-KR" sz="4400" b="1" i="0" u="none" strike="noStrike" kern="1200" cap="none" spc="-150" normalizeH="0" baseline="0" noProof="0" dirty="0">
                <a:ln>
                  <a:noFill/>
                </a:ln>
                <a:solidFill>
                  <a:srgbClr val="37654A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32DAAA-5E31-F559-8F21-912C7E60E394}"/>
              </a:ext>
            </a:extLst>
          </p:cNvPr>
          <p:cNvSpPr txBox="1"/>
          <p:nvPr/>
        </p:nvSpPr>
        <p:spPr>
          <a:xfrm>
            <a:off x="414337" y="463411"/>
            <a:ext cx="712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</a:t>
            </a:r>
            <a:r>
              <a:rPr kumimoji="0" lang="ko-KR" altLang="en-US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Track</a:t>
            </a:r>
            <a:endParaRPr kumimoji="0" lang="ko-KR" altLang="en-US" sz="1400" b="1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DCEEB099-7F71-E33B-22AC-BABD91D9A993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6D8E115-9A87-4FA8-E4F7-BA948AD852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876675" y="1777681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Bankrupt?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기업의 파산을 예측하는 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9965" y="3291477"/>
            <a:ext cx="378258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▷</a:t>
            </a: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없음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500" noProof="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lvl="0"/>
            <a:r>
              <a:rPr lang="ko-KR" altLang="en-US" sz="1300" dirty="0">
                <a:solidFill>
                  <a:prstClr val="black"/>
                </a:solidFill>
                <a:latin typeface="맑은 고딕" panose="020B0503020000020004" pitchFamily="50" charset="-127"/>
              </a:rPr>
              <a:t>▷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kumimoji="0" lang="ko-KR" altLang="en-US" sz="1500" b="0" i="0" u="none" strike="noStrike" kern="1200" cap="none" spc="0" normalizeH="0" baseline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이상값</a:t>
            </a:r>
            <a:r>
              <a:rPr kumimoji="0" lang="ko-KR" altLang="en-US" sz="15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존재</a:t>
            </a:r>
            <a:r>
              <a:rPr kumimoji="0" lang="en-US" altLang="ko-KR" sz="15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5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하지만 처리하지 않았음</a:t>
            </a:r>
            <a:endParaRPr kumimoji="0" lang="en-US" altLang="ko-KR" sz="15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lvl="0"/>
            <a:endParaRPr kumimoji="0" lang="en-US" altLang="ko-KR" sz="15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lvl="0"/>
            <a:r>
              <a:rPr lang="ko-KR" altLang="en-US" sz="1300" dirty="0">
                <a:solidFill>
                  <a:prstClr val="black"/>
                </a:solidFill>
                <a:latin typeface="맑은 고딕" panose="020B0503020000020004" pitchFamily="50" charset="-127"/>
              </a:rPr>
              <a:t>▷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500" noProof="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다중공선성이 매우 심한 데이터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AutoShape 2" descr="data:image/png;base64,iVBORw0KGgoAAAANSUhEUgAAAwMAAAKZCAYAAADkqPeyAAAAOnRFWHRTb2Z0d2FyZQBNYXRwbG90bGliIHZlcnNpb24zLjEwLjAsIGh0dHBzOi8vbWF0cGxvdGxpYi5vcmcvlHJYcgAAAAlwSFlzAAAPYQAAD2EBqD+naQABAABJREFUeJzsnXd4VMXXgN/NJtnU3fQG6Y0QWkjovUmv0lG6UkVEUBClqIgKIqIoihJQARtFBQHpvUNCSe+UVNJ7u98fMZtsdgMJAuv3y32f5z5Pdu65c86cO3dyZ+bMXIkgCAIiIiIiIiIiIiIiIg0OHW0bICIiIiIiIiIiIiKiHcTOgIiIiIiIiIiIiEgDRewMiIiIiIiIiIiIiDRQxM6AiIiIiIiIiIiISANF7AyIiIiIiIiIiIiINFDEzoCIiIiIiIiIiIhIA0XsDIiIiIiIiIiIiIg0UMTOgIiIiIiIiIiIiEgDRewMiIiIiIiIiIiIiDRQxM6AiIiIiEiDJy4uDolEwtatW7Vtigrdu3ene/fu2jZDRETkfxixMyAiIiLyP4JEIqnTceLEiWdiT3Z2NitXrqRly5aYmJhgaGhIs2bNePPNN7l///4zseFZcO7cOVasWEFmZqbWbHBxcan1fhcWFj4VnR988AF79+59Knk/bSo7f2vXrtV4fsWKFUgkEtLS0p6aDSEhIaxYsYK4uLinpkNEpC7oatsAEREREZEnww8//KDy+/vvv+fw4cNq6T4+Pk/dlpiYGHr37k1CQgKjRo3i5ZdfRl9fnxs3bvDdd9+xZ88eIiIinrodz4Jz586xcuVKJk+ejJmZmdbsaNWqFa+//rpaur6+/lPR98EHHzBy5EiGDRv2VPL/XyckJISVK1fSvXt3XFxctG2OSANG7AyIiIiI/I/wwgsvqPy+cOEChw8fVkt/2pSWljJixAiSk5M5ceIEnTt3Vjm/atUqPvrooyeiKy8vD2NjY7X08vJyiouLMTAweCJ6/j/QqFGjZ36vnzQN8b6JiGgbMUxIREREpAGRl5fH66+/jqOjIzKZDG9vb9auXYsgCCpyEomEuXPnsn37dry9vTEwMMDf359Tp049UseuXbsIDg5m6dKlah0BALlczqpVq1TSfv31V/z9/TE0NMTKyooXXniBe/fuqchMnjwZExMToqOjGTBgAKampkyYMEHNXl9fX2QyGQcPHgTg3r17TJ06FVtbW2QyGb6+vmzZsuWR5bhx4waTJ0/Gzc0NAwMD7OzsmDp1Kg8ePFDKrFixgkWLFgHg6uqqDM2pHvrx448/KstmYWHB2LFjuXPnjpq+b775Bnd3dwwNDWnbti2nT59+pI31ITMzk/nz5yvvvYeHBx999BHl5eUqcmvXrqVjx45YWlpiaGiIv78/v/32m4qMRCIhLy+Pbdu2Kcs8efJkoOI+aRrprgy9qZnPv71vn3/+Ob6+vhgZGWFubk5AQAA7duz4F56qnYsXL9KvXz8UCgVGRkZ069aNs2fPqsjEx8cze/ZsvL29MTQ0xNLSklGjRqnUia1btzJq1CgAevTooRbC5+LiwqBBgzhx4gQBAQEYGhrSvHlz5fndu3fTvHlz5XN5/fp1FRvqUneh6p6EhYUxevRo5HI5lpaWvPrqq08tvEzkv4c4MyAiIiLSQBAEgSFDhnD8+HGmTZtGq1atOHToEIsWLeLevXt8+umnKvInT57k559/Zt68echkMr788kv69evHpUuXaNasWa16/vjjDwBefPHFOtm1detWpkyZQps2bVi9ejXJycl89tlnnD17luvXr6uE3pSWltK3b186d+7M2rVrMTIyUp47duwYv/zyC3PnzsXKygoXFxeSk5Np37698qXT2tqaAwcOMG3aNLKzs5k/f36tdh0+fJiYmBimTJmCnZ0dt2/f5ptvvuH27dtcuHABiUTCiBEjiIiIYOfOnXz66adYWVkBYG1tDVTMgrzzzjuMHj2a6dOnk5qayueff07Xrl1Vyvbdd98xY8YMOnbsyPz584mJiWHIkCFYWFjg6OhYJz+WlJSoxbgbGRlhZGREfn4+3bp14969e8yYMQMnJyfOnTvHkiVLSExMZP369cprPvvsM4YMGcKECRMoLi7mp59+YtSoUezbt4+BAwcCFSFp06dPp23btrz88ssAuLu718nOmvyb+7Z582bmzZvHyJEjlS+wN27c4OLFi4wfP/6RuvPz8zWuC8jPz9doZ//+/fH392f58uXo6OgQGBhIz549OX36NG3btgXg8uXLnDt3jrFjx9K4cWPi4uL46quv6N69OyEhIRgZGdG1a1fmzZvHhg0beOutt5She9VD+KKiohg/fjwzZszghRdeYO3atQwePJhNmzbx1ltvMXv2bABWr17N6NGjCQ8PR0enYoy3LnW3OqNHj8bFxYXVq1dz4cIFNmzYQEZGBt9//30d7qDI/3sEEREREZH/SebMmSNUb+b37t0rAML777+vIjdy5EhBIpEIUVFRyjRAAIQrV64o0+Lj4wUDAwNh+PDhD9Xr5+cnKBSKOtlYXFws2NjYCM2aNRMKCgqU6fv27RMAYdmyZcq0SZMmCYCwePFitXwAQUdHR7h9+7ZK+rRp0wR7e3shLS1NJX3s2LGCQqEQ8vPzBUEQhNjYWAEQAgMDlTKV56qzc+dOARBOnTqlTFuzZo0ACLGxsSqycXFxglQqFVatWqWSfvPmTUFXV1eZXumDVq1aCUVFRUq5b775RgCEbt26qdlRE2dnZ+U9q34sX75cEARBeO+99wRjY2MhIiJC5brFixcLUqlUSEhIqLXcxcXFQrNmzYSePXuqpBsbGwuTJk1Ss2XSpEmCs7OzWvry5cuFmq8d//a+DR06VPD19VV3yCOovN+POlJTUwVBEITy8nLB09NT6Nu3r1BeXq7MJz8/X3B1dRX69OmjklaT8+fPC4Dw/fffK9N+/fVXARCOHz+uJl95P8+dO6dMO3TokAAIhoaGQnx8vDL966+/VsunrnW38p4MGTJERXb27NkCIAQHB2tyn8j/GGKYkIiIiEgD4a+//kIqlTJv3jyV9Ndffx1BEDhw4IBKeocOHfD391f+dnJyYujQoRw6dIiysrJa9WRnZ2Nqalonm65cuUJKSgqzZ89WiRMfOHAgTZo0Yf/+/WrXzJo1S2Ne3bp1o2nTpsrfgiCwa9cuBg8ejCAIpKWlKY++ffuSlZXFtWvXarXN0NBQ+XdhYSFpaWm0b98e4KHXVbJ7927Ky8sZPXq0im47Ozs8PT05fvy4ig9mzpypsth38uTJKBSKR+qppF27dhw+fFjlmDhxIlARhtWlSxfMzc1VbOnduzdlZWUq4V/Vy52RkUFWVhZdunSpU5kfh39z38zMzLh79y6XL19+LN0vv/yyms8OHz6sNqsVFBREZGQk48eP58GDB0p78vLy6NWrF6dOnVKGW1X3X0lJCQ8ePMDDwwMzM7N6+bBp06Z06NBB+btdu3YA9OzZEycnJ7X0mJgYZVp96+6cOXNUfr/yyitARZsh8r+PGCYkIiIi0kCIj4/HwcFB7UW9MjQhPj5eJd3T01MtDy8vL/Lz80lNTcXOzk6jHrlcrvJi8iibALy9vdXONWnShDNnzqik6erq0rhxY415ubq6qvxOTU0lMzOTb775hm+++UbjNSkpKbXalp6ezsqVK/npp5/U5LKysmq9rpLIyEgEQdDoRwA9PT2gygc15fT09HBzc3uknkqsrKzo3bt3rbbcuHFDGb5Uk+rl27dvH++//z5BQUEUFRUp02uGljwp/s19e/PNNzly5Aht27bFw8OD5557jvHjx9OpU6c66fb09NTos5r1LjIyEoBJkybVmldWVhbm5uYUFBSwevVqAgMDuXfvnsp6nLrUm0qqv/ADyo5hzbCxyvSMjAxlWn3rbs265+7ujo6OjrjtaQNB7AyIiIiIiDxRmjRpwvXr17lz506d493rikwmU8ZF16T6aCigHKl94YUXan2Ja9GiRa26Ro8ezblz51i0aBGtWrXCxMSE8vJy+vXrp7boVhPl5eVIJBIOHDiAVCpVO29iYvLIPJ4U5eXl9OnThzfeeEPjeS8vLwBOnz7NkCFD6Nq1K19++SX29vbo6ekRGBhY50W5tXUaaptN+jf3zcfHh/DwcPbt28fBgwfZtWsXX375JcuWLWPlypV1srcuVNq0Zs0aWrVqpVGm8n6+8sorBAYGMn/+fDp06IBCoUAikTB27Ng61ZtKNNWZh6VX73T827r7tDp+Iv9NxM6AiIiISAPB2dmZI0eOkJOTozI7EBYWpjxfncrR0OpERERgZGRU6wgzwODBg9m5cyc//vgjS5YseaRNAOHh4fTs2VPlXHh4uJpN9cHa2hpTU1PKyspqHTGvjYyMDI4ePcrKlStZtmyZMl2TT2p7cXJ3d0cQBFxdXZUv25qoLGNkZKSKD0pKSoiNjaVly5b1sr02W3Jzcx/ph127dmFgYMChQ4eQyWTK9MDAQDXZ2sptbm6u8QNsNWeeaqO+983Y2JgxY8YwZswYiouLGTFiBKtWrWLJkiVPbIvSysXRcrn8kTb99ttvTJo0iU8++USZVlhYqOaTp/XCXZ+6W/1c9RmaqKgoysvLxe8fNBDENQMiIiIiDYQBAwZQVlbGF198oZL+6aefIpFI6N+/v0r6+fPnVeKL79y5w++//85zzz1X6+gkwMiRI2nevDmrVq3i/PnzaudzcnJYunQpAAEBAdjY2LBp0yaVkJQDBw4QGhqq3L3mcZBKpTz//PPs2rWLW7duqZ1PTU196LWA2par1XfdqaTyOwc1X/ZGjBiBVCpl5cqVavkIgqDc5jEgIABra2s2bdpEcXGxUmbr1q1P7KvGo0eP5vz58xw6dEjtXGZmJqWlpUBFuSUSicooflxcnMYvDRsbG2u0z93dnaysLG7cuKFMS0xMZM+ePXWytT73reZWmfr6+jRt2hRBECgpKamTvrrg7++Pu7s7a9euJTc396E2SaVStfv9+eefq82M1FZv/i31qbuVbNy4UeX3559/DqDWJoj8byLODIiIiIg0EAYPHkyPHj1YunQpcXFxtGzZkr///pvff/+d+fPnq20N2axZM/r27auytSjwyPALPT09du/eTe/evenatSujR4+mU6dO6Onpcfv2bXbs2IG5uTmrVq1CT0+Pjz76iClTptCtWzfGjRun3FrUxcWF11577V+V+cMPP+T48eO0a9eOl156iaZNm5Kens61a9c4cuQI6enpGq+Ty+V07dqVjz/+mJKSEho1asTff/9NbGysmmzlIuulS5cyduxY9PT0GDx4MO7u7rz//vssWbKEuLg4hg0bhqmpKbGxsezZs4eXX36ZhQsXoqenx/vvv8+MGTPo2bMnY8aMITY2lsDAwHqtGXgYixYt4o8//mDQoEFMnjwZf39/8vLyuHnzJr/99htxcXFYWVkxcOBA1q1bR79+/Rg/fjwpKSls3LgRDw8PlZf7ynIfOXKEdevW4eDggKurK+3atWPs2LG8+eabDB8+nHnz5pGfn89XX32Fl5dXnRfQ1vW+Pffcc9jZ2dGpUydsbW0JDQ3liy++YODAgXVexF4XdHR0+Pbbb+nfvz++vr5MmTKFRo0ace/ePY4fP45cLufPP/8EYNCgQfzwww8oFAqaNm3K+fPnOXLkCJaWlip5tmrVCqlUykcffURWVhYymYyePXtiY2Pzr2ytT92tJDY2liFDhtCvXz/Onz/Pjz/+yPjx45/IrJTI/wO0sIORiIiIiMgzoObWooIgCDk5OcJrr70mODg4CHp6eoKnp6ewZs0ale0SBaFiy8c5c+YIP/74o+Dp6SnIZDLBz89P4zaItZGRkSEsW7ZMaN68uWBkZCQYGBgIzZo1E5YsWSIkJiaqyP7888+Cn5+fIJPJBAsLC2HChAnC3bt3VWQmTZokGBsba9RVaa8mkpOThTlz5giOjo6Cnp6eYGdnJ/Tq1Uv45ptvlDKatha9e/euMHz4cMHMzExQKBTCqFGjhPv376ts2VnJe++9JzRq1EjQ0dFR22Z0165dQufOnQVjY2PB2NhYaNKkiTBnzhwhPDxcJY8vv/xScHV1FWQymRAQECCcOnVK6NatW523Fh04cOBDZXJycoQlS5YIHh4egr6+vmBlZSV07NhRWLt2rVBcXKyU++6775T3vEmTJkJgYKDGbUHDwsKErl27CoaGhgKgss3o33//LTRr1kzQ19cXvL29hR9//LHWrUX/zX37+uuvha5duwqWlpaCTCYT3N3dhUWLFglZWVkP9UXl/V6zZo3G85W2Vm4tWsn169eFESNGKPU5OzsLo0ePFo4ePaqUycjIEKZMmSJYWVkJJiYmQt++fYWwsDDB2dlZbSvWzZs3C25uboJUKlXZHrS2+6nJX5rKUte6W1nOkJAQYeTIkYKpqalgbm4uzJ07V2WrX5H/bSSCUGMeSURERESkwSORSJgzZ45aSJGIiMj/DitWrGDlypWkpqYqP5gn0vAQ1wyIiIiIiIiIiIiINFDEzoCIiIiIiIiIiIhIA0XsDIiIiIiIiIiIiIg0UMQ1AyIiIiIiIiIiIiINFHFmQERERERERERERKSBInYGRERERERERERERBooYmdAREREREREREREpIEifoFYREREI5I+jbWme+Zbo7SmW18q1ZpuG2MzrenWJil5mVrTnZafrzXdhy/ceLTQUyL1bJzWdG/duEJruifP0Z7u8a8P0ZruIxdvak33iK4BWtOdXVSkNd1Jubla03105Pf1khdnBkREREREREREREQaKGJnQERERERERERERKSBInYGRERERERERERERBooYmdAREREREREREREpIEidgZE6oREImHv3r3aNuOZceLECSQSCZmZmdo2RYWuXbuyY8eOel1z8OBBWrVqRXl5+VOySkREREREROT/K+JuQs+YyZMns23bNlavXs3ixYuV6Xv37mX48OHU54PQLi4uzJ8/n/nz52s8X1xcjIODAwsXLlTRVcl7773HF198wd27d9HT06t3WZ40W7duZcqUKUBF58PBwYE+ffrw0UcfYWNj80R1BQcH884773DhwgWys7Oxs7OjXbt2fP75509c15Pijz/+IDk5mbFjxyrTXFxciI+PB0BHRwdbW1v69+/P2rVrMTc3B6Bfv3688847bN++nRdffLHeers0b8eiUTPx92qOg6Udw5ZP4/dzhx56TbcWHVg3cxm+zl7cSU3k/R2fse3vX1VkZg+ZxKJRM7GzsCY4OpRXNr7D5fAgtbzunogj4e9YirOLMGlsitcYX+SuZrXqTrmaSMwfERQ+KMDQxgj34U2waq56T/MSc4neE0ZGRDpCuYCxvQnNZ7TGwMJQLb/447HEHoqmOKsIU0c5PuOaYeZqXqv+pCv3ifw9jIK0AoxsjfF+3gfr5rbK85F/hJN0+R6F6YVIdHVQOCvwHNYEMzf1PAVBIPi3YCKPR1GcV4y1lzXtp7ZDbi+vVT9A2N/h3N53m4KsAiyczGk7qS1WHlbK8znJOVzZfpWU8BTKS8txaOFA28ltMFRUlf9Z6nYb7Y1MLtO6z/s4dWWgax8U+nIScu6yLfQXYrLiNepsZGLPSI9BuCqcsDa05IfQXzkYf1xFppdjF3o7dcXa0AKAu7mJ7In6i+C0ELX8prYZwexO47AxseB2UjRvHfiU6/dCay2z3MCEt3q+zECfrpgZyrmblczbBz/jaOSFeuWp7ecbKuraqe1nCfr7BkV5RTT2caDf7OewcKj9np/79QLh5yJ5cO8Buvp6NG7iQI/J3bBsbKEx/59X7CLmWizGVlLyjMq0Xm5t1rUpbYYzu2NFvQhJiuatA+u5fl9zXRvTsj8bhr2lklZYWoTzqt7K39bG5rzdexbd3dsgNzDhQnwwbx1YT2z6XbX8tNmea9PnAEPdezHaawAWBgqis+7w+fUfCM+I0Sg7wLU7zzl3wkVesatfREYc3936tVb5+X6TGezek41B29kd9fB6rAlxZkALGBgY8NFHH5GRkfFU9ejr6/PCCy8QGBiodk4QBLZu3crEiRP/Ex2BSuRyOYmJidy9e5fNmzdz4MCBx3qBraSkpEQtLTU1lV69emFhYcGhQ4cIDQ0lMDAQBwcH8vLy/o35j6S4uPixr92wYQNTpkxBR0f1sX333XdJTEwkISGB7du3c+rUKebNm6ciM3nyZDZs2PBYeo0NjAiOCWHO52/XSd7FzpH972/jePA5Ws3qy/o93/LtgjU8F9BNKTO622DWzVjGyh8/pfWs/gTHhHBo9Y9Ym1mq5JV85T6Rv4XhMsiDNm91wqSxnKDPL1GcrXm7uKzoDG5/F4R9J0faLO2MdSs7bm66Su69HKVMfmoeV9eex8jWhNYL2tH2nc64DPBAR1e9OUy8fI+wX0LwGOxFx3e6YtpYzpX1FymqRX9GVDrBm6/RuLMTHZd1xbaVHdc2XibnXnaVP22N8RnXnE4rutHujU4YWhpxZf0FinPU87z9521CD4XRbmo7BrzXH10DXY58eJSy4rJa/R97Po4rP16h5YgWDFo1EHMnc458eJSCrAIASgpLOLz6CBIJPLe0D/2W96W8tIxja44jlFcNRjxL3dc+v6TUrS2ft7fzZ0KT59kdtZ+3z60mIeceiwNeQa5volGvTEeflII0fgrfS0ZhlkaZ9MJMfgrfy9JzH/L2uY+4/SCCBa1n0sjEXkVuqG9PVvady9oTgfT+ehq3k6P4+YV1WNWy1ayeVJdfX/wURzM7pv3yDh2/GM+CPz4iKTut3nlq8/mu5MKuS1zZd43+s/swee0E9Az0+WnZr5QWl9ZqR8KtO/gP9GPSmhcY994oysrK2bnsV4oL1dvYy79fRSJRTdNmubVe156byycnt9Ln6+ncTo7ipxc+wcrIrNayZxfm0mztUOURsF516+etYz7A2dyeST8toffXU7mblcSvL36KkZ6Bipw223Nt+hyge+N2zGwxnu9D9jLzyDKiMxP4qMsizGSmGvNuad2EYwkXeP3kal45/i6pBQ/4uMsirAzUO8idHPzxsXQnrSBdY151QewMaIHevXtjZ2fH6tWrHyp35swZunTpgqGhIY6OjsybN0/5stq9e3fi4+N57bXXkEgkSGq2dP8wbdo0IiIiOHPmjEr6yZMniYmJYdq0aVy+fJk+ffpgZWWFQqGgW7duXLt2rVa7NIXQBAUFIZFIiIuLq5P9tSGRSLCzs8PBwYH+/fszb948jhw5QkFBxcvEt99+i4+PDwYGBjRp0oQvv/xSeW1cXBwSiYSff/6Zbt26YWBgwPbt29V0nD17lqysLL799lv8/PxwdXWlR48efPrpp7i6uqrIXr16lYCAAIyMjOjYsSPh4eHKc9HR0QwdOhRbW1tMTExo06YNR44cUbnexcWF9957j4kTJyKXy3n55ZcfyzepqakcO3aMwYMHq50zNTXFzs6ORo0a0aNHDyZNmqR2/wYPHsyVK1eIjo6uVUdtHLx8nHe2rmHv2YN1kp856EVikxJY+PV7hCVEsfH3rfx2aj+vjXhJKbPg+ZfZfGAnWw/9QmhCJDM/W0x+USFT+45VyevOkVgcOjni0NERYwdTvMc3Q0dPyv1z6iNOAHeOxWHha4Xzc24Y25vgNsQLUycFd0/EKWVifo/Aspk1Hs83wdRJgZG1MdYtbdGvNjJdSdzhGBy7ONG4kxMmDqb4vtACqb6Ue2cTNOqPPxqLla81rn09MLE3xXNYE+ROChKOVel3aNcYq6bWGFkbY9rIlCajm1JaUErO3WyVvARBIPRgGC2GNccpwBFzJ3M6z+pEfmY+CVc06wcI/SsEzx6eeHT3wKyxGe2ntUcqkxJ1suLep0akkpeaR8cZHTF3MsfcyZxOszrxIPYBibeTtKI7Kz6TB2FpWvV5f5eeHL9zllP3LnAvL4ktt3dSVFZMt0YdNeqNyY5nZ/geLiRdpVTQ/NJ6PfUmwWm3Sc5PJSk/hV8j/6CwtAgPhWo7M7PDWH689ic/Bf1FRGoci/atoaCkkHF+gzTmO95vIOaGcib9tIRLd25yJzOJ8/FB3E6Oqnee2ny+oaKuXfrjKp1Gt8ervSc2rjYMfm0AOem5hF+IrNWOsStH0aJ3M6ydrbB1tWHQ/P5kp2aTFJWsIpcck8zFvZcZ+Gq//0y5tVrX2o+pqhdpcSzat/afejGw1rILCKTmpVc7qgYy3SwcCXBsxpv7PyHofhjRD+7wxr5PMNSTMbxZb5V8tNmea9PnACO9+vFX7AkOxZ8mPuc+669tpaisiH4u3TTkDKsvbeKPmKNEZyVwJyeRT658h0Sig59NUxU5KwNzXmn1Ih9c2kRpee0DNY9C7AxoAalUygcffMDnn3/O3buaH4Lo6Gj69evH888/z40bN/j55585c+YMc+fOBWD37t00btxYOSqcmJioMZ/mzZvTpk0btmzZopIeGBhIx44dadKkCTk5OUyaNIkzZ85w4cIFPD09GTBgADk5ORrzrAuPsr+uGBoaUl5eTmlpKdu3b2fZsmWsWrWK0NBQPvjgA9555x22bdumcs3ixYt59dVXCQ0NpW/fvmp52tnZUVpayp49ex4ZlrV06VI++eQTrly5gq6uLlOnTlWey83NZcCAARw9epTr16/Tr18/Bg8eTEKC6kvL2rVradmyJdevX+edd955LN+cOXMGIyMjfHx8HmrvvXv3+PPPP2nXrp1KupOTE7a2tpw+ffqh1z8JOvi05sh11c7noasn6dC0NQB6unr4ezXnyLUqWwRB4Mi100oZgPLScnISsrHwqRpVk+hIsPCxIjtG86xaVkwGFk2sVNIsmlqRHZNZoadc4MHNFIxsjAnacInTi45w5cOzpAYlqeVVXlpOdnwWlj5V+Ul0JFj6WJEZrVl/Zkw6lk2tVdKsfG3IrMXe8tJy7pxKQNdQF9PGquE3uSm5FGQWYN+sapRJ30gfa3crUiPTamYFQFlpGQ9i07FvZqdis30ze1IjUytkSspAAlK9qo+rSfWkSCQSUsJTtKY7Iypdaz6XSqS4yp249aCqsy8gcOtBGJ5m6v/YHwcJEtrb+SPT1Scqs2qqX0+qS0sHL07FXKnSLQicirlCQGNfjXn19e7Mlbu3+HDg69xe+AcnZ3/Pq11eREei89h51pUn9XxXkpmcRV5GHq6tnJVpBsYyHLzsuRd2v852FeVVjC4bmFaNRpcUlrB37X76zuyNibnmEeC68qTKrdW6pqNLCwcvTsdcVdH9qHphrG/IlVd/5dr839g25gO8rV2U52S6FZEFhaVVMzICAkWlxbR1aqFM02Z7rk2fA+hKpHiZuXAt5baK/mvJITS19KhT/jJdGbo6UnJKqgYNJUhY3HYGv0T8RXz2vX9lv7hmQEsMHz6cVq1asXz5cr777ju186tXr2bChAnK9QCenp5s2LCBbt268dVXX2FhYYFUKlWOCj+MadOmsXDhQjZs2ICJiQk5OTn89ttvyrCRnj17qsh/8803mJmZcfLkSQYN0jwy9SgeZb+BgcHDMwAiIyPZtGkTAQEBmJqasnz5cj755BNGjBgBgKurKyEhIXz99ddMmjRJed38+fOVMppo3749b731FuPHj2fmzJm0bduWnj17MnHiRGxtbVVkV61aRbduFT33xYsXM3DgQAoLCzEwMKBly5a0bNlSKfvee++xZ88e/vjjD5UX+549e/L6668rf0+fPr3evomPj8fW1lYtRAjgzTff5O2336asrIzCwkLatWvHunXr1OQcHByU6wtqUlRURFHNLzWWC6CjecbpYdhZ2JCckaqSlpyRhsJYjoG+AeamCnSluhplmjhWNYwlucUI5YLaCI++qYz8JM1fdizOLkJPg3xliElxTjFlRWXEH4rBbYgX7sOb8OB2Kje/vobfa+0w96r6R1Vci36ZXEZeLfqLsorQN1WXL8oqVElLCU4mePNVyorLkCkMaPNaB7XrKkNrDBSq9cFAYag8p6Y/pwihXFCJ/QcwVBiQfb9iqtva0xpdmS7Xdl7Db4wfgiBw7afrCOUCBZkFWtNdlFWoHZ/n52Oqb4JUR0pWsersTHZRDg7Gqm1CfXE0cWBF+4Xo6ehRWFbEp9e+4V5e1cuKhZECXR1dUnNVp/hT89LxsHKumR0AzuYOdHZtza4bhxm3fRGuFo34aODr6OnosvZk4GPlWVee1PNdSV5GxcuNsZmxSrqxmbHy3KMQygWObD5GY59G2DhXdQwPf3uMxk0c8GrvWad8HsaTKvd/oq7l1awXGXjWUi+iHyQw//cPCUmORm5gwuwOY9k39Su6fjmRxJxUItPiuZOZxNJeM1i0bw35xYXM6DCaRgpbbE2q2lNttufa9DmAQmaKVEdKRqGq/oyiLBzl6iFFmnip+RgeFGRwNbmqQzHWeyBlQhm7o/7+V2UAcWZAq3z00Uds27aN0FD1hTvBwcFs3boVExMT5dG3b1/Ky8uJjY2tl55x48ZRVlbGL7/8AsDPP/+Mjo4OY8aMASA5OZmXXnoJT09PFAoFcrmc3NxctRHu+vC49mdlZWFiYoKRkRHe3t7Y2tqyfft28vLyiI6OZtq0aSp5vv/++2qhLwEBj/70+apVq0hKSmLTpk34+vqyadMmmjRpws2bqp9sb9GiamTD3r7ioU1J+Wf0NDeXhQsX4uPjg5mZGSYmJoSGhqr5raY9j+ObgoKCWjtQixYtIigoiBs3bnD06FEABg4cSFmZ6pShoaEh+fn5GvNYvXo1CoVC5SD28WeG/rP8MxNk3dIGp96umDrKcennjlVzG+6devz6Xl8smljScVk32r/ZGStfa4K+vkL88Th2TNmpPMrL6r6ZQH0wkBvQ7dWu3Ll2lx1Td/LT9J9Jj0sHCUSdjHrmukvyi5E7KWoNdXxSaPJ5besQniT385J569xqll34mKN3TjOzxUQaGT98AOdR6Eh0SMvL5PU/P+ZGYji/3z7G+tPfMylg6BOy+ulhmidlzaj1yqOs9N/vcnZw02FSE9IY9kZVGGXExSjibyTQ56WeD7nyf4unUdeu3L3NrzcOcTs5ivPxQUz5ZSkP8jOZGDAEgNLyMqb+shR3S0ci3jxA3NLDdHJpzZHI85QLT3kHu/9Ae/40fF6Tsd6D6OHYjuXnN1BSXrEO0tPMhRGez/Hx5c1PRIc4M6BFunbtSt++fVmyZAmTJ09WOZebm8uMGTPUFoJCRchHfZDL5YwcOZLAwECmTp1KYGAgo0ePxsSkYtp00qRJPHjwgM8++wxnZ2dkMhkdOnSodbFr5eh09RCbmgt1H9d+U1NTrl27ho6ODvb29hgaVowyJidXxIFu3rxZLQRGKpWq/DY2Vh1hqg1LS0tGjRrFqFGj+OCDD/Dz82Pt2rUqYUfVF1dXvqxUbtG5cOFCDh8+zNq1a/Hw8MDQ0JCRI0eq+a2mPY/jGysrq1oXnFtZWeHhUTHy5Onpyfr16+nQoQPHjx+nd++qmM309HSsra015rFkyRIWLFigkqYY/vCQpNpISk/B1lxVj625FVl52RQWF5KWVUZpWalGmaSMFOVvPRN9JDoStcVlxTlFGuP7AfTlMko0yFfuVFOZp5G96qItIzsTsqJU/atfi/6i7CKVnW+qI1PI1BYCF2UXIasxwq4r00XXRhdsjDFzN+fU0mMUZxcyaHVV3G75Py9JhVmFGJkbKdMLswowd1bfMQVAZipDoiNRG70vyCrEwKxqxN6hhQMj1g+nMLsQHakOEh0Ju17djUd3D7x6ej5T3frG+vw08xfsrY2euc/vnklA0b0ROcW5lJWXodBXDdWSy0zJKlIdzasvZUIZyfkVo8Vx2XdwkzvT16UHW27vBCA9P4vS8lKsTVT9am1sQUruA415JuekUVpepvKyFZEaj62pFXpS3cfKs6782+c717CMaR9UzeSWlVQMWuRl5mFiURXKk5eZh63bo3d2O7TpCFGXY3hx9VjkVlXPdfyNBDKSMvlkrOrGCQ5pMgpk5dy1LayZ1UN5Uu3af6KuGdesF+Z1rhel5WXcTIzE1byxMu1GYgS9vp6KqcwYfakeD/IzOTDta4ISw5Qy2mzPtelzgKyiHMrKyzA3UNVvLlOQXsvi5EpGefVnnPdAFp3+mJisO8r05lbemMnk7BzwqTJNqiNlZstxPO/5XL3LIc4MaJkPP/yQP//8k/Pnz6ukt27dmpCQEDw8PNQOfX19oGK3oJqjv7Uxbdo0zpw5w759+zh37hzTpk1Tnjt79izz5s1jwIAB+Pr6IpPJSEvTHBcMKF8oq69TCAoKqrf9mtDR0cHDwwM3NzdlRwDA1tYWBwcHYmJi1PKruej3cdDX18fd3b1euwmdPXuWyZMnM3z4cJo3b46dnZ3KAuraeBzf+Pn5kZSUVKcdqCo7R5WLrgEKCwuJjo7Gz89P4zUymQy5XK5yPE6IEMD50Gv08uusktandVfOh1Qsai4pLeFqxE0VGYlEQi+/zkoZAB1dHUyd5GSEVf2TEsoFMsIeINewDSeAws2c9DDVf2rpoWnI3cyq8nRRkJ+sOi2dn5yHgaXqy6OOrg5yZwUPQqueBaFc4EFoGmbumvWbuVmoyAM8CE3VuG1odQRBAIkEuZ1ceSgaKTA0M1Qu6gUozi8mNToNa08rjflIdaVYulqoXCOUCyTdTsLaU70jaCA3QN9Yn7SYNIrzivHs7vHMdSfeTqQ4pwjrlnbP3OeVnZ4yoYzY7AR8Lb2V5yVIaGbpTWRm/WZiH4VEIkFPp2ocrqSslOD7EXRx9VeR6eLmz5W7tzVlwaU7N3GxaKQym+Ju6UhSTholZaWPlWdd+bfPt6ADFg7mysPKyRJjc2PigqtGcovyi7gfkUijJg612iEIAoc2HSH8fCQTVo3BzM5M5XyHkW2Z/vlkpm2YpDwAUs2LSbKs/4zQk2rXtFrXyku5cT+CLm7V6gX1qxc6Eh18bN1I1tB5yCnK40F+Jq4WjWnp4M3BsKo1Ftpsz7Xpc4BSoYyIzDj8bKrWZUiQ4GfTlJAHUTWzUDLGawAv+Axl8Zm1RGSo2nkk4SwvHV7Ky0feVh5pBen8Ev4Xb55eU2+7xc6AlmnevDkTJkxQ2/bxzTff5Ny5c8ydO5egoCAiIyP5/fffVWLRXVxcOHXqFPfu3XvoyztUzEJ4eHgwceJEmjRpQseOVSvoPT09+eGHHwgNDeXixYtMmDBB5UW8Jh4eHjg6OrJixQoiIyPZv38/n3zySb3try8rV65k9erVbNiwgYiICG7evElgYKDG+PiHsW/fPl544QX27dtHREQE4eHhrF27lr/++ouhQ+s+ze7p6cnu3bsJCgoiODiY8ePH1+nDXo/jGz8/P6ysrDh79qzauZycHJKSkkhMTOTSpUssWrQIa2trlXt84cIF5YxPfTE2MKKle1NaulfsYuBq50hL96Y4Wlf8o/5g6mK2vbFeKb9p3w+42Tnx0fSleDu6M2vwREZ3G8Snu6umM9ft+oaXBoxjYp+RNHHy4Kt5qzE2MCTw0M8quh17u3L/zB0Sz98lLzGX8J23KCsuxaFjxahUSGAw0XuqRp8ce7qQfjuVhMMx5CXlEvNnBDnxWTTu7qKUce7jRsqVRO6dTiA/JY+7x+N4cDOFRt3UY2Zd+rhx93QC987dITcxh9vbb1BWXEajThUzODe+u0747qowP+derqTdTiH272hyE3OI/COcrLhMnHpW6C8tKiVidyiZ0RkUPMgnKz6Tm1uDKMooxM5f9cVHIpHg068JN/fc5M7VO2QkZHD2q7MYmRnhFFA1g/T3qsOEHarygc+ApkQejyT6VDSZ97K4sOUipYWleHRzV8pEnYgiNTKVnOQcYs7EcPKzUzTt74PCQaEV3S693TCxM9Gqzw/EHaNH4050cWiHg7EdU3zHIpPKOHmvYqBmZvNJjPGqah+kEinOpo1xNm2MrkSKuYEZzqaNsTWq6viM8RpKE3MPrAwtcDRxYIzXUHwsPDl7/7LKvd50/ide8B/MmJb98LRyZs3AhRjpGfLT9f0AfDH8bZb2mqGU33p5L+aGclb1exU3S0d6e3ZgfpcX2XJpd53zrESbzzdU1LW2Q/w5+/N5Ii5GkRKXyp/r/sLUwgTvarH+25f+zJV9VS/Vh746wq0TIQxdOAh9Qz1yM3LJzcilpKhiltrE3AQbZ2uVA6BEKlCqK2i13Fqtaxd+ZkLrQYz+p158POj1inoR9BcAnw9bqlLXFnSdTDe3Njib2dPczosvh79DY4Ud26/tU8oMbtqdjs6tcDazp593Z355cR0Hwk5zMkZVtzbbc236HOC3iIMMdO3Gc86dcTJ1YH7rSRjoyjgUdwqAN9u8zLRmVVu2jvUeyGTf51l75VuS8tIwlykwlykwkFbMimQX5xKXfU/lKC0vI70wi7u56htiPAoxTOg/wLvvvsvPP6s2Fi1atODkyZMsXbqULl26IAgC7u7uyjj/yutmzJiBu7s7RUVFD90ZRyKRMHXqVN566y2WLFmicu67777j5ZdfpnXr1jg6OvLBBx+wcOHCWvPS09Nj586dzJo1ixYtWtCmTRvef/99Ro2qqsh1sb++TJ8+HSMjI9asWcOiRYswNjamefPmtX50rTaaNm2KkZERr7/+Onfu3EEmk+Hp6cm3335br28arFu3jqlTp9KxY0esrKx48803yc5+9JTj4/hGKpUyZcoUtm/frraoe9myZSxbtgyomLVp06YNf//9N5aWVYu3du7cyYQJEzAyMqK+BHi15MQnVR/W+XTWCgC2/v0LU9YswN7SBiebRsrzcUl3GPj2JD6dtZxXh0/lbloi09ct4u8rJ5Uyv5z8E2szS96dtBA7c2uCokPo99aLpGSqdmptAxwoySkm5s8IirOLMW1sSstX2iqnlQvTC6DaBIbC3Rzfaa2I+SOC6N8jMLIxovlMf0waVU0jW/vZ4T2+GfEHo4n8JQQjW2OavdwaMw/18Bf7No0ozikm8vdwirKLkDvKCXi1nXKauqCGfnMPC1pOb03E3jAi9oRhbGNM6zltMG1UMT0s0ZGQl5TL9fNXKM4tRt9YD4WLGe3e6IRpI/X9pn0H+1JaVMr5by9QnF+MjZcNvRf3QqpfFRqXk5xDYbUwGdcOLhRlFxL0WzAFmQVYOJvTa3FPlYW9WYnZXPv5OsW5xRhbG9NiaHN8BvhoTbdlt6pFdM/a50X/rKO5kHQVU30TRnoOQiGTE599l4+ufEF2ccXaGUtDcwSqOvvmBgo+6FT1MaZBrn0Y5NqHkPQIVl1aD4Bc35SZLSZhJpOTX1LInZx7fHTlC249qHrhAfj99jEsjc14o8d0bEwsuJUUxdgfX1du4dhIYasSEnQ/O4UxPyzg3X7zODFrK0nZaXxz8Vc+P7O9znlWos3nu5L2z7eluLCEA18cojCvCMemjRizciS6+lWvKJlJmeRnV812XjsQBMD2t35SyWvQq/1p0buZRj3/lXJrva4ZmfFG92n/fIwuinHbF9aoa1XvEmaGpnwy+A1sTCzIKswh+H4Eg7bMIiItTilja2LJyufmYm1iQXLOA369cZB1J1V3+QPttufa9DnAibsXUchMmdx0BOYGCqKzElh8Zg0Z/4Qp2RhZqrzDDXbrib5UjxUdVMOJt4Xs4fuQPWr5/1skQn0+eSsiIqI1kpKS8PX15dq1azg7131HkLS0NLy9vbly5Uq9QqokfRo/WugpMfOtUY8Wekro11iD8iyxqeUjU//rpORlak13Wi2L6p8Fhy/c0Jru1LNxWtO9deMKremePEd7use/PkRruo9cvPlooafEiK6P3tTjaZFdc5e8Z0hSruZdkp4FR0d+Xy95MUxIROT/CXZ2dnz33Xf13uUpLi6OL7/88omsrRARERERERH530IMExIR+X/EsGHD6n1NQEBAnbZbFREREREREWl4iDMDIiIiIiIiIiIiIg0UsTMgIiIiIiIiIiIi0kAROwMiIiIiIiIiIiIiDRSxMyAiIiIiIiIiIiLSQBG3FhUREdHIrOOvaU33pg9+fbTQU2LB8vFa051bXKw13drE5CFfJX/a5GjR5zla3PbQzMDg0UJPCSe5+hepnxUJ2ala012mxdctbda1n9b9qTXdLy0ZqTXdJWVlWtMd2OfzesmLMwMiIiIiIiIiIiIiDRSxMyAiIiIiIiIiIiLSQBE7AyIiIiIiIiIiIiINFLEzICIiIiIiIiIiItJAETsDIgBs3boVMzOzel3j4uLC+vXrHyojkUjYu3cvAHFxcUgkEoKCggA4ceIEEomEzMzMetv7X6BmeerC5MmTH/kV4e7duzN//nzl75p+ru5TEREREREREZF/g662DfgvkZSUxKpVq9i/fz/37t3DxsaGVq1aMX/+fHr16qVt82pFIpGwZ8+eR75kPkxuzJgxDBgw4InblpiYiLm5ucZzHTt2JDExEYVCAVR0SObPn/+vOwcnTpygR48eZGRk1LuDU5Pu3bvTqlUrjZ0eR0dHEhMTsbKy+lc6arJ792709PRqPV/dp3Fxcbi6unL9+nVatWr1RO2ozt0TcST8HUtxdhEmjU3xGuOL3NWsVvmUq4nE/BFB4YMCDG2McB/eBKvmNioyeYm5RO8JIyMiHaFcwNjehOYzWmNgYaiU6dK8HYtGzcTfqzkOlnYMWz6N388deqit3Vp0YN3MZfg6e3EnNZH3d3zGtr9VdyeaPWQSi0bNxM7CmuDoUF7Z+A6Xw4PU8oo7FkP0wSiKsoqQO8rxHd8CczfN9Rng/uV7hO8NoyAtH2NbY5qM9MW2ha3yfOLV+8SfiCMrPpOSvBK6LO+OwklRa37dG3Wmj1NPFPqm3M29z08Ru4jLSahVvrV1S4a6DcDSwIKUglR2R//JrQehyvNf91yv8bpdUb/zd8Jxrek+l3RWJe1J+r28tJzwPaGk3EwmPzUfXUNdrJpa4/N8UwzMDVXy6d6oM89VK/POR5TZv0aZd9Uos0yqzwj3wbSyao6xnhFphekcu3OKU/fPqeXVx6kbg137oJDJSci5y9aQn4nOiteot7GJPSM9B+Mmd8LayJLvQ3/lQNyxWu0c4vYc47yHcyDuGN+Hqu/Upa3nuxJBEAj6LYiI45EU5xVj42VDh6ntkdvLa7UBIPTvMG7tu0VBVgEWTha0m9QWa4+qnYqyk7O5sv0KyeEplJeW06iFA42f90BfLtN6uRtiXdN2e65Nn/ds3IX+Lr1Q6MtJyL3H9rDfiM3W7HOAAJtWjPAYhJWBBcn5qfwa9Ts30kKU5+X6pozyHIqvZROMdA2JyIhie/hvJOc/3m5Z4szAP8TFxeHv78+xY8dYs2YNN2/e5ODBg/To0YM5c+Y8dr6CIFBaWqqWXvwf20LQ0NAQGxubRwvWEzs7O2QymcZz+vr62NnZIZFInrjeZ4FUKsXOzg5d3Sfbp7awsMDU1LTW8w/z6dMg+cp9In8Lw2WQB23e6oRJYzlBn1+iOFvzVnVZ0Rnc/i4I+06OtFnaGetWdtzcdJXcezlKmfzUPK6uPY+RrQmtF7Sj7TudcRnggY6uapNkbGBEcEwIcz5/u062utg5sv/9bRwPPkerWX1Zv+dbvl2whucCuillRncbzLoZy1j546e0ntWf4JgQDq3+EWszS5W87l+6R8jPt/Ea4k2X5d2QOyq49Ol5imopd3pUOte/uYpTFye6LO+OnZ89V764SPbdbKVMWVEZFp6W+Iz0fWRZAmz8GOk5jP1xB1l1eS13c+8xr9VMTPVMNMq7yV2Y7juRs4kXeP/yWoJSbzKr+TQcjO2UMovOvKNybAvdQblQzrWUG/8Z3U/a72XFZWQlZOE5uCK/gDltyUvK5fLnF9XKPMpzGPviDvL+5bXcyb3Hq3Uo85nEC7x3eS3XU28yu0aZR3kMw9eiCd+F/Mjyix9y9M5Jxnk9T0sr1fvf3s6fF32eZ1fUft469wHx2XdZ3GYecn3N7YC+VJ+U/DR2RuwlozBLo4zSToUzvRy7EJ99V+N5bT7fldz68xYhh0LpMLU9A98bgK6BLn9/eJjS4tq3Zow9H8vlHy/TakRLhqwajIWTOYc/PEJBVgEAJYUlHF59GCQS+i3ty4Dl/SkrLSd44xWEckGr5W6odU2b7bk2fd7WtjVjvYfze8wBVlz8mDs593i99exadXsoXJnZfDKn7p1n+cWPuJZ6g1davkQjY3ulzCstX8La0JLPg75hxYWPeFCYzsLWc9HXebxtmsXOwD/Mnj0biUTCpUuXeP755/Hy8sLX15cFCxZw4cIFQHNYSGZmJhKJhBMnTgBVoS8HDhzA398fmUzGmTNn6N69O3PnzmX+/PlYWVnRt29fAG7dukX//v0xMTHB1taWF198kbS0NGX+3bt3Z968ebzxxhtYWFhgZ2fHihUrlOddXFwAGD58OBKJRPm7vtQME4qOjmbo0KHY2tpiYmJCmzZtOHLkiNp1OTk5jBs3DmNjYxo1asTGjRtVzj8spKV6mNCJEyeYMmUKWVlZSCQSJBIJK1as4N1336VZs2Zq17Zq1Yp33nlHLT0uLo4ePXoAYG5ujkQiYfLkyQAUFRUxb948bGxsMDAwoHPnzly+fLmOHlKnZn0oKytj2rRpuLq6YmhoiLe3N5999pnGa1euXIm1tTVyuZyZM2eqdA5rhgnVpLpPXV1dAfDz80MikdC9e3dOnTqFnp4eSUlJKtfNnz+fLl261Lucd47E4tDJEYeOjhg7mOI9vhk6elLun9Pc4N85FoeFrxXOz7lhbG+C2xAvTJ0U3D0Rp5SJ+T0Cy2bWeDzfBFMnBUbWxli3tFWO2FVy8PJx3tm6hr1nD9bJ1pmDXiQ2KYGFX79HWEIUG3/fym+n9vPaiJeUMguef5nNB3ay9dAvhCZEMvOzxeQXFTK171iVvGL+jsKxqzOOnZ0xdZDT/MWW6OhLuXNG82hO7JForJvZ4N7PE1MHU7yH+6BwNiPuWKxSpnFHR7yGeGPV9NH7rPd27M6Z++c5l3iJxPxktof/SnF5MR0d2mmU7+XYjdvpYfydcJyk/GT+iD1AQs5dujeuuufZxTkqR0ur5kRkRJFW+OA/o/tJ+13PSI/2r3fEoU0jTOxMMXe3oNmEFmTFZ1HwIF+ZT59aytypnmXuUa3M7gpXziddJiIzigeF6Zy+f567ufdxkTur5DXQtRfH7pzl5L3z3MtN4rvbOykuK6Z74w4adcdkxbMjfDfnE69QWq4+2FSJTCpjbsspbL61nbySfI0y2ny+oWLALORgKC2HtcApwAkLJwu6zOpMfmY+CVdqH7W9/VcIXj088ezuiVljMzpM64CuTErkySgAUiJSyE3No/OMTpg7mWPuZE6XWZ3JScgiI/yBVsvdUOuaNttzbfr8OecenLp7njP3L3I/L4nvQ3+muKyYLo00+7yPU3duPgjlYPxREvOS2RO9n/jsO/Ry6gqArZE1HmaufB/6M7HZCSTlp/B96C/oS/Vob+9fJ9/WROwMAOnp6Rw8eJA5c+ZgbGysdv5xQk0WL17Mhx9+SGhoKC1atABg27Zt6Ovrc/bsWTZt2kRmZiY9e/bEz8+PK1eucPDgQZKTkxk9erRKXtu2bcPY2JiLFy/y8ccf8+6773L48GEA5ctsYGAgiYmJ/+rltjq5ubkMGDCAo0ePcv36dfr168fgwYNJSFBtnNesWUPLli25fv06ixcv5tVXX1XaVh86duzI+vXrkcvlJCYmkpiYyMKFC5k6dSqhoaEq5bp+/To3btxgypQpavk4Ojqya9cuAMLDw0lMTFS+kL/xxhvs2rWLbdu2ce3aNTw8POjbty/p6en1tlcT5eXlNG7cmF9//ZWQkBCWLVvGW2+9xS+//KIid/ToUUJDQzlx4gQ7d+5k9+7drFy58rF0Xrp0CYAjR46QmJjI7t276dq1K25ubvzwww9KuZKSErZv387UqVPrV6bScnISsrHwqRplkehIsPCxIjsmQ+M1WTEZWDRRDZ2yaGpFdkwmAEK5wIObKRjZGBO04RKnFx3hyodnSQ1K0pBb/ejg05oj18+opB26epIOTVsDoKerh79Xc45cO608LwgCR66dVspARbmz4rOw9ql6aZfoSLBuak1GtOZyZ0RnqL3kW/vakBFd//ollUhxMm1MaHpElZ0IhKVH4CZ30XiNm8KFsGryACHpYbXKm+qZ0NyyKWcSL/xndD8rv5cUlIAEdI0qwvFqK3PoQ8rsrnBRkQe4XaPM0VmxtLRqhpl+RSiYt5kHtkbWhKSHKWWkEimucidupVWlCQjcSgvD08yt1jLUhalNx3I95Ra3HoRpPP9feL5zU3IpyCzAvpmDMk3fSB9rd2tSIzWHPJSVlvEg9oHKNRIdCfbNHJTXlJeUgwSkelKljFRPikQiISPigdbK3VDr2uPwpNpzbfvcxdSR2+nhKrpD0sPxUNSuO6SaPMCtB2G4KyoG//R0KqIRSqp1zgQESstL8TRz15jnoxA7A0BUVBSCINCkSZMnlue7775Lnz59cHd3x8LCAgBPT08+/vhjvL298fb25osvvsDPz48PPviAJk2a4Ofnx5YtWzh+/DgREVWVsEWLFixfvhxPT08mTpxIQEAAR48eBcDauuKfoJmZGXZ2dsrf/5aWLVsyY8YMmjVrhqenJ++99x7u7u788ccfKnKdOnVi8eLFeHl58corrzBy5Eg+/fTTeuvT19dHoVAgkUiws7PDzs4OExMTGjduTN++fQkMDFTKBgYG0q1bN9zc1BsvqVSq9LeNjQ12dnYoFAry8vL46quvWLNmDf3796dp06Zs3rwZQ0NDvvvuu3rbqwk9PT1WrlxJQEAArq6uTJgwgSlTpqh1BvT19dmyZQu+vr4MHDiQd999lw0bNlBeXl5vnZX329LSEjs7O2XZp02bpuKzP//8k8LCQrWO5qMoyS1GKBfURrb0TWW1TqcXZxehp0G+MsyjOKeYsqIy4g/FYNHUmlbz2mLVyo6bX18jI+KBpizrjJ2FDckZqi8QyRlpKIzlGOgbYKWwQFeqq1HGzrwqTK44pwihXEBWsxxyGUVZhRp1F2UVqsnL5LJaw1sehomeMVIdKTnFOSrp2cU5KPQ1x1HL9U3JLtEgL9Ms38G+LYVlhVxPVQ3T0abuZ+H3spIywn4LwaFtY/QMKzoDlWXOrlHmnH9Z5p8idnE/L4mPO6/kq+6fMK/VTHZE7CIyM6ZaPiZIdaRkFWer5JVVnI1ZLf6rCx3sA3BROPJTxN5aZf4Lz3dlWI+hQvWLyIYKA+W5mhT9U080XpNZcY21pzW6Ml2u7LxKaVEpJYUlXN5eESJU+KBAa+VuqHXtcXhS7bk2fW6qX6m7ps9zkNfic4VMrmZrVnEOin9CuRLzkkkrSGekx2CMdA2RSqQMcOmNhYE5ZrWU51GIC4ip6Ek+aQICAtTS/P1Vp2+Cg4M5fvw4JibqcWPR0dF4eXkBKGcWKrG3tyclJeUJWqtObm4uK1asYP/+/SQmJlJaWkpBQYHazECHDh3Ufj9qh6H68tJLLzF16lTWrVuHjo4OO3bsqHeHIzo6mpKSEjp16qRM09PTo23btoSGhj7kyvqxceNGtmzZQkJCAgUFBRQXF6st7G3ZsiVGRkbK3x06dCA3N5c7d+7g7OzMk2Dy5Mm8/fbbXLhwgfbt27N161ZGjx6tceYLKkKoimp8rr6suPYp4X/FP8+bdUsbnHpXjHSYOsrJjsng3qkEzL0sH3a1yBOik307LiVdfejU//+a7vLScq59dQVBgOYvtnj0Bf+SHo274iZ34YvgzTwoTMfLzJ3xXs+TVZRFaEbEozN4TCwMzJnkM4oPLm9QGT18Jjzi+S7KKOTUjr+V4r3feDqbcxjIDej+ajcubLlA6KFQJBIJrh1dMXWS81SWqWm5XWuQdU3LaMvnZUI5XwR/y1Tf8Wzs8TFl5WWEpIdzI+028HiVW+wMUDFiL5FICAt7+PSWjk7FREr1zkNJSYlGWU0vXTXTcnNzGTx4MB999JGarL191UKRmjvLSCSSxxpFrg8LFy7k8OHDrF27Fg8PDwwNDRk5cqRWFj4PHjwYmUzGnj170NfXp6SkhJEjRz5zOx7FTz/9xMKFC/nkk0/o0KEDpqamrFmzhosXLz764ieMjY0NgwcPJjAwEFdXVw4cOKBc16KJ1atXq4Uq+U9sh/8L7ZDoSNRGy4pzijTG/0LFKG6JBvnK0Vs9E30kOhKM7FUXrBnZmZAVpXmKvq4kpadga646O2ZrbkVWXjaFxYWkZZVRWlaqUSYpo6qDrW8qQ6IjURtdLs4uQlZjNLISmcJATb4ou0ht1Lou5JbkUVZehmmNRX1yfVO1Ub1KsotzkOtpkC9Sl/dQuGFnbMvm29v+U7qfpt/LS8u5uuky+Q/y6bCok3JWAKrKXHMRpem/KLOejh7D3Qfy1c0t3HxQsQvIvbxEGps2oo9TD+XLQnZxLmXlZWojlAp9OZka/FcX3OROKGRyPui4RJkm1ZHSxMKD55y68eKhVyps/OdZfJbPt1VLW5o0r5rVLSutWCRckFWIkXnVIElBViEWzhYabZD9U08KaswWFWQVYmhWtWtPoxaNeH798xRmFyKR6iAz1mfHzJ1Yt7bXWrvWUOva4/Ck2nNt+jynuFJ3TZ+bkl2Lz7OKstVsVeibklVttiA+5w7LL3yEoa4BuhJdckpyebvt68Rl177O5mGIYUJU7N7St29fNm7cSF5entr5yq0uK0MyEhMTlefqs8d8TVq3bs3t27dxcXHBw8ND5ahtBFcTenp6lJXVvuvC43D27FkmT57M8OHDad68OXZ2dsTFxanJVS6urv7bx8fnsXTq6+trLIeuri6TJk0iMDCQwMBAxo4di6Gh+vZ01fMBVPJyd3dXrteopKSkhMuXL9O0adPHsrcmZ8+epWPHjsyePRs/Pz88PDyIjo5WkwsODqagoGr6+8KFC5iYmODo6FhvnZrKWsn06dP5+eef+eabb3B3d1eZFanJkiVLyMrKUjlaj2+Djq4Opk5yMsKqprmFcoGMsAfIa9nqUeFmTnqYajhAemgacjczgIo8XRTkJ+eqyOQn52FgqfmFr66cD71GL7/OKml9WnflfMg1AEpKS7gacVNFRiKR0Muvs1Km0kaFs4K00KrpZ6FcIC00FXN3zeU2dzdXkQdIC0nB3F3zC83DKBPKSMi5i4+5Z5WdSGhi7kVMdpzGa2Ky4mhi4amS5mPhrVG+k0N74rMTuJt7/z+l+2n5XdkRSM6j/cKO6Juo7rhRWeYmNcrs85AyR2soc9NqZZZKdNDV0VWbeRYEAZ1qQ9NlQhmx2Qk0s/RW0e1r5a0SblAfbj0IY9Hp91h89gPlEZ0Zx9n7l1l89gMEKmzSxvOta6CL3E6uPMwamWFoZkji7ar/q8X5xaRGp2LtqTnsVaorxdLVUuUaoVwg8XaixmsM5AbIjPVJvJ1IcU4x1q1stdauNdS69jg8qfZc2z6Py7lDUwsvVd0WXkRl1a67ujyAr6U30VmxarIFpYXklORia2SNq9yJ6yk3Neb5KMTOwD9s3LiRsrIy2rZty65du4iMjCQ0NJQNGzYoQ2EMDQ1p3769cmHwyZMnefvtum2RpYk5c+aQnp7OuHHjuHz5MtHR0Rw6dIgpU6bU6+XexcWFo0ePkpSUREbGw0dWY2NjCQoKUjk0dYA8PT3ZvXs3QUFBBAcHM378eI2zEWfPnuXjjz8mIiKCjRs38uuvv/Lqq6/W2faa5cjNzeXo0aOkpaWRn1+1I8H06dM5duwYBw8efOQiWGdnZyQSCfv27SM1NZXc3FyMjY2ZNWsWixYt4uDBg4SEhPDSSy+Rn5/PtGnTHppfamqqms+Sk5PV5Dw9Pbly5QqHDh0iIiKCd955R+OC7uLiYqZNm0ZISAh//fUXy5cvZ+7cucqZp/pgY2ODoaGhcvF5VlbV1m99+/ZFLpfz/vvva1xsXR2ZTIZcLlc5pPoVE4eOvV25f+YOiefvkpeYS/jOW5QVl+LQsTEAIYHBRO+pmlVz7OlC+u1UEg7HkJeUS8yfEeTEZ9G4u4tSxrmPGylXErl3OoH8lDzuHo/jwc0UGnVTDZMyNjCipXtTWrpXdNhc7Rxp6d4UR+uKhYMfTF3MtjfWK+U37fsBNzsnPpq+FG9Hd2YNnsjoboP4dPdmpcy6Xd/w0oBxTOwzkiZOHnw1bzXGBoYEHvpZRbfbcx4knIrnztkEcu7ncPPHYMqKynDs5ATA9W+vErqrat9n197upN5KIfpQFLmJOYT/HkZmXCYuPV2VMsW5xWQlZJFzv2KEJy8pl6yELAo1xMMfuXOCzg4daG/XBjsjW8Z7j0Jfqs+5+xUzTZN9JjDMbZBS/uidk/ha+NDbsTu2RjYMcu2Hs6kjJ+6eVsnXQCrD36YlZ+6rduT/K7qftN/LS8u5+tVlsuIy8XvZvyJmPKuQwqxCykur2rTDd07QxaEDHf4p84R/ynz2nzJP8ZnA8BplbmbhQx/H7tgZ2TD4nzIf/6fMhWVFhGdE8bzHELzMPLA0sKCDXVva2wVwPVX1H/b+2KP0cOxM10btcTC2Y6rvOGRSGSfvngdgVotJjPUaqpSXSqQ4mzbG2bQxujpSzGVmOJs2xtbIWqn7bu59laOorJjckjy1Tpg2n2+oeHlr2s+HG3tukHA1gYyEDE5/dQYjMyOcApyUcodWHSL0UFVIp++ApkQcjyDqVBSZ9zI5v+UCpYWleHbzUMpEnogkJTKV7ORsos9Ec+Kzkzj2csXYzkSr5W6odU2b7bk2ff53/HG6NepIJ/u22BvbMtFnNDKpTNkOTvd9kZEeg6tsTThBM8um9HXuiZ2RLUPd+uMid+JowimlTIBNK7zNPbA2tMTPujkLW8/hWsoNbqc/3gJuMUzoH9zc3Lh27RqrVq3i9ddfJzExEWtra/z9/fnqq6+Uclu2bGHatGn4+/vj7e3Nxx9/zHPPPfdYOh0cHDh79ixvvvkmzz33HEVFRTg7O9OvX796vRh+8sknLFiwgM2bN9OoUSONI/iVLFiwQC3t9OnTamnr1q1j6tSpdOzYESsrK958802ys9WntF5//XWuXLnCypUrkcvlrFu3Trltan3p2LEjM2fOZMyYMTx48IDly5crt1H19PSkY8eOpKen066d5q3AKmnUqBErV65k8eLFTJkyhYkTJ7J161Y+/PBDysvLefHFF8nJySEgIIBDhw7V+lG0Snbs2MGOHTtU0t577z1eeOEFlbQZM2Zw/fp1xowZg0QiYdy4ccyePZsDBw6oyPXq1QtPT0+6du1KUVER48aNU9kutj7o6uqyYcMG3n33XZYtW0aXLl2U4UA6OjpMnjyZDz74gIkTJz5W/gC2AQ6U5BQT82cExdnFmDY2peUrbZXT6YXpBSphigp3c3yntSLmjwiif4/AyMaI5jP9MWlUNe1p7WeH9/hmxB+MJvKXEIxsjWn2cmvMPFRH0QO8WnLik6oPzHw6awUAW//+hSlrFmBvaYOTTSPl+bikOwx8exKfzlrOq8OncjctkenrFvH3lZNKmV9O/om1mSXvTlqInbk1QdEh9HvrRVIyq7b0BXBo24iinCIi9oZRlF3x8au2r7VXhqsUpBeofCPDwsMCv5f8Cd8TSvjuUIxtjAmY2w5546rp4eSgJIIDryt/X/v6CgCeQ7zxHqq6gcGVlOuY6BkzxK0/cn05d3PusSH4a3JKKkYeLQzMVUbdYrLj+Pb29wx1G8gw90Gk5Kfy1c3vuJ+nuptJG9vWSJBwKfkataFN3U/a74WZhST/s6PLqRUnVHS1X9QJmZtcWWbTf1nmL2uUefPtbQx3H8Q03xcw1jUivTCDvTF/cfKe6kfWLiRdRa5vwkjPQZjJ5MRn3+XDy58rwwKsDCxURiDNDRR82Hmp8vdgtz4MdutDyIMI3rtUv/VU2ny+K2k2uBmlRaWc+/Y8xfnF2HrZ0mdxb3T1q3YCyk7OoTCnKkzHtYMrhdmFXP8tiILMAiycLeizuDeGiqpZ46zEbK7+fI3i3GJMrE1oMbQ5Jp2ttV7uhlrXtNmea9Pnl5KvYapvwjD3gShkpiTk3GPdtS+Vi4Qta+iOyorl65tbGeExiOc9BpGcn8rnwZu5l1c1E2YmUzDOewRyfVMyi7I5l3iJP2LqtmWrJiTC01g9KyLyhBEEAU9PT2bPnq2xQyOimWnTppGamqq2C1RdmHX8tadgUd3Y9IH6V1KfFQuWj9ea7tz/2McInxUm+o/3oZwnQY4WfZ5TY9H+s8TM4N+F5P0bnORPZte7xyEh+/G+0PokKNPi65Y269pP6/7Umu6XlmhvfWHJEw7frg+BfT6vl7w4MyDynyc1NZWffvqJpKSkR4a7iFSQlZXFzZs32bFjx2N1BEREREREREQaBmJnQOQ/j42NDVZWVnzzzTePDOkRqWDo0KFcunSJmTNn0qdPH22bIyIiIiIiIvIfRewMiPznESPZ6s/DthEVEREREREREalE3E1IREREREREREREpIEidgZEREREREREREREGihiZ0BERERERERERESkgSJuLSoiIqKRV08t1Jpu3cf4ANuTYt3KHY8WekosWvHCo4X+B1mz4ket6dbmVrKlGj7k2BDQk0ofLfSU0OZ2j9ps17RZ17RZbm0ilWiv3B93+rBe8g3zDomIiIiIiIiIiIiIiJ0BERERERERERERkYaK2BkQERERERERERERaaCInQERERERERERERGRBorYGRARERERERERERFpoPy/+gLxiRMn6NGjBxkZGZiZmWnbnMcmLi4OV1dXrl+/TqtWrbRtzv88Dx48wMfHh0uXLuHi4lLn61asWMFXX31FSkoKe/bsYdiwYU/NxqfJwYMHWbx4MdeuXUPnX+zqEH88lthD0RRnFWHqKMdnXDPMXM1rlU+6cp/I38MoSCvAyNYY7+d9sG5uqzwf+Uc4SZfvUZheiERXB4WzAs9hTTBzU80z7lgM0QejKMoqQu4ox3d8C8zdatd7//I9wveGUZCWj7GtMU1G+mLbokpv4tX7xJ+IIys+k5K8Eros747CSaGWT5fm7Vg0aib+Xs1xsLRj2PJp/H7u0EN91K1FB9bNXIavsxd3UhN5f8dnbPv7VxWZ2UMmsWjUTOwsrAmODuWVje9wOTxIY36CIBC2N5T4U3GU5Jdg4WFJy4mtMLE1eagdMUdjiDoYSVFWIXJHBS0mtMDczUJ5vqykjFs/3eTepbuUl5Zj08yWFi+0xEBhoBXd0jIok2rf59qqa5Vo6xnTtu7YozFEH4z8x+8Kmk14tN/D9oT+43cTfEY1xbaFnfK8IAiE7w0joVrdbT6xpca629DatYZcbm37/Fm2qWneaVhZWT003+rU+80gKSmJV155BTc3N2QyGY6OjgwePJijR4/WN6uH0r17d+bPn6+S1rFjRxITE1Eoanf2/wccHR1JTEykWbNmdb5mxYoV/5mOw9atW59qZywuLg6JREJQUNATyW/VqlUMHTq0Xh2B0NBQVq5cyddff01iYiL9+/fHxcWF9evXPxGbNKGpzj8J+vXrh56eHtu3b3/sPBIv3yPslxA8BnvR8Z2umDaWc2X9RYqyizTKZ0SlE7z5Go07O9FxWVdsW9lxbeNlcu5lK2WMbY3xGdecTiu60e6NThhaGnFl/QWKc6ryvH/pHiE/38ZriDddlndD7qjg0qfna9WbHpXO9W+u4tTFiS7Lu2PnZ8+VLy6SfbdKb1lRGRaelviM9H1omY0NjAiOCWHO52/XyUcudo7sf38bx4PP0WpWX9bv+ZZvF6zhuYBuSpnR3QazbsYyVv74Ka1n9Sc4JoRDq3/E2sxSY55RByKJORJDy4mt6Pp2d3RlUs5/cpayktq3R7x36S63f76J95AmdFveA4WjgvPrzqn47NbOmyQHJ9Fmdjs6v9mFwswCLm+8qDXdDqkVnRBt+lybdQ2094xpW/e9S3cJ+fkWXkOa0HV5d+SOci7WqDPVSY96wLWvr+DUxZmuK3pg52fH5c9V/R59IJLYI9G0mNiKLm93QyqTcvGTc2p1tyG2aw213Nr2OTzbNnXu3Ll1sqmSenUG4uLi8Pf359ixY6xZs4abN29y8OBBevTowZw5c+ql+HHQ19fHzs4OiUTy1HU9TaRSKXZ2dujqPvuJmeLi4meuU5u68/Pz+e6775g2bVq9rouOjgZg6NCh2NnZIZPJnphN2vDD5MmT2bBhw2NfH3c4BscuTjTu5ISJgym+L7RAqi/l3tkEjfLxR2Ox8rXGta8HJvameA5rgtxJQcKxOKWMQ7vGWDW1xsjaGNNGpjQZ3ZTSglJyqjW2MX9H4djVGcfOzpg6yGn+Ykt09KXcOROvUW/skWism9ng3s8TUwdTvIf7oHA2I+5YrFKmcUdHvIZ4Y9XU+qFlPnj5OO9sXcPeswfr5KOZg14kNimBhV+/R1hCFBt/38pvp/bz2oiXlDILnn+ZzQd2svXQL4QmRDLzs8XkFxUyte9YtfwEQSD6cBTeg72x93NA4aig9fQACjMLSbyWWKsdUYeicO7qgnMXZ+SN5LSc2AqpvpT403EAlOSXEH86jmZjm2PtY42Zizl+U/1Jj0onPTpdK7oNi6UYFOlo1efarGugvWdM27pjDkXj1NUZpy7OmDaS0+KfOpNwuha/H47BupkNHv0r/N5kRNN//B4DVNTdmMPReA32xs7PHrmjAr/p/hRmFpJUo+42xHatoZZb2z5/1m3q9evX6zWgWq/OwOzZs5FIJFy6dInnn38eLy8vfH19WbBgARcuXFDKJSQkMHToUExMTJDL5YwePZrk5GTl+cpR7h9++AEXFxcUCgVjx44lJycHqHhxOXnyJJ999hkSiQSJREJcXBwnTpxAIpGQmZkJVI1QHzp0CB8fH0xMTOjXrx+JiVWO1TTaOmzYMCZPnqz8nZGRwcSJEzE3N8fIyIj+/fsTGRmpZm911q9frzLSfOLECdq2bYuxsTFmZmZ06tSJ+HjNlazmyHdluY4ePUpAQABGRkZ07NiR8PBwZTlXrlxJcHCw0h9bt24FIDMzk+nTp2NtbY1cLqdnz54EBwer2f7tt9/i6uqKgYFBna4LDg6mR48emJqaIpfL8ff358qVK5w4cYIpU6aQlZWltGXFihUay1mb7oMHD9K5c2fMzMywtLRk0KBBypdvAFdXVwD8/PyQSCR0795dee7bb7/Fx8cHAwMDmjRpwpdffqlRdyV//fUXMpmM9u3bK9PKysqYNm0arq6uGBoa4u3tzWeffaZi9+DBgwHQ0dFR2hAfH89rr72mLHclZ86coUuXLhgaGuLo6Mi8efPIy8tTnndxceG9995j4sSJyOVyXn75ZTU7a6vzj7K1sLAQX19flTyjo6MxNTVly5YtyrTBgwdz5coVFT/XlfLScrLjs7D0qZpylOhIsPSxIjM6Q+M1mTHpWNZoIK18bciM0SxfXlrOnVMJ6BrqYtpYrkzLis/C2qcqH4mOBOum1mTUojcjOkOtYbb2tSHjn5fcp0kHn9YcuX5GJe3Q1ZN0aNoaAD1dPfy9mnPk2mnleUEQOHLttFKmOvmp+RRlFWFdrTx6RnqYu5nXWp4Kn2WqXFPls4prMuMzEcoEFRlTe1MMLQ2VMs9ad4m0HIOi+oewPSmfa7uuaesZ+y/ozorPVPGjREeCVbU6U5P06HSV+gNg08yGjCjVumtVo+6a1ai7DbVda4jl1rbP4dm3qQ4ODvXqDNR5aDo9PZ2DBw+yatUqjI2N1c5Xho2Ul5crOwInT56ktLSUOXPmMGbMGE6cOKGUj46OZu/evezbt4+MjAxGjx7Nhx9+yKpVq/jss8+IiIigWbNmvPvuuwBYW1sTFxenpjc/P5+1a9fyww8/oKOjwwsvvMDChQvrFRIxefJkIiMj+eOPP5DL5bz55psMGDCAkJAQ9PT0Hnl9aWkpw4YN46WXXmLnzp0UFxdz6dKles9gLF26lE8++QRra2tmzpzJ1KlTOXv2LGPGjOHWrVscPHiQI0eOAChDpUaNGoWhoSEHDhxAoVDw9ddf06tXLyIiIrCwqIgpi4qKYteuXezevRvpP19+fNR1EyZMwM/Pj6+++gqpVEpQUBB6enp07NiR9evXs2zZMmVnxcSk9ng3Tbrz8vJYsGABLVq0IDc3l2XLljF8+HCCgoLQ0dHh0qVLtG3bliNHjuDr64u+vj4A27dvZ9myZXzxxRf4+flx/fp1XnrpJYyNjZk0aZJG/adPn8bf318lrby8nMaNG/Prr79iaWnJuXPnePnll7G3t2f06NEsXLgQFxcXpkyZouxY6uvr07JlS15++WVeeqlq1DE6Opp+/frx/vvvs2XLFlJTU5k7dy5z584lMDBQKbd27VqWLVvG8uXLNdpZW51/lK0GBgZs376ddu3aMXDgQAYNGsQLL7xAnz59mDp1qjJ/JycnbG1tOX36NO7u7rXeL00U5xYjlAvoy1VnR2RyGXlJuRqvKcoqQt9UXb4oq1AlLSU4meDNVykrLkOmMKDNax2U1xXnFCGUC8hq6NWXy8hNzKlFb6GavEwuq3Uq+EliZ2FDckaqSlpyRhoKYzkG+gaYmyrQlepqlGni6KGWX1F2ha9kcgOVdJncgMIaflReU4vPZHIDchIr7lVRViE6ujroGenXmu+z1l0mFdAtq/+M75PyubbrmraeMa3rVvq9Zj2TkZtYm+5CjfKF//i99roroyir6t401HatIZZb2z6HZ9+mWlpakpqq2u49jDp3BqKiohAEgSZNmjxU7ujRo9y8eZPY2FgcHR0B+P777/H19eXy5cu0adMGqHgh27p1K6ampgC8+OKLHD16lFWrVqFQKNDX18fIyAg7O7tadQGUlJSwadMm5QvO3LlzlS9TdaGyE3D27Fk6duwIVLx0Ojo6snfvXkaNGvXIPLKzs8nKymLQoEFKO3x8fOpsQyWrVq2iW7eKWNfFixczcOBACgsLMTQ0xMTEBF1dXRV/nDlzhkuXLpGSkqIMY1m7di179+7lt99+U44WFxcX8/3332NtbV3n6xISEli0aJHyfnt6eir1KhQKJBLJI++NJt0Azz//vIrMli1bsLa2JiQkhGbNmillLS0tVXQsX76cTz75hBEjRgAVMwghISF8/fXXtXYG4uPjcXBwUEnT09Nj5cqVyt+urq6cP3+eX375hdGjR2NiYqLs3FbXL5VKMTU1VUlbvXo1EyZMUM4+eXp6smHDBrp168ZXX32lnA3p2bMnr7/+eq1+qq3OS6XSh9oK0KpVK95//32mT5/O2LFjiY+PZ9++fWo6HBwcap2tKioqoqhItZErLS5FV//phrJZNLGk47JulOQUc+d0PEFfX6H9W13QNTN8qnr/i5jmSdk36w/l7/bzOz4z3XfO3yEzLoOshExij8U8U90iT5fanrGaLxjPUreeudFT161NGmq71lDLrYm7F+5w8/uqaIv/epta53lZQRDqJBcaGoqjo6OyIwDQtGlTzMzMCA0NVaa5uLgoOwIA9vb2pKSk1NUcJUZGRiojnfXNJzQ0FF1dXdq1a6dMs7S0xNvbW8Xeh2FhYcHkyZPp27cvgwcP5rPPPlMJVaorLVq0UP5tb28P8NCyBAcHk5ubi6WlJSYmJsojNjZWJRzE2dlZ5WW8LtctWLCA6dOn07t3bz788MPHCi/RpBsqOmDjxo3Dzc0NuVyuDLdKSNAcrwgVswnR0dFMmzZNxeb333//obYVFBQoX8irs3HjRvz9/bG2tsbExIRvvvnmofprIzg4mK1bt6rY1LdvX8rLy4mNrYotDAgIqHfe9bH19ddfx8vLiy+++IItW7Zgaam+INXQ0JD8/HyNOlavXo1CoVA5rmy/BIC+iT4SHQnFNUZEirKLan2hkClkagsFi7KLkClU74WuTBdjG2PM3M1pPrkVEqkOd89UlE3fVIZER6I2ElOsIZ8qvQZq8g+z80mSlJ6CrblqXbc1tyIrL5vC4kLSstIpLSvVKJOUkUKuYRndV/RUHvom+v/YrzpqVJRdqLLrT3Vktfis4poKH8gUBpSXllOSX7V2xa6VHTKFDI9+ns9cN4C0TEKptG7/Y6rzb31eibbrmraeMa3rVvq9Zj0rQqaoTbeBRnmDf2ytHHl9VJ4NtV1riOXWhm67lnZaa8+hYhfFmu9eD6POnQFPT08kEglhYWF1zvxh1Ay/kUgklJeXP5F8qndcdHR01DoyJSUl9dJRlzwCAwM5f/48HTt25Oeff8bLy0tlHUVdqF6WyhCjh/kkNzcXe3t7goKCVI7w8HAWLVqklKsZ1lWX61asWMHt27cZOHAgx44do2nTpuzZs6de5dGkGyri19PT09m8eTMXL17k4sWKXUwetrA2N7diSmzz5s0qNt+6deuhfraysiIjQzUm8KeffmLhwoVMmzaNv//+m6CgIKZMmfJYC3tzc3OZMWOGik3BwcFERkaqdFI1+aEu1NXWlJQUIiIikEqlKutdqpOenl5r47BkyRKysrJUjoAJbQHQ0dVB7qzgQWiaUl4oF3gQmoaZu+Zt2czcLFTkAR6EpmrcVrA6giBQXlqu1KtwVpAWWjXVKZQLpIWmYl6LXnN3cxV5gLSQFMzdLTTKP0nOh16jl19nlbQ+rbtyPuQaACWlJVyNuKkiI5FI6OXXmfMh1xB0wMTWRHmYOpgiU8hIDakqT0lBCRkxGbWWp8JnZqTW8FlqaKryGjNnMyRSiUq+hZmFFGUWYdfK/pnrzknMQa9Mh0JZ/dv/f+tzVdu1V9e09Yz9F3QrnM1q8btmP1q4W6j5PfV2KuYeFfJG1kbIFDLSatTdzBp1t6G2aw2x3NrQrWuop7X2PCcxh/v379drB8o6dwYsLCzo27cvGzduVFkcWUnlol4fHx/u3LnDnTt3lOdCQkLIzMykadOmdTZMX1+fsrLat1uqK9bW1iqj9GVlZdy6dUv528fHh9LSUuULKVT0qMLDw5X2Wltbk5SUpNIh0LQww8/PjyVLlnDu3DmaNWvGjh07/rX9lWjyR+vWrUlKSkJXVxcPDw+V42H7y9b1Oi8vL1577TX+/vtvRowYoYyB/zf3ptK3b7/9Nr169cLHx0ftZb1yjUB1Hba2tjg4OBATE6Nmc+WCY034+fkREhKiklYZEjZ79mz8/Pzw8PCo08xHbfcgJCREzSYPDw9lOeqKpvzrauvUqVNp3rw527Zt480331Sb1SosLCQ6Oho/Pz+NumUyGXK5XOWoHiLk0seNu6cTuHfuDrmJOdzefoOy4jIadXIC4MZ31wnfXaXTuZcrabdTiP07mtzEHCL/CCcrLhOnni4AlBaVErE7lMzoDAoe5JMVn8nNrUEUZRRi518V1uX2nAcJp+K5czaBnPs53PwxmLKiMhz/0Xv926uE7qq6v6693Um9lUL0oShyE3MI/z2MzLhMXHpW1ZHi3GKyErLIuV8RK5qXlEtWQpZa3KaxgREt3ZvS0r2iHXC1c6Sle1McrSvs+2DqYra9sV4pv2nfD7jZOfHR9KV4O7oza/BERncbxKe7Nytl1u36hpcGjGNin5E0cfLgq3mrMTYwJPDQz2r3RCKR4N7Hg4h94SReTyT7bhbXvr2KgZkB9q3tlXJn15wh5mhVnfDo60H8yTgSzsaTcz+b4B+CKCsqw6mzM1CxaM25iwu3fr5JamgqmXEZXN9yDXN3Cyz++QfzrHUX6JdRKCvXqs+1WddAe8+YtnW79XUn4WSV32/8EPxPnfnH75uvEvrb7Sq/93Ej5VYK0QcjyUnMIXxvKJlxGbj0dAMq6q5bH3ci90WQ9E/dvf5P3bWrVne1We6GWte0WW5t+/xZt6l+fn716gzUKyB448aNdOrUibZt2/Luu+/SokULSktLOXz4MF999RWhoaH07t2b5s2bM2HCBNavX09paSmzZ8+mW7du9QqVcHFx4eLFi8TFxWFiYqJcDFtfevbsyYIFC9i/fz/u7u6sW7dO2XGBihmPoUOH8tJLL/H1119jamrK4sWLadSoEUOHDgUqdiRKTU3l448/ZuTIkRw8eJADBw4gl1esko+NjeWbb75hyJAhODg4EB4eTmRkJBMnTnwsmzXh4uJCbGwsQUFBNG7cGFNTU3r37k2HDh0YNmwYH3/8MV5eXty/f5/9+/czfPjwWv39qOt8fX1ZtGgRI0eOxNXVlbt373L58mVlrL+Liwu5ubkcPXqUli1bYmRkhJFR3WJAzc3NsbS05JtvvsHe3p6EhAQWL16sImNjY4OhoSEHDx6kcePGGBgYoFAoWLlyJfPmzUOhUNCvXz+Kioq4cuUKGRkZLFiwQKO+vn37smTJEjIyMjA3rxgB8PT05Pvvv+fQoUO4urryww8/cPny5Yd2KirLferUKcaOHYtMJsPKyoo333yT9u3bM3fuXKZPn46xsTEhISEcPnyYL774ok4+qZ5/zTpfF1s3btzI+fPnuXHjBo6Ojuzfv58JEyZw4cIFZYfkwoULyGQyOnToUC+bKrFv04jinGIifw+nKLvigy0Br7ZTTpkWpBdAtfWf5h4WtJzemoi9YUTsCcPYxpjWc9pg2qjimZHoSMhLyuX6+SsU5xajb6yHwsWMdm90wrRRVfigQ9tGFOUUEbE3TKm37WvtlVO7BekFKgv1LTws8HvJn/A9oYTvDsXYxpiAue2QV9vBJDkoieDA68rf176+AoDnEG+8h1atiQrwasmJT6o+XvXprBUAbP37F6asWYC9pQ1ONo2U5+OS7jDw7Ul8Oms5rw6fyt20RKavW8TfV04qZX45+SfWZpa8O2khdubWBEWH0O+tF0nJVB11q8SjvyelRaUEb7te8ZEaT0s6LOiIVE+qlMlLyaM4p2qmqFHbxhTlFBG2N1T5Eaf2r3VUmYpuNq45SODylxcpLynHppkNLV5spTXd9wuLtO5zbdY10N4zpm3djdo2pjinmPBqdabdax2q+T1fZdjSwsOS1i8HELY7lLDdoRjbGtPmFVW/u/f3pLSojBvbgpR1t90/dbe82oBLQ2zXGmq5te1zeLZt6ucbPlfT/zAkQl0XA/xDYmIiq1atYt++fSQmJmJtbY2/vz+vvfaacgvIhIQEXnnlFY4ePYqOjg79+vXj888/x9a24sttK1asYO/evSqj6+vXr2f9+vXKHYMiIiKYNGkSwcHBFBQUEBsbS1xcnMoXiLdu3cr8+fNVXu737t3L8OHDlaP4JSUlvPrqq/z888/o6ury2muvceHCBeX1ULG16Kuvvsoff/xBcXExXbt25fPPP1dZNLtp0yY++OAD0tPTef755/H29uabb74hLi6O5ORkZs6cycWLF3nw4AH29vZMmjSJ5cuXa/zia80vEGv6snJQUBB+fn7Exsbi4uJCUVEREyZM4OjRo2RmZhIYGMjkyZPJyclh6dKl7Nq1i9TUVOzs7OjatSurV6/G0dFRo6+Bh15na2vLpEmTOHv2LMnJyVhZWTFixAjWrFmjjL+fNWsWv/76Kw8ePGD58uUatxetTfeRI0eYN28eMTExeHt7s2HDBrp3767yld9vv/2Wd999l3v37tGlSxflTlQ7duxgzZo1hISEYGxsTPPmzZk/fz7Dhw/XUFsraNeuHVOnTmXGjBlAxWLZmTNnsmfPHiQSCePGjUOhUHDgwAGlrTXrEVS8UM+YMYPw8HCKioqU5y5fvszSpUs5f/48giDg7u7OmDFjeOutt4CKl/z58+c/8oNimuq8vb39Q20NCwujdevWfPfdd4wbNw6omKVr0aIF48aN46OPPgJgxowZSCQSNm3a9FAbqvPqqYV1ln3S6P6LLyX/W9atfHIzevVl0YoXtKZbm6xZ8aPWdC9YPl5ruksfIzT2fwE9qfTRQk+JkicQcfC4aLNd02Zd02a5tYlUor1yf9zpw3rJ17szICLy/439+/ezaNEibt26pbFz9r9OWloa3t7eXLly5ZGzH9UROwPPHrEz8OwROwPPHrEz8OwROwPPnv9PnYFn/wlcEZFnzMCBA4mMjOTevXsqu1w1FOLi4vjyyy/r1REQERERERERaRiInQGRBsGjQnT+lwkICPhXW5uKiIiIiIiI/O/SMOduRERERERERERERETEzoCIiIiIiIiIiIhIQ0XsDIiIiIiIiIiIiIg0UMQ1AyIiIhqxMTbTmu6ELM377j8LtLmjjzZ31dEm2vS5wsBEa7qLSkseLfSUkOnqPVroKbE/5NajhZ4SA5s205pubaLNupacl6U13U6K2j/A+rTxNnfTmu76Is4MiIiIiIiIiIiIiDRQxM6AiIiIiIiIiIiISANF7AyIiIiIiIiIiIiINFDEzoCIiIiIiIiIiIhIA0XsDIjUm61bt2JmZlava1xcXFi/fv1DZSQSCXv37gUqvporkUgICgoC4MSJE0gkEjIzM+tt7/8aK1asoFWrVto2Q0REREREROR/AHE3occkKSmJVatWsX//fu7du4eNjQ2tWrVi/vz59OrVS9vm1YpEImHPnj0MGzbsseXGjBnDgAEDnrhtiYmJmJubazzXsWNHEhMTUSgUQEWHZP78+f+6c3DixAl69OhBRkZGvTs4NenevTsnT55US58xYwabNm36V3lXZ+HChbzyyivK35MnTyYzM1PZkXpaCIJA8G/BRB6PojivGGsva9pPbYfcXv7Q68L+Duf2vtsUZBVg4WRO20ltsfKo2uEhJzmHK9uvkhKeQnlpOQ4tHGg0wh19uUwp071RZ/o49UShb8rd3Pv8FLGLuJyEWnW2tm7JULcBWBpYkFKQyu7oP7n1IFR5/uue6zVetyvqdy4mn1crd9jeUOJPxVGSX4KFhyUtJ7bCxPbhu9DEHI0h6mAkRVmFyB0VtJjQAnM3C+X5spIybv10k3uX7lJeWo5NM1ukZVAmhS7N27Fo1Ez8vZrjYGnHsOXT+P3coYfq69aiA+tmLsPX2Ys7qYm8v+Mztv39q4rM7CGTWDRqJnYW1gRHh/LKxne4HB6kIqNN3ZU8S593nt4RQ4Whiu5nVc9bveCHgcJARfet3beIORFNSX4JVp5W+E8OwNTO9KG6I49EEvZXKIVZhZg5mtH6RX8s3S2V5499cJTUsFSVa7x6edJ+WnutlLu8gyk6JlW7GY3weo4JvoOxMFQQlZHAukuBhD6I1qivm2MbJjYfRmNTO3R1pNzJTuKnkP0cjD0NgFQiZUarMXRo1AoHUxtyi/O5kniLr67vJK0gQy2/Z1nutpPbNMi6Zt/FEe/xVbs4Pcv2PCzrpkraM/0/9qoNJuZVbZYgCBz94QSXD16jMK8Q56aODJk7EKtGlho0VnBx32Uu7r9CZnImADbONvQY3xXvNp4A5OcUcPSH40RdiyEzNQtjhRFNOzSh77LBmJo+/F5WR5wZeAzi4uLw9/fn2LFjrFmzhps3b3Lw4EF69OjBnDlzHjtfQRAoLS1VSy8uLv435j5xDA0NsbGxeeL52tnZIZPJNJ7T19fHzs4OiUTyxPU+SV566SUSExNVjo8//viJ6jAxMcHSsvbG42lx+8/bhB4Ko93Udgx4rz+6Broc+fAoZcVltV4Tez6OKz9eoeWIFgxaNRBzJ3OOfHiUgqwCAEoKSzi8+ggSCTy3tA/9lvelvLSMm19eRSgXAAiw8WOk5zD2xx1k1eW13M29x7xWMzHV0/xi6CZ3YbrvRM4mXuD9y2sJSr3JrObTcDC2U8osOvOOyrEtdAflQjnXUm6o5Rd1IJKYIzG0nNiKrm93R1cm5fwnZykrqb3c9y7d5fbPN/Ee0oRuy3ugcFRwft05irKLlDK3dt4kOTiJNrPb0fnNLhRmFuCQWvHP2tjAiOCYEOZ8/vZD7kgVLnaO7H9/G8eDz9FqVl/W7/mWbxes4bmAbkqZ0d0Gs27GMlb++CmtZ/UnOCaEQ6t/xNpMtS5pU3clz9LnJz5V7cA/y3p++tNTynoOELY/jMjDEQRMDqD38j5IZbqcXHPioboTLiQQtOM6vsOa8dy7fTFzMuPkmhMUZheqyLl1d2PIhqHKo/W41lord/YvMQhCRbl7OXdgXsCLbLnxG1P2LyEqI55Pey3B3EDzy1l2cR7bbu7l5QPvMPHPN/kr+iRvdZxJO/sWABjo6uNl6ULgzd1M2b+Et06uw0nhwEc9FmrM71mW+9ia4yr3u6HUNffh3spz2m7Pn6XPv1+xk/JqPj/961nO/3GRoa8MZNb66egZ6LP17R8pKVZ/76tEbiWn75TezP78ZWZveBm3li5sf/cnkuNTAMh5kENOei79pvdh3lezeH7BMCKuRrF06dJa89SE2Bl4DGbPno1EIuHSpUs8//zzeHl54evry4IFC7hw4QKgHuYCkJmZiUQi4cSJE0BV6MuBAwfw9/dHJpNx5swZunfvzty5c5k/fz5WVlb07dsXgFu3btG/f39MTEywtbXlxRdfJC2taj/27t27M2/ePN544w0sLCyws7NjxYoVyvMuLi4ADB8+HIlEovxdX2qGCUVHRzN06FBsbW0xMTGhTZs2HDlyRO26nJwcxo0bh7GxMY0aNWLjxo0q56uHCdWkepjQiRMnmDJlCllZWUgkEiQSCStWrODdd9+lWTP1PaRbtWrFO++8o5YeFxdHjx49ADA3N0cikTB58mQAioqKmDdvHjY2NhgYGNC5c2cuX778SN8YGRlhZ2encsjlVf/ULl26hJ+fHwYGBgQEBLBnzx6VeqIpBGvv3r0qnaDqYUIrVqxg27Zt/P7770pfnDhxgp49ezJ37lyVfFJTU9HX1+fo0aOPLEdNBEEg9GAYLYY1xynAEXMnczrP6kR+Zj4JV2of0Qn9KwTPHp54dPfArLEZ7ae1RyqTEnWyYtQvNSKVvNQ8Os7oiLmTOeZO5nSa1YmchCwywh8A0NuxO2fun+dc4iUS85PZHv4rxeXFdHRop1FnL8du3E4P4++E4yTlJ/NH7AEScu7SvXEXpUx2cY7K0dKqOREZUaQVPlArd/ThKLwHe2Pv54DCUUHr6QEUZhaSeC2x1nJHHYrCuasLzl2ckTeS03JiK6T6UuJPxwFQkl9C/Ok4mo1tjrWPNWYu5vhN9cewWIpBkQ4HLx/nna1r2Hv2YJ3uz8xBLxKblMDCr98jLCGKjb9v5bdT+3ltxEtKmQXPv8zmAzvZeugXQhMimfnZYvKLCpnad6xKXtrUDc/e56kRqaRGpip1P8t6nh6bTnJIslJ3xKFwmg7xpZF/Y8yczGg3ox0FmQXcu3a3Vt3hB8Nw6+6OW1c3FI0UBExug65Ml9iTMSpyUn1dDM0MlYe+kb6Kz59lucvu51MSmwPA2KYD+SPyGPujTxKXdY+PL3xLUVkxg9y7a9R5PTmEU3cuE599n3u5yfwSdoDojARa2DQBIK+kgPlHPuBY/AUSshO5nRbFuktb8LF0x9ZItfP5rMv9IPYBibeTtKJbm3VN17BqFkjb7fmz9Pn9yPvEBMcqdZ/de5HuY7vStEMT7FxtGbVwGDkPcgg9F1arbp/23ni39cSqkSVWjS15bnIv9A30uRNWcZ9sXWwY//ZofNp7Y+lggXsrV/pM6smxY8c0Di7XhtgZqCfp6ekcPHiQOXPmYGxsrHb+cUJNFi9ezIcffkhoaCgtWlSMbmzbtg19fX3Onj3Lpk2byMzMpGfPnvj5+XHlyhUOHjxIcnIyo0ePVslr27ZtGBsbc/HiRT7++GPeffddDh8+DKB8mQ0MDCQxMbFOL7d1ITc3lwEDBnD06FGuX79Ov379GDx4MAkJqg/XmjVraNmyJdevX2fx4sW8+uqrStvqQ8eOHVm/fj1yuVw5+r5w4UKmTp1KaGioSrmuX7/OjRs3mDJlilo+jo6O7Nq1C4Dw8HASExP57LPPAHjjjTfYtWsX27Zt49q1a3h4eNC3b1/S09PrbW8lubm5DBo0iKZNm3L16lVWrFjBwoWaR6vqysKFCxk9ejT9+vVT+qJjx45Mnz6dHTt2UFRUNSr6448/0qhRI3r27Fl/21NyKcgswL6ZvTJN30gfa3crUiM1fyCsrLSMB7Hp2DerGsGR6Eiwb2avfPkqKykDCUj1pEoZqZ4UJBKyojOQSqQ4mTYmND1CeV5AICw9Aje5i0a9bgoXwqrJA4Skh9Uqb6pnQnPLppxJvKB2Lj81n6KsIqybWivT9Iz0MHczJyNac10oLy0nKz5T5RqJjgTrptbKazLjMxHKBBUZU3tTSqTlGBTVv1nu4NOaI9fPqKQdunqSDk0rRn/1dPXw92rOkWunlecFQeDItdNKmcflSet+1j43tjJW1sdnXc8lEglpERUyeal5FGYVYutrq6Lb0s2StCjVl5rqujPiMlSukehIsG1qq3ZNwvl49szezYElB7jxSzClRVUvCs/++YbSO3no6kjxtnDlSlJVKIeAwOXEmzSz9tKotyb+ds1wUtgTlBJaq4yxnhHlQjk5Jfkq6dq43ynhKVrTra26Vjnqru32XBs+j79d8R6UkZRJbkYu7n5VHyIzMDagsXdjEsLuaNRdk/Kycm6cuEVxYQlOTRxrlSvMK8LExARd3bqvBBDXDNSTqKgoBEGgSZMmTyzPd999lz59+qikeXp6qoSXvP/++/j5+fHBBx8o07Zs2YKjoyMRERF4eVU0nC1atGD58uXKPL744guOHj1Knz59sLau+CdoZmaGnZ0dT4qWLVvSsmVL5e/33nuPPXv28Mcff6iMTnfq1InFixcD4OXlxdmzZ/n000/Vyv4o9PX1USgUSCQSlXKYmJjQt29fAgMDadOmDVDR8enWrRtubupfApRKpVhYVMQT29jYKDtyeXl5fPXVV2zdupX+/fsDsHnzZg4fPsx3333HokWLarXtyy+/5Ntvv1VJ+/rrr5kwYQI7duygvLyc7777DgMDA3x9fbl79y6zZs2qV/mrY2JigqGhIUVFRSq+GDFiBHPnzuX3339Xdhi3bt3K5MmTHyvUqnI6tHrMacVvQ+W5mhTlFCGUCyoxsgCGCgOy71d8kdLa0xpdmS7Xdl7Db4wfgiBw7afrUC5QnFWEiZ4xUh0pOcU5KnlkF+dgZ2SLJuT6pmSXqMsrZJrDDjrYt6WwrJDrqepTykX/TH/L5KrllskNKMwqVJOvXm6ZXKZ2TU5iboVMViE6ujroVRudBSiTCuiW1f/+2FnYkJyhGqebnJGGwliOgb4B5qYKdKW6GmWaOHrUW9/T1P2sfW4gN6Dgn3yfdT0XygWl7sqyqes2oDBTs+7inGKEcgEDufo12YnZyt/OHZwxsjTG0NyQzDuZ3Pg5mLzkXLq/1l0r5UaA8twSzGRydHWkpBeofqE2vTALZ0UjjXoBjPUM+f35r9CX6lImlLP24hYuJ97UKKuvo8fs1uM5HHeO/BLVsmjlfv9zLxtSXUu9m06zGa213p4/a5+XlwvkpFfYnpNR0Q6ZmKsOIpuYG5ObkadRdyVJscl8veA7SotL0TfUZ8I7Y7BxttYom5eVz4mdpxg7ZtxD86yJ2BmoJ5Vxjk+SgIAAtTR/f3+V38HBwRw/fhwTE/W4uujoaJXOQHXs7e1JSUl5gtaqk5uby4oVK9i/fz+JiYmUlpZSUFCgNjPQoUMHtd+P2mGovrz00ktMnTqVdevWoaOjw44dO/j000/rlUd0dDQlJSV06tRJmaanp0fbtm0JDa199AlgwoQJarF6trYVjVzlzI+BQVVDVNMnTwoDAwNefPFFtmzZwujRo7l27Rq3bt3ijz/+0ChfVFSkMotw4MABdqzaqfzd8436zybUyU65Ad1e7cqFLRcJPRSGRCLBtaMLJo5yntXykE727biUdJXS8lKSL93j9I7bynPt53d8NkY0YEzzpOybVVUvn6XP75y/w4PYB2TEZxD+d/gzredWHlYggdhTMSSci6fL612fim4A9x5VnS4zRzOy72UR+mco2yfvQCKRPPPnW2pnyL95wPNLCpm0/02MdA0IsGvGvIAXuZ+bwvXkEBU5qUTKe11fRYKENRe/o+hmOjvWaKddq7zfUSejiD0b22DqmqGZISc+PE5Bah6KRg9fpPskqNmen9lRFX3wrH0ukUi4+ncQwcdvMnHl+MfO36qxFXM3zqQwr5BbZ0L47ZO9vPTxZLUOQWFeEd8v34G1k7VamPCjEDsD9cTT0xOJREJYWO0xXgA6OhVT/dU7DyUlJRplNYUb1UzLzc1l8ODBfPTRR2qy9vZVU156enoq5yQSCeXl5Q+19d+ycOFCDh8+zNq1a/Hw8MDQ0JCRI0dqZeHz4MGDkclk7NmzB319fUpKShg5cuQz069QKPDwePyRVh0dHbUOZ2315lFMnz6dVq1acffuXQIDA+nZsyfOzs4aZVevXs3KlSuVvyUSCZ0ndKbD2IrdRspLK+pQYVYhRuZGSrnCrALMnS3QhMxUhkRHojbiUpBViIFZ1SiLQwsHRqwfTmF2ITpSHfSN9dk582cMrOzJLcmjrLwMU33VXRHk+qZkFWejieziHOR6GuSL1OU9FG7YGduy+fY2ACxb2NLdq2qEqrLcRdmFGJhVdeKKsgtROJk9tNzVF64q81BUjFzLFAaUl5ZTkl+sMlItLZNQKq3/gENSegq25qr/GGzNrcjKy6awuJC0rDJKy0o1yiRl/LvBgn+rO9ewjO4Lq/5JP0uf27Wyw9DMEPeubnh083im9VyiI2HXq7tx6+qGWw93ykuqdBtWu64wqxAzZ827rOmb6iPRkagt4CzMKsSgxkhmdTyf8yL0z1DaTm6LbRObZ/58x760E6m5PplF2ZSWl2FhqFDJw8JAQXpBZq32Cwjcy6mIf4/MiMdZ0YiJzYaqdAakEinvd30VO2NrXjn8HvklBeh7KejdrZVSRhv326O7B149PRtMXavcaaggNZ9cm2ffnns3d1Wef9Y+//213/Hv60ebfv6UllSE5eVm5CG3qCpPbkYe9u6aZ0Uq0dWTYulQYV8jTwfuRdzn3O8XGDZvsFKmKL+Ibe/8iOyfmYOa74KPQlwzUE8sLCzo27cvGzduJC9PfWqncqvLypCcxMSqBW/VFxPXl9atW3P79m1cXFzw8PBQOTR1JmpDT0+PsrLaV80/DmfPnmXy5MkMHz6c5s2bY2dnR1xcnJpc5eLq6r99fHweS6e+vr7Gcujq6jJp0iQCAwMJDAxk7NixGBrW3lDp61e8FFTPy93dXbleo5KSkhIuX75M06ZNH8teAB8fH27cuEFhYVVjWtMn1tbW5OTkqNStR9Wb2nzRvHlzAgIC2Lx5Mzt27GDq1Km15rFkyRKysrKUR2ZmJr1m90RuJ0duJ0fRSIGhmaFy8RtAcX4xqdFpWHtaacxTqivF0tVC5RqhXCDpdhLWnupTnAZyA/SN9Um8nUhJTjFWLWwoE8pIyLmLj7mnUk6ChCbmXsRkx2nUG5MVRxMLT5U0HwtvjfKdHNoTn53A3dz7AOga6GJia6I8TB1MkSlkpIZUhbiUFJSQEZOBubvmfx46ujoonM1IDa26RigXSA1NVV5j5myGRCpRyTcnMQe9Mh0KZfXvvJ8PvUYvv84qaX1ad+V8yLUKm0tLuBpxU0VGIpHQy6+zUuZx+be6BR205vPCzEIKMgpwbO34zOt5WkwaxXnFuHZzw9TWFHkjOQYKA+Uiz8pyP4h5gJWH5l2XpLpSzF3MSb5ddY1QLpAcklzrNQC5yRUhC1Zullp5voW8UvS9FJSWlxGeHou/XdXGDxIkBNg141ZqhFoetaEjkaCnU/XyU9kRcJTb8+qR98kuriivRCZVtmnaut+e3T0aVF3LiK/YzlVfLtNKe67N+12QU4D/c35YOlhg42SNibkJMUFVi60L84q4G373ofH/mhAEgdJqO6sV5hURuPRHpLpSXlg+Dj39+o/zi52Bx2Djxo2UlZXRtm1bdu3aRWRkJKGhoWzYsEEZ9mFoaEj79u2VC4NPnjzJ22/Xbas+TcyZM4f09HTGjRvH5cuXiY6O5tChQ0yZMqVeL/cuLi4cPXqUpKQkMjLU91yuTmxsLEFBQSqHpg6Qp6cnu3fvJigoiODgYMaPH/9/7J13eFTF14DfzSa7qbvplfRG6CX03iQ0AREQkSoqRQUpio0iUgQBxS5IsWEFVJAaCCW0hBKB9B4glfSym7bfH2s2WbIBQsn+Prnv8+zz5N57Zs7MuTOTKWfm6lyNCA0NZe3atcTGxvLZZ5/x66+/Mnfu3HtO++35KC4uJjg4mJycHEpLazeGzZgxg6NHj3LgwIE7doAB3N3dEYlE7N27l+zsbIqLizEzM2PWrFksWrSIAwcOEBkZyQsvvEBpaSnPP//8HeMrLS0lIyND61dj52effRaRSMQLL7xAZGQkf//9Nx9++KFW+C5dumBqaspbb71FQkICP/74I9u3b7+rLf755x9iYmLIycnRWkmYMWMGa9asQaVSMXr06AbjkEqlyGQyrZ9hnQZFJBIRENScK7uvkHYhjbzUPEK/CMXU0hS3QDeN3KGVh4k+WLtqFjC0BXHH4kg4kUD+jQLObj1HpaISnz7eGpn4kHiy47Ipyiwi8VQixz8+QbP+Hpg6ql3ijqSF0NO5G10dO+Fo6sCz/mORiCWcvnkOgKkBExnlNVwTX3DacVpaBzDQtS8OpvYM9wzC3cKVkOu1G1gBjMVSOtq35dTN+hvN6ubbe5APsXtjSL+UTuH1Ai5uuYCxpTFOHWpX5ELXnSIxuPZcdJ/BPqQcTyY1NIWim4VEfHeZKmUVbj3VKzNGpka49/Lg6s9XyI7KJj85j0tbL1ImqUIhrcbM2JS23i1o660efHo6utLWuwWuds4ArJq+mB2vf6TR9+Xe7/BydOODGW/j7+rNrBGTGddnOBt3bdbIbPj9a14YOoHJg56muZsPX7y6GjNjE7Yd/Fkrz/rUrQ+b2/naaf6pN3U59xvsrznfXCQS4TfYn8g/rnHj4g3y0/I599VZTCxNcOnQTBPPsTVHiTtc21H2D2pO4vEEkk4mUXijgPAd4VQqK/Hsrd4nVZxZxLU9V8lNyqUku5gbF29w7uuzODS3x8rNSi/5Nu5ih9hGverzU+Q+nvTtzxCv3rjLnFnU5XmMDaXsTVAf+fpu99nMbF976tSkViPp5NQaZ3N73GXOTAgYRpBXLw7W+c7Aqj6v0dzGm2WnPsFAZIC1sRxrYzmGBrUbPPWR7xZDApA7yx+7sib3tcK8mVq3vtvzprR599FdsWtmq9HdY1QXjv10kqizMWQkZfLb+t1Y2FgQ0L12D+o3i7/lzJ/nNdcHtx0h6UoKeZn5ZCRlqq//SaZdv9aAeiCw/e3vKFeUM3rekyhLlRTlFpOdnd2ovqHgJnQfeHl5cfHiRVauXMmCBQtIT0/Hzs6Ojh078sUXX2jktm7dyvPPP0/Hjh3x9/dn7dq1PPHEE/el09nZmdDQUN544w2eeOIJlEol7u7uBAUFaVyS7oX169czf/58Nm/ejIuLi84Z/Brmz59f797Jkyfr3duwYQPTp0+ne/fu2Nra8sYbb1BYWH8Jb8GCBYSHh7N8+XJkMhkbNmzQHJvaWLp3787MmTMZP348t27dYunSpZpjVH19fenevTu5ubl06aL7uLIaXFxcWL58OYsXL2batGlMnjyZ7du3s2bNGqqrq5k0aRJFRUUEBgZy8ODBBj+KVsPmzZvZvHmz1r3Bgwdz4MABzM3N+euvv5g5cybt27enRYsWfPDBB4wZM0Yja21tzffff8+iRYvYvHkzAwYMYNmyZbz44osN6nzhhRcICQkhMDCQ4uJijh07Rt++fQGYMGEC8+bNY8KECVp7Fe6HliNaUqms5MyWs5SXlmPvZ8/AxQMQS2r/wRZlFqEoqnXV8OzmgbJQweXfIijLL8Pa3YoBi/trbcYqSC/k4s+XKC8ux8zOjDYjW2PWo3bGJTzrEuZGZjzpNQSZRMb1ohtsiviKogr1bJ+1sRUqal1rEguT2XLtW0Z6DWOU93CySrP54so33CypndkB6OTQAREizmfeeWbcZ4gvlcpKInZcUn8Ay9eGbvO7a50cUZJVQnlRrVucS+dmKIuURO+JQlmgROYqp+tr3bU2rrWa0BpEEPb5OaorqrFvZc9Nhdp2gX5tCVlf+9GujbOWAbD90C9MWzcfJxt73OxrN1gmZ6Qx7J0pbJy1lLmjp3M9J50ZGxZxKLz2DP1fjv+FnaUN701ZiKOVHZcTIgl6axJZ+dqnaOhTtz5s3nNGDy3dTVnOvZ7QdilsPqw5lcpKwreFUV5ajp2vHX0W9tHSXZxVjLKObreubiiLFFzddUXt5uFmSZ9FfTX5NjA0IPNaJrEHY6ksr8TU2hTXQFfaPdVWS3dT5jvRo7aTEpxyBktjGS+0HYu1iSVxeSnMP7qGPIV6c6aDmS3Vdeq3iaGUhZ2nY29qg7KqnJSCmyw/9RnBKeqPBdqZWtPLVb0P79vh2t94mXPoPW6nKfMdMDRAb7r1WdZsB9YOMPTdnjelzYdM1O7v9Rrbg3JFBXs2/YWiWIF7SzemrnhOayY/Nz2X0sLayc2S/BJ++3A3RbnFGJtJcfR0YOr7z+HTQT0QuZmQTlrMDQA2PP+JJtwa1hMcHEyzZrW2vxMi1aPYESsgoEdUKhW+vr7Mnj1b54Dmf4nk5GQ8PT25dOmS5tsBDzt+b29vwsLC6NChcUdIrrzw/kNPz72SWqC7k9gUyKUPNmh6ENYt+15vuvXJomXP6U233PjOXzV+lCgr728/0MNAatg4n+KHyb7Iq3rTPaxF/W/RPA7os6xllhTcXegR4SbX7f7TFPhb1T/FsKl42qtxG5aFlQGB/xTZ2dn89NNPZGRk6Py2wONCRUUFt27d4p133qFr166NHggICAgICAgIPB4IgwGB/xT29vbY2try9ddf39Wl579MaGgo/fr1w8/Pj99++03fyREQEBAQEBD4H0UYDAj8p/j/5vXm4eHxSNLct2/f/3e2EBAQEBAQEGh6hNOEBAQEBAQEBAQEBB5ThMGAgICAgICAgICAwGOKMBgQEBAQEBAQEBAQeEwRBgMCAgICAgICAgICjynCYEBAQEBAQEBAQEDgMUUYDAgICAgICAgICAg8pgiDAQEBAQEBAQEBAYHHFGEwICAgICAgICAgIPCYIgwGBB4q27dvx9LSslFhPDw8+Oijj+4oIxKJ2LNnDwDJycmIRCIuX74MQEhICCKRiPz8/AfW8/+B+7GxgICAgICAgIAuhC8QPwIyMjJYuXIl+/bt48aNG9jb29OuXTvmzZvHgAED9J28BhGJROzevZtRo0bdt9z48eMZOnToQ09beno6VlZWOp91796d9PR05HI5oO4sz5s3r97gICwsDDMzs4earuPHj/Pcc8+RlpbG1KlT2bFjRz2ZwYMHc+DAgYem83YbL1u2jD179mgGR48KlUpFxG8RxB2Lp7ykHDs/O7pO74LMSXbHcNGHYri29xplBWVYu1nReUpnbH1sNc+LMosI/+ECWTFZVFdW49zGGZenvJHIpBqZvi49GeTWH7nEguvFN/kp9neSi1Ib1NnBri0jvYZiY2xNVlk2uxL+4uqtKM3zr/p/pDPc7/F/cC7zTL18R++JIuVEMhWlFVj72NB2cjvMHczvmO/E4ETiD8ShLFAgc5XTZmIbrLysNc+rKqq4+tMVbpy/TnVlNfatHBBXQZUYerXuwqKxM+no1xpnG0dGLX2eP04fvKO+Pm26sWHmElq6+5GWnc77P37MjkO/asnMfnIKi8bOxNHajoiEKF757F3CYi5ryehTdw1NafOeM7pjIjfR0t1U5bzdc+0xlhtr6b666yqJIQlUlFZg62tLx6mBWDha3FF33JE4ov+OQlGgwNLVkg6TOmLjbaN5fnRVMNnR2Vph/Ab40vX5rnrJd3U3CwzMjTQyT/k9wcSWI7A2kROfl8qG89uIupWgU18f105Mbj2KZhaOGBqISSvM4KfIfRxIOgmAWCTmpXbj6ebSDmcLe4rLSwlPv8oXl3aSU5ZXL76mzHfnqZ0ey7Lm1MsV/2dbaa6bsj2PLriida9J/4/NtcfcqrbNUqlUBH8XQtiBiyhKFLi3cOXJl4dh62KjQ6Oac3vDOLcvnPzMfADs3e3p92xv/Dv5AlBaVEbwd8eIv5hIfnYBZnJTWnRrzuAlI7CwuPO7rIuwMvCQSU5OpmPHjhw9epR169Zx5coVDhw4QL9+/ZgzZ859x6tSqaisrKx3v7y8/EGS+9AxMTHB3t7+ocfr6OiIVCrV+UwikeDo6IhIJLpjHHZ2dpiamj7UdP3xxx+MGDFCcx0UFER6errWb+fOnQ9V56Oy8d249tc1og5G02V6F4auGIKhsSFH1gRTVV7VYJikM8mEfx9O26faMHzlMKzcrDiyJpiygjIAKhQVHF59BJEInnh7EEFLB1NdWcWVzy+gqlYBEGjfnqd9R7Ev+QArwz7kevENXm03Ewsj3R1DL5kHM1pOJjT9LO+Hfcjl7CvMav08zmaOGplFp97V+u2I+pFqVTUXs/6pF1/8/jgSjyTSdnI7er/TF0OpmDPrQ6mqaDjfN85f59rPV/B/sjl9lvZD7irnzIbTKAuVGpmrO6+QGZFBp9ld6PlGLxT5ZThnq/9ZmxmbEpEYyZxP3rnDG6nFw9GVfe/v4FjEadrNGsxHu7ewZf46ngjso5EZ12cEG15awvLvN9Jh1hAiEiM5uPp77Cy1/xHpU3cNTWnzkI3HteJpynJ+cuMJTTkHiN4XTdzhWAKnBjJw6SDEUkOOrwu5o+7Us6lc/vESLUe14on3BmPpZsnxdSEoChVacl59vXhy00jNr8OEDnrLd+EviahU6nwPcO/Gq4GT2PrPb0zb9ybxeSlsHPAmVsa6O2eF5SXsuLKHF/e/y+S/3uDvhOO81X0mXZzaAGBsKMHPxoNtV3Yxbd+bvHV8A25yZz7ot1BnfE2Z76Prjmm978elrHmP9tc803d73pQ2/3bZTqrr2Pzkr6Gc+fMcI18ZxqyPZmBkLGH7O99TUV6/b1eDzFbG4GkDmf3Ji8ze9CJebT344b2fyEzJAqDoVhFFucUEzRjEq1/MYsz8UcReiOftt99uME5dCIOBh8zs2bMRiUScP3+eMWPG4OfnR8uWLZk/fz5nz54F6ru5AOTn5yMSiQgJCQFqXV/2799Px44dkUqlnDp1ir59+/Lyyy8zb948bG1tGTx4MABXr15lyJAhmJub4+DgwKRJk8jJydHE37dvX1599VVef/11rK2tcXR0ZNmyZZrnHh4eAIwePRqRSKS5biy3u7AkJCQwcuRIHBwcMDc3p1OnThw5cqReuKKiIiZMmICZmRkuLi589tlnWs/rugndTl03oZCQEKZNm0ZBQQEikQiRSKTJ5+1uQvn5+cyYMQM7OztkMhn9+/cnIiJC8zwiIoJ+/fphYWGBTCajY8eOhIeHa+n+888/efLJJzXXUqkUR0dHrV/dFY24uDh69+6NsbExLVq04PDhw1p50+XydPnyZUQiEcnJyfVsvH37dpYvX05ERIQmv9u3b2f69OkMHz5cK60VFRXY29vzzTff6LTjnVCpVEQdiKbNqNa4Bbpi5WZFz1k9KM0vJTW84RmdqL8j8e3ni09fHyybWdL1+a6IpWLij6tn/bJjsynJLqH7S92xcrPCys2KHrN6UJRaQF7MLQAGuvbl1M0znE4/T3ppJj/E/Ep5dTndnbvo1DnAtQ/XcqM5lHqMjNJM/kzaT2rRdfo266WRKSwv0vq1tW1NbF48OYpb9fKdcDge/xH+OLV3Ru4qp8OMQBT5CtIvpjeY7/iD8bj39sC9lzsyFxltJ7dDLBGTcjIZgIrSClJOJtPqmdbYBdhh6WFF++kdMSkXY6w04EDYMd7dvo49ofe2ojRz+CSSMlJZ+NUKolPj+eyP7fx2Yh+vPfWCRmb+mBfZvH8n2w/+QlRqHDM/XkypUsH0wc9oxaVP3dD0Ns+OzSY7LlujuynLeW5SLpmRmRrdsQdjaPFkS1w6NsPSzZIuL3WhLL+MGxevN6g75kA0Xn298erthdxFTuDUThhKDUk6nqglJ5YYYmJpovlJTCVaNm/KfFfdLKUiqQiAZ1oM48+4o+xLOE5ywQ3Wnt2Csqqc4d59deq8lBnJibQwUgpvcqM4k1+i95OQl0ob++YAlFSUMe/IKo6mnCW1MJ1rOfFsOL+VABtvHEy1B59Nne9bSbdIv5ahF936LGuGJrWrQPpuz5vS5jfjbpIYkaTRHbrnHH2f6U2Lbs1x9HRg7MJRFN0qIup0dIO6A7r649/ZF1sXG2yb2fDE1AFIjCWkRavfk4OHPc++M46Arv7YOFvj3c6TQVP6c/ToUZ0TyA0hDAYeIrm5uRw4cIA5c+bodEe5Hz/vxYsXs2bNGqKiomjTRj3zsWPHDiQSCaGhoXz55Zfk5+fTv39/2rdvT3h4OAcOHCAzM5Nx48ZpxbVjxw7MzMw4d+4ca9eu5b333uPw4cOA2oUGYNu2baSnp2uuH5Ti4mKGDh1KcHAwly5dIigoiBEjRpCaql3x1q1bR9u2bbl06RKLFy9m7ty5mrQ1hu7du/PRRx8hk8k0M/MLF+qeERo7dixZWVns37+fCxcu0KFDBwYMGEBubi4AEydOpFmzZoSFhXHhwgUWL16MkVFto3bt2jWysrLo37//PaWturqap556ColEwrlz5/jyyy954403Gp3HuowfP54FCxbQsmVLTX7Hjx/PjBkzOHDgAOnptZ2nvXv3Ulpayvjx4xutpzirmLL8MpxaOWnuSUwl2Hnbkh2XozNMVWUVt5JycWpVO4MjMhDh1MpJ0/mqqqgCEYiNxBoZsZEYRCIKEvIQi8S4WTQjKjdW81yFiujcWLxkHjr1esk9iK4jDxCZG92gvIWROa1tWnAq/Wy9Z6XZpSgLlNi1sNPcMzI1wsrLiryEXJ3xVVdWU5CSrxVGZCDCroWdJkx+Sj6qKpWWjIWTBRXiaoyVjW+WuwV04MilU1r3Dl44TrcW6tlfI0MjOvq15sjFk5rnKpWKIxdPamTul4etu6ltbmZrpimPTV3ORSIRObFqmZLsEhQFChxaOmjptvGyISdeu1NTV3decp5WGJGBCIcWDvXCpJ5JYffsXex/cz///BJBpbK2o9D09Rsq00owNBDjb+1JeEatK4cKFWHpV2hl56dT7+10dGyFm9yJy1lRDcqYGZlSraqmqKJU674+3ndWTJbedOurrNXMuuu7PdeHzVOuqfs6eRn5FOcV493eSyNjbGZMM/9mpEan6dR9O9VV1fwTcpVyRQVuzV0blFOUKDE3N8fQ8N53Agh7Bh4i8fHxqFQqmjdv/tDifO+99xg0aJDWPV9fX9auXau5fv/992nfvj2rVq3S3Nu6dSuurq7Exsbi56duVNu0acPSpUs1cXz66acEBwczaNAg7OzU/yAtLS1xdHTkYdG2bVvatm2ruV6xYgW7d+/mzz//5OWXX9bc79GjB4sXLwbAz8+P0NBQNm7cWC/vd0MikSCXyxGJRHfMx6lTpzh//jxZWVka96MPP/yQPXv28Ntvv/Hiiy+SmprKokWLNO/T19dXK44//viDwYMHI5HUzrDt3bsXc3Pt5c633nqLt956iyNHjhAdHc3BgwdxdnYGYNWqVQwZMqRReayLiYmJptLXzW/37t3x9/fnu+++4/XXXwfUA72xY8fWS9+9ULMcWtfnVH1tonl2O8oiJapqlZaPLICJ3JjCmwUA2PnaYSg15OLOi7Qf3x6VSsXFny5BtYryAiXmRmaIDcQUlRdpxVFYXoSjqQO6kEksKKyoLy+X6nY76ObUGUWVgkvZ9ZeUlf8uf0tl2vmWyoxRFCjqydfNt1QmrRemKL1YLVOgwMDQAKM6s7MAVWIVhlV3dnfThaO1PZl52n66mXk5yM1kGEuMsbKQYyg21CnT3NWn0foepe6mtrmxzJiyf+Nt6nKuqlZpdNfkrb5uYxT5unWXF5WjqlZhLKsfpjC9UHPt3s0dUxszTKxMyE/L55+fIyjJLKbva331km9UUF1cgaVUhqGBmNyyAq04chUFuMtddOoFMDMy4Y8xXyARG1KlqubDc1sJS7+iU1ZiYMTsDs9yOPk0pRXaedHL+/73XT5OZS37ei6tXuqg9/a8qW1eXa2iKFed9qI8dTtkbqU9UWxuZUZxXolO3TVkJGXy1fxvqCyvRGIiYeK747F3t9MpW1JQSsjOEzwzfsId47wdYTDwEKnxgXyYBAYG1rvXsWNHreuIiAiOHTums5OXkJCgNRioi5OTE1lZWQ8xtfUpLi5m2bJl7Nu3j/T0dCorKykrK6u3MtCtW7d614/y5J+IiAiKi4uxsdFeNi4rKyMhQb30N3/+fGbMmMF3333HwIEDGTt2LN7e3hrZP/74Q2tAA9CvXz+++OILrXvW1uoNjFFRUbi6umoGAlA/3w+TGTNm8PXXX/P666+TmZnJ/v37OXr0qE5ZpVKJUlnrW71//35+XFm716H/6/e2+tFYjGXG9Jnbm7NbzxF1MBqRSIRndw/MXWXcZQvIQ6OHUxfOZ1ygsrqSzPM3OPnjNc2zrvO6N00iHmMsSsTsnfWn5ropbZ52Jo1bSbfIS8kj5lBMk5ZzWx9bEEHSiURST6fQa0HvR6IbwLtf7aDL0tWSwhsFRP0VxQ9Tf0QkEjV5/RY7mvAgFby0QsGUfW9gamhMoGMrXg2cxM3iLC5lRmrJiUViVvSeiwgR6859g/JKLj+u00+7VvO+44/HkxSa9NiUNRNLE0LWHKMsuwS5y5036T4Mbm/PT/1Y62HQ1DYXiURcOHSZiGNXmLz82fuO37aZLS9/NhNFiYKrpyL5bf0eXlg7td6AQFGi5NulP2LnZlevb3I3hMHAQ8TX1xeRSER0dMP+XwAGBmo3gLqDh4qKCp2yutyNbr9XXFzMiBEj+OCDD+rJOjnVLofVdXEBtR9+dXX1HdP6oCxcuJDDhw/z4Ycf4uPjg4mJCU8//bTeNz4XFxfj5OSk2aNRlxp3rmXLlvHss8+yb98+9u/fz9KlS/npp58YPXo06enpXLp0iWHDhmmFNTMzw8fn/mdaG1M27sbkyZNZvHgxZ86c4fTp03h6etKrVy+dsqtXr2b58uWaa5FIRM+JPen2jPq0kepKdTlRFCgwtardhK0oKMPK3RpdSC2kiAxE9WZcygoUGFvWzrI4t3HmqY9GoyhUYCA2QGImYefMnzG2daK4ooSq6iosJNqnIsgkFhSUF6KLwvIiZEY65JX15X3kXjiaObD5mvoUKJs2DvT1q52hqsm3slCBsWXtbJKyUIHczfKO+a67cVUTh1w9cy2VG1NdWU1FabnWTLW4SkSluPGTChm5WThYaf9jcLCypaCkEEW5gpyCKiqrKnXKZOQ92ITAg+ouNqmi78Laf9JNaXPHdo6YWJrg3dsLnz4+TVrORQYifp+7C6/eXnj186a6ola3SZ1wigIFlu66T1KTWEgQGYjqbeBUFCgwvm0msy6+T/gR9VcUnad2xqG5fZPX76QXdiK2kpCvLKSyugprE7lWHNbGcnLL8htMvwoVN4rU/u9xeSm4y12Y3Gqk1mBALBLzfu+5OJrZ8crhFZRWlCHxkzOwTzuNjD7et09fH/z6+z42Za3mpKGy7FKK7Zu+Pfdv7al53tQ2/+O1P+g4uD2dgjpSWaF2yyvOK0FmXZuf4rwSnLx1r4rUYGgkxsZZnT4XX2duxN7k9B9nGfVq7eElylIlO979Hum/Kwe39/fuhrBn4CFibW3N4MGD+eyzzygpqb/sU7MptMYlp64/94McC9mhQweuXbuGh4cHPj4+Wr/GHKVpZGREVVXDO+rvh9DQUKZOncro0aNp3bo1jo6Omo2wdanZXF33OiAg4L50SiSSu+ajQ4cOZGRkYGhoWM9mtra1x4X5+fnx2muvcejQIZ566im2bdsGwF9//UX37t01s/73QkBAAGlpaVrv/fZ830/ZaCi/NjY2jBo1im3btrF9+3amTZvWYBxvvvkmBQUFml9+fj4DZvdH5ihD5ihD7iLHxNJEs/kNoLy0nOyEHOx8bXXGKTYUY+NprRVGVa0i41oGdr71lziNZcZIzCSkX0unoqgc2zb2VKmqSC26ToBVrYuWCBHNrfxILEzWqTexIJnm1touXQHW/jrlezh3JaUwlevFNwEwNDbE3MFc87NwtkAql5IdWeviUlFWQV5iHlbeut+9gaEBcndLsqNqw6iqVWRHZWvCWLpbIhKLtOItSi/CqMoAhbTxA/QzURcZ0L6n1r1BHXpzJvKiOs2VFVyIvaIlIxKJGNC+p0bmfnlQ3SoD9GZzRb6CsrwyXDu4Nnk5z0nMobykHM8+Xlg4WCBzkWEsN9Zs8qzJ963EW9j66D51SWwoxsrDisxrtWFU1SoyIzMbDANQnKl2WbD1stFL/VaVVCLxk1NZXUVMbhIdHWuPnRQhItCxFVezY+vF0RAGIhFGBrWdn5qBgKvMiblH3qewXJ1fkVSsadP09b59+/o8VmUtL0V9nKtEJtVLe67P911WVEbHJ9pj42yNvZsd5lbmJF6u3WytKFFyPeb6Hf3/daFSqaisc7KaokTJtre/R2wo5rmlEzCSNH6eXxgMPGQ+++wzqqqq6Ny5M7///jtxcXFERUWxadMmjUuIiYkJXbt21WwMPn78OO+8c2/H+Olizpw55ObmMmHCBMLCwkhISODgwYNMmzatUZ17Dw8PgoODycjIIC+v/nnMdUlKSuLy5ctaP10DIF9fX3bt2sXly5eJiIjg2Wef1bkaERoaytq1a4mNjeWzzz7j119/Ze7cufec9tvzUVxcTHBwMDk5OZSWltaTGThwIN26dWPUqFEcOnSI5ORkTp8+zdtvv014eDhlZWW8/PLLhISEkJKSQmhoKGFhYZoByu2nCNWgVCrJyMjQ+tWc6jRw4ED8/PyYMmUKERERnDx5st7xXz4+Pri6urJs2TLi4uLYt28f69evv2t+a95HTk6OlrvPjBkz2LFjB1FRUUyZMqXBOKRSKTKZTOtnWKdBEYlEBAQ158ruK6RdSCMvNY/QL0IxtTTFLdBNI3do5WGiD9aujAUMbUHcsTgSTiSQf6OAs1vPUamoxKdPrbtVfEg82XHZFGUWkXgqkeMfn6BZfw9MHdVub0fSQujp3I2ujp1wNHXgWf+xSMQSTt88B8DUgImM8qo9OSk47TgtrQMY6NoXB1N7hnsG4W7hSsj12g2sAMZiKR3t23LqZv2NZnXz7T3Ih9i9MaRfSqfwegEXt1zA2NIYpw61q26h606RGFx7LrrPYB9SjieTGppC0c1CIr67TJWyCree7oB6Q6x7Lw+u/nyF7Khs8pPzuLT1ImWSKhTSasyMTWnr3YK23i0A8HR0pa13C1zt/t1rMn0xO17/SKPvy73f4eXoxgcz3sbf1ZtZIyYzrs9wNu7arJHZ8PvXvDB0ApMHPU1zNx++eHU1ZsYmbDv4s1ae9albHza387XT/FNv6nLuN9hfc765SCTCb7A/kX9c48bFG+Sn5XPuq7OYWJrg0qGZJp5ja44Sd7i2o+wf1JzE4wkknUyi8EYB4TvCqVRW4tlbvVGxOLOIa3uukpuUS0l2MTcu3uDc12dxaG6PlZuVXvJt3MUOsY161eenyH086dufIV69cZc5s6jL8xgbStmboD7y9d3us5nZvvbUqUmtRtLJqTXO5va4y5yZEDCMIK9eHKzznYFVfV6juY03y059goHIAGtjOdbGcgwNajd46iPfLYYEIHeWP3ZlTe5rhXkztW59t+dNafPuo7ti18xWo7vHqC4c++kkUWdjyEjK5Lf1u7GwsSCge+0+028Wf8uZP89rrg9uO0LSlRTyMvPJSMpUX/+TTLt+rQH1QGD7299Rrihn9LwnUZYqKcotJjs7u1H9P8FN6CHj5eXFxYsXWblyJQsWLCA9PR07Ozs6duyo5Uu+detWnn/+eTp27Ii/vz9r167liSeeuC+dzs7OhIaG8sYbb/DEE0+gVCpxd3cnKChI43ZyL6xfv5758+ezefNmXFxcdM7g1zB//vx6906ePFnv3oYNG5g+fTrdu3fH1taWN954g8LC+st7CxYsIDw8nOXLlyOTydiwYYPm2NTG0r17d2bOnMn48eO5desWS5cu1TpGFdQV8++//+btt99m2rRpZGdn4+joSO/evXFwcEAsFnPr1i0mT55MZmYmtra2PPXUUyxfvpySkhKCg4N17mk4cOCAlmsWgL+/P9HR0RgYGLB7926ef/55OnfujIeHB5s2bSIoKEgja2RkxM6dO5k1axZt2rShU6dOvP/++4wdO7bB/I4ZM4Zdu3bRr18/8vPz2bZtG1OnTgXUAxAnJydatmyptVfhfmg5oiWVykrObDlLeWk59n72DFw8ALGk9h9sUWYRiqLawYhnNw+UhQou/xZBWX4Z1u5WDFjcX2szVkF6IRd/vkR5cTlmdma0Gdkasx61My7hWZcwNzLjSa8hyCQyrhfdYFPEVxRVqGf7rI2tUFHrWpNYmMyWa98y0msYo7yHk1WazRdXvuFmSe3MDkAnhw6IEHE+884z4z5DfKlUVhKx45L6A1i+NnSb313r5IiSrBLKi2pd31w6N0NZpCR6TxTKAiUyVzldX+uutXGt1YTWIIKwz89RXVGNfSt7birUtgv0a0vI+tqPdm2ctQyA7Yd+Ydq6+TjZ2ONmX7vBMjkjjWHvTGHjrKXMHT2d6znpzNiwiEPhtWfo/3L8L+wsbXhvykIcrey4nBBJ0FuTyMrXPkVDn7r1YfOeM3po6W7Kcu71hLZLYfNhzalUVhK+LYzy0nLsfO3os7CPlu7irGKUdXS7dXVDWaTg6q4rajcPN0v6LOqrybeBoQGZ1zKJPRhLZXklptamuAa60u6ptlq6mzLfiR61nZTglDNYGst4oe1YrE0sictLYf7RNeQp1JszHcxsqa5Tv00MpSzsPB17UxuUVeWkFNxk+anPCE5RfyzQztSaXq7qvXbfDq89aANgzqH3uJ2mzHfA0AC96dZnWbMdWDvA0Hd73pQ2HzJRu0/Xa2wPyhUV7Nn0F4piBe4t3Zi64jmtmfzc9FxKC2snMEvyS/jtw90U5RZjbCbF0dOBqe8/h08H9UDkZkI6aTE3ANjw/CeacGtYT3BwMM2a1dr+TohUj2LXq4DAf5hdu3bxzjvvEBkZeXfhe+Bev/x8PxQXF+Pi4sK2bdt46qmnGhV25YX3H3p67pXUAt2dxKZALjW+u9AjYt2y7/WmW58sWvac3nTLjRt/utbDQll5f/uBHgZSw8b5FD9M9kVe1ZvuYS1a3V3oP4g+y1pmScHdhR4RbnLd7j9Ngb+V192FHhFPezVuw7KwMiAg0EjMzc11btb+X6K6upqcnBzWr1+PpaWlTpcmAQEBAQEBAQFhMCAg0Eju152rKUlNTcXT05NmzZqxffv2Rn18REBAQEBAQODxQeghCAjomUfhqefh4fFI4hUQEBAQEBD4byGcJiQgICAgICAgICDwmCIMBgQEBAQEBAQEBAQeU4TBgICAgICAgICAgMBjinC0qICAgE7mnlioN92Gjfg+xsNmw/If9aZbn0ds6hN9Hqk6f2njjuB7mFTq+ADj44CRWHx3oUdERSM+xPSw0We7ps+yps986xOxSH/5XttjTaPkH883JCAgICAgICAgICAgDAYEBAQEBAQEBAQEHleEwYCAgICAgICAgIDAY4owGBAQEBAQEBAQEBB4TBEGAwICAgICAgICAgKPKcIXiB8yU6dOZceOHQAYGRnh5ubG5MmTeeuttzA0fLjm7tu3L+3ateOjjz56qPE+Ku41vY3NV3JyMp6enly6dIl27do9cDofFJFIxO7duxk1atRd5WqwsLDA39+fd955h5EjR96zrqbMe8qxJJIOJlBeoMTCVUbAhFZYelo1KJ8RfpO4P6IpyynD1MEM/zEB2LV20DyP+zOGjLAbKHIViAwNkLvL8R3VHEuv+nEmH00k4UA8ygIlMlcZLZ9tg5UOuRpuht0gZk80ZTmlmDmY0fzplji0UeuurqwmZncUWVcyKc0uxdDEENsWdgSMaYGxlYkmjl6tu7Bo7Ew6+rXG2caRUUuf54/TB+9ooz5turFh5hJauvuRlp3O+z9+zI5Dv2rJzH5yCovGzsTR2o6IhChe+exdwmIu64xPpVIRvSeKlBPJVJRWYO1jQ9vJ7TB3ML9jOhKDE4k/EIeyQIHMVU6biW2w8rLWPK+qqOLqT1e4cf461ZXV2LdyoM1zbTGWG+tFt7gKqsT6t/nDLGcA6RdukhKSTEFKPhUlFfRa2he5m7zB+PRZx/SpOyk4kYQDcf/aXU6riXe3e/TuqH/tbk7A2BY4tHHUPFepVMTsiSa1TtltPbmtzrKrr3w/zmVNH+35w9YLjbd5U7apOf452Nra3jHeuggrA4+AoKAg0tPTiYuLY8GCBSxbtox169bplC0vL2/i1AnciYqKiibVt23bNtLT0wkPD6dHjx48/fTTXLlypUnTcC+kh90g+pdIfEb40f3d3lg0kxH+0TmUhUqd8nnxuURsvkiznm50X9Ibh3aOXPwsjKIbhRoZMwczAia0pseyPnR5vQcmNqaEf3SW8iLtOG+ev0Hkz9fwe9KfXkv7IHOVc37jmQZ158bncunrC7j1cqPX0r44tnci/NNzFF5X664qr6IgtQDfEer4Aud0piSjmLBPzmnFY2ZsSkRiJHM+eeeebOTh6Mq+93dwLOI07WYN5qPdW9gyfx1PBPbRyIzrM4INLy1h+fcb6TBrCBGJkRxc/T12ljY644zfH0fikUTaTm5H73f6YigVc2Z9KFUVDR+PeOP8da79fAX/J5vTZ2k/5K5yzmw4rWWvqzuvkBmRQafZXej5Ri8U+WWEfaad/6bU7ZytHoTo0+YPu5wBVCmrsPa1IeDplnfNiz7rmD513zh/ncifr+L3ZHN6L+2LzFXGudvKTF1y429x8atw3Hq503tZPxzbOxL2ibbdE/bHkXQkgTaT29HrnT6IpWLOrT9dr+zqK9+Pc1nTV3uub5tD07apL7/88j2lqQZhMPAIkEqlODo64u7uzqxZsxg4cCB//vknoF45GDVqFCtXrsTZ2Rl/f38A0tLSGDduHJaWllhbWzNy5EiSk5Mb1DF16lSOHz/Oxx9/jEgkQiQSkZycTFVVFc8//zyenp6YmJjg7+/Pxx9/rAmnUCho2bIlL774ouZeQkICFhYWbN26tUF9IpGILVu2MHr0aExNTfH19dXkqYarV68yZMgQzM3NcXBwYNKkSeTk5NwxvfeCh4cHq1atYvr06VhYWODm5sbXX3+tee7p6QlA+/btEYlE9O3bV/Nsy5YtBAQEYGxsTPPmzfn88881z5KTkxGJRPz888/06dMHY2Njfvjhh7uGKy8v5+WXX8bJyQljY2Pc3d1ZvXq1Jq0Ao0ePRiQSaa4bwtLSEkdHR/z8/FixYgWVlZUcO3ZM8/zAgQP07NkTS0tLbGxsGD58OAkJCQ+c98aSfDgR115uNOvhhrmzBS2fa4NYIuZGaKpO+ZTgJGxb2uE52AdzJwt8RzVH5iYn9WiyRsa5SzNsW9hhameGhYsFzce1oLKskqI6jS1A4qF4XHu749rTHQtnGa0ntcVAIibtVIpO3UlHErBrZY93kC8Wzhb4jw5A7m5J8tEkAIxMjei6oDvOnVwwd7TAytuaVhPbUJBSQNmtUk08B8KO8e72dewJPXBPNpo5fBJJGaks/GoF0anxfPbHdn47sY/XnnpBIzN/zIts3r+T7Qd/ISo1jpkfL6ZUqWD64GfqxadSqUg4HI//CH+c2jsjd5XTYUYginwF6RfTG0xH/MF43Ht74N7LHZmLjLaT2yGWiEk5qbZ9RWkFKSeTafVMa+wC7LD0sKL99I7kxueSm5CrF90m5WKMlQZ6tfnDLmcAzbq74vekP7Yt7O6aF33WMb3W74MJuPV2x62XOxYuMtr8W2ZSTzZg98OJ2LWyx2eI2u7Nn2rxr90TAXXZTTycgN8IfxzbOyFzldN+RkcU+Qoybiu7+sr341zW9NWe69vmTd2mXrp0icuXL981XTUIg4EmwMTERGsFIDg4mJiYGA4fPszevXupqKhg8ODBWFhYcPLkSUJDQzE3NycoKKjBlYOPP/6Ybt268cILL5Cenk56ejqurq5UV1fTrFkzfv31VyIjI1myZAlvvfUWv/zyC4Cmw7tjxw7++OMPqqqqeO655xg0aBDTp0+/Yz6WL1/OuHHj+Oeffxg6dCgTJ04kN1fdecjPz6d///60b9+e8PBwDhw4QGZmJuPGjbtjeu+V9evXExgYyKVLl5g9ezazZs0iJiYGgPPnzwNw5MgR0tPT2bVrFwA//PADS5YsYeXKlURFRbFq1SreffddjRtXDYsXL2bu3LlERUUxePDgu4bbtGkTf/75J7/88gsxMTH88MMPmk5/WFgYUDvjX3N9NyorK/nmm28AkEgkmvslJSXMnz+f8PBwgoODMTAwYPTo0VT/+wGZB837vVBdWU1hSgE2AbVLjiIDETYBtuQn5OkMk5+Yi81tDaRtS3vyE3XLV1dWk3YiFUMTQyyaybTuF6QUYBdQG5fIQIRdCzvyGtCdl5BXr3G2a2lP3r8dXV1UlFWACAxNjRqUuRvdAjpw5NIprXsHLxynW4sOABgZGtHRrzVHLp7UPFepVBy5eFIjU5fS7FKUBUrs6uTFyNQIKy+rBvOitle+Vphae/1bV1PyUVWptGQsnCwwsTHRyDS17gpxNcbKxv87elg2b6py1hD6rmP6rd/5WnYUGYiwrVNmbic3IVer/ADYt7InL1677NreVnYtbyu7+sr3417W9NGe69vm0PRtqrOzc6MGA8KegUeISqUiODiYgwcP8sorr2jum5mZsWXLFk2n7/vvv6e6upotW7Zo/Mi3bduGpaUlISEhPPHEE/XilsvlSCQSTE1NcXSs9ZUUi8UsX75cc+3p6cmZM2f45ZdfNB3zdu3a8f777zNjxgyeeeYZUlJS2Lt3713zM3XqVCZMmADAqlWr2LRpE+fPnycoKIhPP/2U9u3bs2rVKo381q1bcXV1JTY2Fj8/P53pvVeGDh3K7NmzAXjjjTfYuHEjx44dw9/fHzs7dSWwsbHRinvp0qWsX7+ep556SmOLyMhIvvrqK6ZMmaKRmzdvnkbmXsKlpqbi6+tLz549EYlEuLu7a8LWpKVmxv9uTJgwAbFYTFlZGdXV1Xh4eGjeE8CYMWO05Ldu3YqdnR2RkZG0atXqgfN+L5QXl6OqViGRSbXuS2VSSjKKdYZRFiiRWNSXVxYotO5lRWQSsfkCVeVVSOXGdHqtm1a48iIlqmoV0tt0S2RSitOLGtCtqCcvlUkbXA6uqqgi+rdInDs3w8jk/gcDjtb2ZOZla93LzMtBbibDWGKMlYUcQ7GhTpnmrj7181Go+Dftxlr3pTJjFLfZUROmAXtJZcYUpavflbJAgYGhAUamknoyNfE2te4qsQrDKhGN5WHZvCnK2Z3Qax37n6jft5czKcXpDelW6JRX/Gv3hsuuFGVB7bvRV74f67Kmp/Zc3zaHpm9TbWxsyM7WbvfuhDAYeATs3bsXc3NzKioqqK6u5tlnn2XZsmWa561bt9aa/Y2IiCA+Ph4LCwuteBQKBQkJCZw8eZIhQ4Zo7n/11VdMnDixQf2fffYZW7duJTU1lbKyMsrLy+ttLl2wYAF79uzh008/Zf/+/djY6PZZrkubNm00f5uZmSGTycjKytLk4dixY5ib198Ik5CQgJ+f313jv1fdIpEIR0dHjW5dlJSUkJCQwPPPP88LL9S6DFRWViKXa2/wCQwMbFS4qVOnMmjQIPz9/QkKCmL48OE6B2z3wsaNGxk4cCCJiYm89tprbNq0CWvr2o1BcXFxLFmyhHPnzpGTk6NZEUhNTaVVq1YPnPcalEolSqV2I1dZXomh5NE2EdbNbei+pA8VReWknUzh8lfhdH2rF4aWJncP/BCorqzm4hfhqFTQelKbuwd4hFiUiNk7q9b1ruu87k2mO+1MGvnJeRSk5pN0NLFJdQs8WhqqY7d3MJpSt5GV6SPXrU/03a7pC33n+3+pPb9+No0r30Zorv/X21RhMPAI6NevH1988QUSiQRnZ+d6pwiZmZlpXRcXF9OxY0eNv3pd7OzskEgkWss9Dg4O9eRq+Omnn1i4cCHr16+nW7duWFhYsG7dOs6d095Mk5WVRWxsLGKxmLi4OIKCgu6aLyMj7VlTkUik6ZwWFxczYsQIPvjgg3rhnJyc7hr3g+jWRXGxetS8efNmunTpovVMLBZrXdd9H/cSrkOHDiQlJbF//36OHDnCuHHjGDhwIL/99lsjcwWOjo74+Pjg4+PDtm3bGDp0KJGRkdjb2wMwYsQI3N3d2bx5M87OzlRXV9OqVas7bjxvTN5rWL16tdaKEkDnqd3oOq07EnMJIgMR5bfNiCgLlQ12KKRyab2NY8pCJVK59qyIodQQQ3tDsDfD0tuKE28f5fqpVPyHq/fSSCykiAxE9WZjynXEVavbuJ68rrRWV1Zz4cswSm+V0m1RjwdaFQDIyM3CwUp7WdnBypaCkkIU5QpyCqqorKrUKZORl0WxSRV9F/bXSp867QqMLWvzqixUIHez1JkGaQP2UhYqMJar8y+VG1NdWU1FablmNsmxnSNSuRS3Hu649XRvUt0A4ioRlWKVznjvxIPavIZHWc7uBX3UMe+hvnrT3XxEc7Vujd0VOuJqSLexTnnjf9NaM/Nav+wqtU560Ve79jiWNX235/qwuWNbR2yW1U6yNnWbeuvWLY3nwL0g7Bl4BJiZmeHj44Obm9s9HSfaoUMH4uLisLe313QMa35yuRwTExOtezUrCBKJhKoq7V3ooaGhdO/endmzZ9O+fXt8fHy0NpzWMH36dFq3bs2OHTt44403iIqKeqA8d+jQgWvXruHh4VEvDzWdbV3pfRjUrLLUjdvBwQFnZ2cSExPrpadm060u7jWcTCZj/PjxbN68mZ9//pnff/9ds3/CyMjovvLZuXNnOnbsyMqVKwF1ZY6JieGdd95hwIABBAQEkJen7d/4sPL+5ptvUlBQoPULnNgZAANDA2Tucm5F5WjkVdUqbkXlYOmt+1g2Sy9rLXmAW1HZOo+Zq4tKpdI0mjW65e5ycqJqlztV1SpyorKxakC3lbeVljxATmQWVt61Ky6afxyZJXRdqB7wPChnoi4yoH1PrXuDOvTmTORFACoqK7gQe0VLRiQSMaB9T85EXkRlAOYO5pqfhbMFUrmU7MjavFSUVZCXmKeVl7qo7WVJ9m32yo7K1oSxdLdEJBZpxavIV6DMV+LYzqnJdRelF2FUZYBC2vDgviEe1ObaaX/45exe0Xcd02/9tmzA7rrtaO1tXc/u2deysfJRy5vamSKVS8m5rezm31Z29ZXvx72s6aM914fNDU2M9NaeF6UXcfPmzUYdNy4MBv4HmDhxIra2towcOZKTJ0+SlJRESEgIr776KtevX28wnIeHB+fOnSM5OVnjQuLr60t4eDgHDx4kNjaWd999t94m1s8++4wzZ86wY8cOJk6cyKhRo5g4ceIDHXM6Z84ccnNzmTBhAmFhYSQkJHDw4EGmTZum6ajqSu/DwN7eHhMTE82m5YKCAkC94Xn16tVs2rSJ2NhYrly5wrZt29iwYcMd47tbuA0bNrBz506io6OJjY3l119/xdHREUtLS00+g4ODycjIqNd5vxvz5s3jq6++4saNG1hZWWFjY8PXX39NfHw8R48eZf78+Y8k71KpFJlMpvWr6yLkMciL6ydTuXE6jeL0Iq798A9V5VW49HAD4J9vLhGzq3ZA6T7Ak5xrWSQdSqA4vYi4P2MoSM7Hrb8HAJXKSmJ3RZGfkEfZrVIKUvK5sv0yyjwFjh2dtdLm9YQPqSdSSAtNpehmEVe+j6BKWYXrv7ovbblA1O+RGnnPgd5kX80i4WA8xelFxPwRTX5yPh791QOh6spqLnwRRkFyPu1f7IiqWoWiQIGiQKH1j8vM2JS23i1o691CHa+jK229W+Bqp07fqumL2fH6Rxr5L/d+h5ejGx/MeBt/V29mjZjMuD7D2bhrs0Zmw+9f88LQCUwe9DTN3Xz44tXVmBmbsO3gz/XeiUgkwnuQD7F7Y0i/lE7h9QIubrmAsaUxTh1qV9tC150iMbh2wO8z2IeU48mkhqZQdLOQiO8uU6Wswq2nem+LkakR7r08uPrzFbKjsslPzuPS1otYeVtj/e8/mKbWXSapQiGt1qvNH3Y5A7V/dkFqAUU31X7JJRnFFKQW6PQR1mcd02v9HuxN6vFau//zXcS/ZeZfu2++QNRv12rtPsiLrKtZJByIoyi9iJg9UeQn5+HR3wtQl12vQd7E7Y0l49+ye+nfsuvYQXuVWl/5fpzLmr7ac33bvKnb1Pbt2zdqMCC4Cf0PYGpqyokTJ3jjjTd46qmnKCoqwsXFhQEDBiCTyRoMt3DhQqZMmUKLFi0oKysjKSmJl156iUuXLjF+/HhEIhETJkxg9uzZ7N+/H4Do6GgWLVrEN998oznN5/PPP6dNmza8++67Ot187gVnZ2dCQ0N54403eOKJJ1Aqlbi7uxMUFISBgUGD6b3b0Zv3gqGhIZs2beK9995jyZIl9OrVi5CQEGbMmIGpqSnr1q1j0aJFmJmZ0bp1a+bNm3fH+O4WzsLCgrVr1xIXF4dYLKZTp078/fffmnyuX7+e+fPns3nzZlxcXO75CFVQf6PC09OTlStX8vnnn/PTTz/x6quv0qpVK/z9/dm0aZPW8aEPO+8N4dTJhfKicuL+iEFZqP5gS+DcLpol07LcMqiz/9PKx5q2MzoQuyea2N3RmNmb0WFOJyxc1OVZZCCiJKOYS2fCKS8uR2JmhNzDki6v98DCRXvvjHNnF5RFSmL3RGt0d36tq2Z5tyy3TOsDbtY+1rR/oSMxu6OI2RWFmb0ZgS93QfbvqRaKfAWZlzMAOLEsREtX10U9NH8H+rUlZH3tx6s2zloGwPZDvzBt3XycbOxxs3fRPE/OSGPYO1PYOGspc0dP53pOOjM2LOJQ+HGNzC/H/8LO0ob3pizE0cqOywmRBL01iax87Vm3GnyG+FKprCRixyX1R2p8beg2vztio1p3r5KsEsqLagfyLp2boSxSEr0nSvMRp66vddf6oFirCa1BBGGfn6O6ohr7Vva0mdROb7pvKpR6t/nDLmcAmZcziNh2SXN98atwAHyf9Md/ZHMt/fqsY/rU7dK5GeVF5cTUKTNdXutWx+6lWtOW1j42dHgxkOhdUUTvisLMwYxOr2jb3XuIL5XKKv7ZcVlTdrv8W3ar66yi6ivfj3NZa+r23La57f+EzaFp29RPNn1ST/+dEKlUqsY7agoICPznmXtiod50Gxrob9Fyw/If9aZ70bLn9KZbn6xb9r3edM9f+qzedFc+pNXR/28YNbB3qSmoeASuqveKPts1fZY1feZbn4hF+sv32h5rGiX/eL4hAQEBAQEBAQEBAQFhMCAgICAgICAgICDwuCIMBgQEBAQEBAQEBAQeU4TBgICAgICAgICAgMBjijAYEBAQEBAQEBAQEHhMEQYDAgICAgICAgICAo8pwmBAQEBAQEBAQEBA4DFF+M6AgICATiYemK033WYSyd2FHhEWetRtbdLwRwb/y+SWFepNtz6/K9Freh+96Xax1F9ZG+odqDfdfyeE6033Txv+0ptufZa15g52etO9efVvetPd98X+etN9bOy3jZIXVgYEBAQEBAQEBAQEHlOEwYCAgICAgICAgIDAY4owGBAQEBAQEBAQEBB4TBEGAwL/OUJDQ2ndujVGRkaMGjWKkJAQRCIR+fn5+k7aA9G3b1/mzZun72QICAgICAgI/Icw1HcCBB4uGRkZrF69mn379nH9+nXkcjk+Pj4899xzTJkyBVNTU30nEYCQkBD69eunuba3t6dnz56sW7cOLy+vB4p7/vz5tGvXjv3792Nubo6pqSnp6enI5XIAtm/fzrx58+46OFi2bBl79uzh8uXLD5QegOPHj7N8+XIuX76MQqHAxcWF7t27s3nzZiR63LB6rwxy680wz0HIJTJSi66zI+oXEgtSdMq6mDvxtM9wPOVu2JnY8F3UrxxIOaYlM8C1FwPdemNnYg3A9eJ0dsf/TUROZL34+rr05Am3/sglFlwvvsnO2N9JLkptMK0d7doy0msoNsbWZJVl83vCX1y9FaV5LhVLeMp7BO1sW2NmZEqOIpejaSc4cfN0vbiSjyaScCAeZYESmauMls+2wcrLqkHdN8NuELMnmrKcUswczGj+dEsc2jhonqdfuElKSDIFKflUlFTQa2lf5G7yBuNTqVRE/BZB3LF4ykvKsfOzo+v0Lsic7rz5M/pQDNf2XqOsoAxrNys6T+mMrY+t5nlRZhHhP1wgKyaL6spqnNs403lqJ0zkJnrR7Te+OVK5MaA/m/dq3YVFY2fS0a81zjaOjFr6PH+cPnjHvPZp040NM5fQ0t2PtOx03v/xY3Yc+lVLZvaTU1g0diaO1nZEJETxymfvEhZzuV5co30H8UzzYVibyEnIS+XjCzuIyk3UqXe4dz8Ge/TEy9IVgJjcJDZH/Kwlb2Io5aW2z9CzWSByiTnpJdn8FnuQP+OD68U3yK0PIzwHIZeq6/f2yJ9JaKB+NzN34mnfEXjJ3LAzteHbqF/Zn3xUS2agW28GufbC1tQGgOtF6eyK/5uInGs641SpVBz/4RSXD/2DokRJswAXhs4ehLWztU55gNBfzxJ9OpZbN25hKDGiWXNnBkztg00zG43Mt2/uJPVqmlY42+7OuI1rrtd8P85lTV/tub5tDjDKewDj/YdibSwnIT+NTZe+IzpPt92HefblCfceeMqbARCbl8yWK79qyb/R6QWCPHpphTuf8Q9vnPzwjvnShbAy8B8iMTGR9u3bc+jQIVatWsWlS5c4c+YMr7/+Onv37uXIkSMNhq2oqGjClNYSExPDzZs3+fXXX7l27RojRoygqqqqnpxKpaKysvKe4kxISKB///40a9YMS0tLJBIJjo6OiESih538eyIyMpKgoCACAwM5ceIEV65c4ZNPPkEikejM6/8aXR07MrH5GHbF7+Od06tJLbrB4sBXkEnMdcpLDSRkleXwU8we8hQFOmVyFfn8FLOHt0+v4Z3TH3DtVizzO8zExdxJSy7Qvj1jfUexN/kA74d9SFrxDea2m4mFkW7dXjIPZrSczKn0s6wI+5BL2VeY3fp5nM0cNTJjfUbR0ro530R+z9JzawhOO84EvzG0tW2pFdfN8zeI/Pkafk/602tpH2Sucs5vPIOyUKk7T/G5XPr6Am693Oi1tC+O7Z0I//QchddrT8qpUlZh7WtDwNMtdcZxO9f+ukbUwWi6TO/C0BVDMDQ25MiaYKrKGy43SWeSCf8+nLZPtWH4ymFYuVlxZE0wZQVlAFQoKji8+ggiETzx9iCClg6murKKo+uOoaquPVyuKXWf/+QcqmqVXm1uZmxKRGIkcz55545yNXg4urLv/R0cizhNu1mD+Wj3FrbMX8cTgbWntozrM4INLy1h+fcb6TBrCBGJkRxc/T12ljZacfV368qc9hPZfnUXMw68Q3x+Kh/2W4ylVPfAq719AMEpZ5gbvJJZh5aSVXqLD/stxtakdtA0p/1zdHZqw/tnPmfS34v4NWY/8zpOoYdLB624ujp2ZFLAGH6P38dbp1eRUnidxZ1eRSax0KlbIpaQVZrDztg71e88dsbu4e3Q1bwduoZrt2JY2HEmzW6r3zWc+f08YXsvMmT2E0z78Dkkxkb8uORXKssbbvNTrqYROKw909ZNYuKKcVRXVfPDkl8pV5Rr22pwG+Z9O1vzc3nSR+/5flzLmj7bc33aHKBfsy7MavssOyL38OLhJSQUpLK29yIspbrLWzu75hxNO8trIauZc/Q9skpvsa73ImyNtSdGzqVH8NSfr2h+K85+fk/5ux1hMPAfYvbs2RgaGhIeHs64ceMICAjAy8uLkSNHsm/fPkaMGKGRFYlEfPHFFzz55JOYmZmxcuVKAL744gu8vb2RSCT4+/vz3XffacKoVCqWLVuGm5sbUqkUZ2dnXn31Vc3zzz//HF9fX4yNjXFwcODpp5++a5rt7e1xcnKid+/eLFmyhMjISOLj4zWuPfv376djx45IpVJOnTqFUqnk1Vdfxd7eHmNjY3r27ElYWBgAycnJiEQibt26xfTp0xGJRGzfvl3LTSgkJIRp06ZRUFCASCRCJBKxbNmyeunavn07y5cvJyIiQiO3fft2AFJTUxk5ciTm5ubIZDLGjRtHZmZmg3k8dOgQjo6OrF27llatWuHt7U1QUBCbN2/GxEQ9E3vr1i0mTJiAi4sLpqamtG7dmp07d97RdkqlkoULF+Li4oKZmRldunQhJCRE8zwlJYURI0ZgZWWFmZkZLVu25O+//77rO7mdIR79OZYWyokbZ7lRksHWaztRVpXTx6W7TvnEwhR2xuzmbMYFKlW6/5lfyr5CRM41MkuzySjN4te4P1FUKvGRe2rJDXLty6mbZzidfp700kx+iPmV8upyejh30RnvANc+XMuN5lDqMTJKM/kzaT+pRdfp16x29sRb7smZjDBi8+O5pcjl5M0zXC++iYfMXTsfh+Jx7e2Oa093LJxltJ7UFgOJmLRTumcOk44kYNfKHu8gXyycLfAfHYDc3ZLko0kamWbdXfF70h/bFnc/ak+lUhF1IJo2o1rjFuiKlZsVPWf1oDS/lNTwhmfSov6OxLefLz59fbBsZknX57siloqJP54AQHZsNiXZJXR/qTtWblZYuVnRY1YPbiXdIv1ahl50FyTnkxOdrVebHwg7xrvb17En9MAd5WqYOXwSSRmpLPxqBdGp8Xz2x3Z+O7GP1556QSMzf8yLbN6/k+0HfyEqNY6ZHy+mVKlg+uBntOIa5z+EvQnH2J90gpTCG6wP24qiUskwL93HQa448zl74o8Qn59CalE6a89vxkBkQEeH2g5QK1tfDiSd5HJWFBklOfyVcIyE/FQCrL214hrmOYCjaaEcv3GGG8UZfHNtJ+VV5fRt1k2n7sSCFH6M2cWZ9HAqq3XX74tZV7icfY2Mf+v3LzX129KznqxKpeL8n+H0HNcN/66+OHja8+RrwyjKLSbmbJxu4wPPLh9L24GtsXO3xcHTnhHzhlKYXUh6vHZbbCQ1wtzKXPMTGxvqPd+Pa1nTZ3uuT5sDjPULYl9SCAeST5JSdJMNF7ajqFIyxEO33Vee/5I/EoJJKEglrSidD8O/QSQyoINDCy25iupK8pQFml9xRek95e92hMHAf4Rbt25x6NAh5syZg5mZmU6Z22fGly1bxujRo7ly5QrTp09n9+7dzJ07lwULFnD16lVeeuklpk2bxrFjaheP33//nY0bN/LVV18RFxfHnj17aN26NQDh4eG8+uqrvPfee8TExHDgwAF69+7dqDzUdIzLy2tndhYvXsyaNWuIioqiTZs2vP766/z+++/s2LGDixcv4uPjw+DBg8nNzcXV1ZX09HRkMhkfffQR6enpjB8/XktH9+7d+eijj5DJZKSnp5Oens7ChQvrpWX8+PEsWLCAli1bauTGjx9PdXU1I0eOJDc3l+PHj3P48GESExPr6amLo6Mj6enpnDhxokEZhUJBx44d2bdvH1evXuXFF19k0qRJnD9/vsEwL7/8MmfOnOGnn37in3/+YezYsQQFBREXp/4HOmfOHJRKpWY14oMPPsDcXPcMTEOIRWI8ZW5cvRWjuadCxdVb0fjq+Md+P4gQ0dWxI1JDCfH5tUugYpEYN4tmROXGaumOyo3FS+ahMy5vuYeWPMC13Ggt+YSCJNratsJSonYV8bf0wcHUjsjcaI1MdWU1BSkF2AXUdiBFBiLsWtiRl5CnU3deQl69DqddS3vyEnLvbIAGKM4qpiy/DKdWtbOKElMJdt62ZMfl6AxTVVnFraRcnFrVzpyJDEQ4tXIiOy5bLVNRBSIQG4k1MmIjMSKRiKyYLL3pvhVzS+82bwzdAjpw5NIprXsHLxynWwv1bKiRoREd/Vpz5OJJzXOVSsWRiyc1MgCGBmL8rD0Jz7haK4eKC5lXaWnre09pkYqlGIrEFJaXaO5dzYmjh0sHzQxue/sWuFo4EpZxRSOjqd85tWVfhYqrOdH4Wj6Yu2YNIkR0cwpEaighLr++S0R+ZgHFeSV4tqvtvBmbSXHxc+J69M171qMsUa8emVgYa92/GhLJ+mc/4as5Wzm64zjV5VX/E/luDP+Vsqav9vx+eFg2BzAUifGz8uBCZq27mAoVFzMjaWnjc0/pkRpKMTTQtjuoVxB2jfiUHUEfMK/DlAZX7O+GsGfgP0J8fDwqlQp/f3+t+7a2tigUCkDdOfzggw80z5599lmmTZumuZ4wYQJTp05l9mz1x6bmz5/P2bNn+fDDD+nXrx+pqak4OjoycOBAjIyMcHNzo3PnzoB6ttzMzIzhw4djYWGBu7s77du3v+f0p6en8+GHH+Li4oK/vz+nT6v9/d577z0GDRoEQElJCV988QXbt29nyJAhAGzevJnDhw/zzTffsGjRIo07kFwux9HRsZ4eiUSCXC5HJBLpfF6DiYkJ5ubmGBoaaskdPnyYK1eukJSUhKur2ofy22+/pWXLloSFhdGpU6d6cY0dO5aDBw/Sp08fHB0d6dq1KwMGDGDy5MnIZOqlWRcXF61BySuvvMLBgwf55ZdfNDauS2pqKtu2bSM1NRVnZ2cAFi5cyIEDB9i2bRurVq0iNTWVMWPGaAZs97MXw0JijthATEG59kehCpVFOJs5NBDq3nA1d2ZZ14UYGRihqFKy8eLX3CjJ0Dw3NzJDbCCmsLxIK1xReRFOprp1yyQWFFZoyxeWFyGvswT+U+zvPNd8PGt7LqequopqVHwX/bPWP+zyIiWqahVSmVQrLolMSnG6dvw1KAsU9eSlMmmDLi53o8a1xliu3bkxlptontVLw7/pruv7D2AiN6bwptq1wc7XDkOpIRd3XqT9+PaoVCou/nQJVbWKsvwyvekuzSnRu80bg6O1PZl52Vr3MvNykJvJMJYYY2Uhx1BsqFOmuWttB0AutcDQQFzP9SRXUYibhfM9pWVmu2fIKcvjQp1O3scXdrCo8/PsGvUpldWVVKtUrDu/hYjs2k6SrIH6XVBeiLP5g9fv97ot0tTvDRe/4kZxRj254jx158bMUnsSy8zSjJK84nvSpapWcWhzMM0CXLB3rx0ctuoTgNxejoW1OZnJWRzdfhyDWBMCZ/XUe74bw3+hrOmzPb8fHpbNQW13sYGYPIV2ectTFOBmodt17nZeaj1ebfc6A4rzGf9w8no46SXZOJvbM6P1WNb0WsDLwe81JquAMBj4z3P+/Hmqq6uZOHEiSqX2P8jAQO2vQEZFRfHiiy9q3evRowcff/wxoO7UfvTRR3h5eREUFMTQoUMZMWIEhoaGDBo0CHd3d82zoKAgRo8efdcNy82aNUOlUlFaWkrbtm35/ffftTbU1k1jQkICFRUV9OjRQ3PPyMiIzp07ExUVRVMQFRWFq6urZiAA0KJFCywtLYmKitI5GBCLxWzbto3333+fo0ePcu7cOVatWsUHH3zA+fPncXJyoqqqilWrVvHLL79w48YNysvLUSqVDdrvypUrVFVV4efnp3VfqVRiY6P2V3z11VeZNWsWhw4dYuDAgYwZM4Y2bdrojE+pVNYrH1XlVSDVKf5QuFmSyVunV2NiaEwXxw7MbDOZ989t1BoQPAr6NeuNl8yDTyM2c0uRi5+lN8/6jaFAWUBUXuzdI3hEXD+bxoFv/9Fc93/90Xy90lhmTJ+5vTm79RxRB6MRiUTqDb4iiD8eT1JoUpPq9uzugdxdrrc9Pf/fmRgwggFu3Xj16PuUV9fu/Rrj9wQtbHxYfPxDMkpzaGfXnNcCp9brUDwqbpZksjh0FaaGJnRxbM+sNlN479wGroRc5oPFGzVyzywZ88C69n95mOzUHKZ8MFHrfoegdpq/7T3sMLcy54d3fkaZq3tA+zBoKN8POiD4X+B/saz9r7bnD5MJ/sPp59aF10JWU1HH7sfSzmn+Tiq8TmJBGj8OXU87+4BG6xAGA/8RfHx8EIlExMTEaN2vmQ2uccGpS0PuRA3h6upKTEwMR44c4fDhw8yePZt169Zx/PhxLCwsuHjxIiEhIRw6dIglS5awbNkywsLCsLS0bDDOkydPIpPJsLe3x8Ki/kaaxqbxfxkXFxcmTZrEpEmTWLFiBX5+fnz55ZcsX76cdevW8fHHH/PRRx/RunVrzMzMmDdvnpbLVF2Ki4sRi8VcuHABsVis9azGFWjGjBkMHjyYffv2cejQIVavXs369et55ZVX6sW3evVqli9frnWv1cRA2k/qSlV1FXKJ9uYymdSCAqX2LEdjqVJVkVmqnlVJLkzDS+bOYI9+bL2m3itRXFFCVXVVvQ19FhKLejN6NRSWFyEz0paXSWrTamRgxGjvYXxxZStXbqlPLrpRkk4zCxcGufXT/POQWEgRGYjqzTCXFyo1p97cjlRuXE9eWaisN3PdEI5tHfFYXTvIrK6sBkBRoMDUqnZQqCgow8pd9ykr0n/TffvsfVmBAmPL2jbAuY0zT300GkWhAgOxASIDEb/P3YVPXx/8+vs2qW6JmYSfZ/6CU6Bzk9v8QcjIzcLBSttFycHKloKSQhTlCnIKqqisqtQpk5GXpbkuUBZRWV2FlbH2CUfWxjJyG9ioWsMzzYfybIsRzD+2msT82lNzJGIjXmgznrdPbeTszcsAJOan4WPlzjMBwzQdtMLyYp31Wy6Rkf8Q63dSYSpecg+C3PuT2uo6Q3vVTuhUVag3pJfkl2BhXeviUJJfgoPX3WfpD3x5mLiwBCavnoDMVvdmzBpc/NWzsDnXs5o8399c+/G+4/wvlDV9tuf3w8OyOajtXlVdhZWxdnmzMpbf1e7j/IbwbPNhLDixlsSCtDvKppdkk68sxOU+VreEPQP/EWxsbBg0aBCffvopJSUldw+gg4CAAEJDQ7XuhYaG0qJF7YYVExMTRowYwaZNmwgJCeHMmTNcuaL2CzQ0NGTgwIGsXbuWf/75h+TkZI4e1T567XY8PT3x9vbWORC4nZqNzXXTWFFRQVhYmFYa78a9nuKjSy4gIIC0tDTS0morZWRkJPn5+Y1Kg5WVFU5OTpp3FRoaysiRI3nuuedo27YtXl5exMY23JC1b9+eqqoqsrKy8PHx0frVdWtydXVl5syZ7Nq1iwULFrB582ad8b355psUFBRo/VqO60CVqoqkwlRa2tS6n4kQ0crGn7j8JJ1x3S8ikQgjg9r5iSpVFalF12luVevLKkJEgJUfiYXJOuNIKEimubW272sLa3+NvFhkgKGBISqVSktGpVJhUGdm2sDQALm7nJyo2iVgVbWKnKhsrLx1H3Np5W2lJQ+QE5mFlXfDxyPWxdDECJmjTPOTu8gxsTTRbOoFKC8tJzshBztfW51xiA3F2Hhaa4VRVavIuJaBnW/9DbTGMmMkZhJyEnMoLynHt69Pk+tOv5aOskiJYwenJrf5g3Am6iID2vfUujeoQ2/ORF4EoKKygguxV7RkRCIRA9r31MgAVFZXEZubREfH2g2ZIkR0cGjFtZyGN9BOCBjO5JajWRSylphc7bpoKDLESFy/nFerqjGo82+/pn63uq1+t7T1f2A3i9sx+Ld+i40NsXa20vxs3WwwtzIjOaJ2k7iyVMmN2HSaNW/YdUWlUnHgy8PEnIlj0srxWDla3jUNmYn/dtIsDJs83w/Cf6Ws6as9vx8els0BKlVVxOYl08H+Nrvbt+DarfgG0/CM/1AmtRjJ6yc/JDbv7v9vbU2skEnMuVWWfy9Z1EJYGfgP8fnnn9OjRw8CAwNZtmwZbdq0wcDAgLCwMKKjo+nYseMdwy9atIhx48bRvn17Bg4cyF9//cWuXbs0R5Ju376dqqoqunTpgqmpKd9//z0mJia4u7uzd+9eEhMT6d27N1ZWVvz9999UV1fX28PwIJiZmTFr1iwWLVqEtbU1bm5urF27ltLSUp5//vl7jsfDw4Pi4mKCg4Np27YtpqamOt1xPDw8SEpK4vLlyzRr1gwLCwsGDhxI69atmThxIh999BGVlZXMnj2bPn361HO7quGrr77i8uXLjB49Gm9vbxQKBd9++y3Xrl3jk08+AcDX15fffvuN06dPY2VlxYYNG8jMzGxwgOHn58fEiROZPHky69evp3379mRnZxMcHEybNm0YNmwY8+bNY8iQIfj5+ZGXl8exY8cICNC9fCiVSpFKtWdTxRL1isP+5KO81HoySQUpJBSkEOTRD6lYyvEbZwCY2XoKecp8fo79Qx1OJNYcpWcoEmNlbIm7RTMUVUrNjNl4v5FEZF8jR5GLidiY7s6dCLD25YPwT7XScDgthGkBz5JSlEZSYSoDXfsgEUsIvaleHp0WMJF8ZQG7E/cCEJx2nEUdXmGQa1+u3Iqkk0MH3C1c+S76ZwAUVUpi8uIZ4/Mk5bEV/y4r+9DVMZBf4//Q0u31hA+Xv7mI3MMSS08rko4kUKWswrWHGwCXtlzA2MqEgDHqd+Q50Jsza0+RcDAehzYO3Dh/g/zkfFpPbqeJs7y4nLLcMhT56n08JRlqn2ipXFrPP18kEhEQ1Jwru68gc7TA3M6cy79extTSFLdAN43coZWHcQt0pflg9dnpAUNbEPplKLZeNth42xK1P4pKRSU+fWpP9ogPiUfuIsdYZkx2XDbnvw2jxZAA5M5yvej2GuSNuaOFXm1uZmyKj4uH5trT0ZW23i3ILcwnLfsmq6YvxsXWkSlr5wHw5d7vePnJqXww4222HvyJ/u16MK7PcIa9M0UTx4bfv2bH6xsJj43gfMxl5o2egZmxCdsO/qz1rn+J2c+bXV8iJjeJqFsJjPUPwsRQyt9JxwF4q+tMcsry+DpCHe7ZgOFMb/00K05/RkZJNtb/zvSWVSooq1RSWlnGpcxIZrWbgLKqnMySHNraBzDYoxefXvpeS/e+pGBmtZlCYmEq8fnJDPHor67f19X1e1abKeQp8vlJV/02EGMlrV+/n/EbyeU69bvHv/V7Tdgn3I5IJKLzk4Gc+vkM1s5WWDpYEvL9SSyszfHvWtsR/P7tn/Dv5ken4erNmQe+OMzVE1GMe3s0EhMJxf/uL5CaSjGSGpGbnse141H4BHphYmFCVnIWh7Ycw9zbElNnc73m+3Eta/psz/Vpc4BfYw+wuPMLxOYlEZWbyNO+T2BsKOVAsvpgkTc7vUh2WR5brqq/Y/CM/zCmtXyKlee+IKMkBytprd0VVUqMxVKmtBzNieth5CoKcDG356U247lRnEVY5pV6+u+GMBj4D+Ht7c2lS5dYtWoVb775JtevX0cqldKiRQsWLlyo2RjcEKNGjeLjjz/mww8/ZO7cuXh6erJt2zb69u0LgKWlJWvWrGH+/PlUVVXRunVr/vrrL2xsbLC0tGTXrl0sW7YMhUKBr68vO3fupGXLeztP/V5Zs2YN1dXVTJo0iaKiIgIDAzl48CBWVg1/lOh2unfvzsyZMxk/fjy3bt1i6dKlOo8XHTNmDLt27aJfv37k5+ezbds2pk6dyh9//MErr7xC7969MTAwICgoSNOp10Xnzp05deoUM2fO5ObNm5ibm9OyZUv27NlDnz7qY8XeeecdEhMTGTx4MKamprz44ouMGjWKgoKGlxBr9iEsWLCAGzduYGtrS9euXRk+fDgAVVVVzJkzh+vXryOTyQgKCmLjxo0NxtcQZzMuYCEx52nf4cilMlIKr/NB+KeajWA2JlaoqNbIWxnLWdXjLc31cM9BDPccRGRuLCvPfwSol3pntpmCpVRGaYWCtKIbfBD+KVdvaZ8AEZ51CQsjM570GoJMIuN60Q02RXxFUYX6H7+1sRUqameFEguT2XLtW0Z6DWOU93CySrP5/Mo33KyzD2HztR2M9h7O8y2fw8zQlFxFHnsS/+b4De1VMefOLiiLlMTuiUZZqP4AVufXumpcVspyy7T83K19rGn/QkdidkcRsysKM3szAl/ugqxZ7dJw5uUMIrZd0lxf/CocAN8n/fEf2bye7VuOaEmlspIzW85SXlqOvZ89AxcP0AzUQP0RL0VRrauMZzcPlIUKLv8WQVl+GdbuVgxY3F9rY29BeiEXf75EeXE5ZnZmtBnZmoChAXrT7dDPRe82D/RrS8j62g8KbZy1DIDth35h2rr5ONnY42bvonmenJHGsHemsHHWUuaOns71nHRmbFjEofDjGplfjv+FnaUN701ZiKOVHZcTIgl6axJZ+donMh1NPYul1ILprZ/G2lhOfF4KC0M+0Gw4dDC10Zr9HOkzEInYiBW95mnFs+3K72y7uguA5ac/5cW243m322xkEnMySnPY/M8v/HHbh6DOZlxA9m/9tvy3fq8J+4SCf+u3rbG1lm4rYzlrer6tuR7hNYgRXoOIvBXLivPq9kUmsWB2m6lYGqvrd2rRDdaEfcKV2+p3Dd3GdKZcUc6+Tw+hKFHg2qIZE5aPxVBS20XJy8intLD22MQL+y8D8N1bP2nFNWLuENoObI3YUEzS5WTO/xlOuaICma0FAd39KO1srPd8P65lTZ/tuT5tDnDs+jnkUgumtnzq34+OpfLGyXXk/evyZG9qQ3WdvI/07o9EbMTy7q9qxbP92m52RO6mWlWNt9yVwe49MZeYcqssj/DMq2y9+jsVDRx9eydEqtvXVwQEBASAiQfuPHh8lJjp8avMFnrUbW1y56/7/lfJLXswP+0HYcPy+/flflB6Tdd9xnhT4GKpv7I21Fv3KmpT8HdCuN50/7ThL73p1mdZa+5w9++qPCo2r/5Nb7r7vvhoDmK4F46N/bZR8sKeAQEBAQEBAQEBAYHHFGEwICAgICAgICAgIPCYIgwGBAQEBAQEBAQEBB5ThMGAgICAgICAgICAwGOKMBgQEBAQEBAQEBAQeEwRBgMCAgICAgICAgICjynCYEBAQEBAQEBAQEDgMUX46JiAgIBODp/9R2+6B3RprTfdJob6axaVlRV6061PKqur7y70iNDn+esntx6/u9Ajwq6Hh950B9g66U138LnGf531YfG4ljWX+SP0plufNve1sdab7sYirAwICAgICAgICAgIPKYIgwEBAQEBAQEBAQGBxxRhMCAgICAgICAgICDwmCIMBgQEBAQEBAQEBAQeUx67wcDUqVMZNWqUvpPxQCxbtgwHBwdEIhF79uz5T+TpfzEPMTExODo6UlRUpO+kPBAHDhygXbt2VOtxk6aAgICAgIDA/yb3dWxGWloaS5cu5cCBA+Tk5ODk5MSoUaNYsmQJNjY2DzuN90VycjKenp5cunSJdu3aae5//PHHqFSqR65/6tSp7NixAwAjIyPc3NyYPHkyb731FoYPcFpJVFQUy5cvZ/fu3XTt2hUrKyv69eunlae+ffvSrl07PvroozvG1bdvX44fV58wIJVK8fLy4uWXX2b27Nn3nb6G2Lx5M59++ikJCQkYGhri6enJuHHjePPNNx+6rofFm2++ySuvvIKFhQXfffcdM2fOJCIiAh8fH43MzZs3admyJStWrODll19u8jS+8cYbhIWFcfToUa37I0aMwMXFhS+//JKgoCDeffddfvjhByZNmnRfeqZ3eorZPSZgb27NtYwE3tq/kUs3ohqUlxmb81b/FxkW0BtLExnXCzJ558DHBMedbXScg9z6MMJzEHKpjNSi62yP/JmEghSdepuZO/G07wi8ZG7YmdrwbdSv7E8+qlMW4EmvJ5jgP5r9yUf5NupXnTIpx5JIOphAeYESC1cZARNaYelp1WCcGeE3ifsjmrKcMkwdzPAfE4BdawfN87g/Y8gIu4EiV4HI0AC5uxzfUc2x9Kofp0ql4uquqySGJFBRWoGtry0dpwZi4WjRoH6AuCNxRP8dhaJAgaWrJR0mdcTGu7ZtProqmOzobK0w3v28CZzWSS+6XXu703JSG821vmw+2ncQzzQfhrWJnIS8VD6+sIOo3ESdOod792OwR0+8LF0BiMlNYnPEz1ryJoZSXmr7DD2bBSKXmJNeks1vsQf5Mz5YK65erbuwaOxMOvq1xtnGkVFLn+eP0wcbzC9Anzbd2DBzCS3d/UjLTuf9Hz9mxyHtMjz7ySksGjsTR2s7IhKieOWzdwmLuVwvLn3Wb1CXtX9+/4f4Y/FUlFZg52dHp2mdkDnK7miDmMMxRO2LoqygDCs3KwInB2LrbQtAcXYxf7z2R70wVkBxDxkVblK95vtxLWv6bM/1ZfMa+rr05Am3/sglFlwvvsnO2N9JLkptMD8d7doy0msoNsbWZJVl83vCX1y9VVuWvu7/kc5wv8XXL/d3o9ErA4mJiQQGBhIXF8fOnTuJj4/nyy+/JDg4mG7dupGbm9voRDSG8vLyBwovl8uxtLR8OIm5C0FBQaSnpxMXF8eCBQtYtmwZ69at0yl7r/lKSEgAYOTIkTg6OiKVSh8oTy+88ALp6elERkYybtw45syZw86dO+8rrobysHXrVubNm8err77K5cuXCQ0N5fXXX6e4uPi+9NwrKpWKysrK+wqbmprK3r17mTp1KgCTJk1i8ODBTJ06VWuG/YUXXqBjx47MmTPnYSS50bzxxhtcvHiRw4cPa+6dPXuW4OBglixZork3depUNm3adF86Rrbsz/LBL/NhyDYGfvU81zLj+fm5DdiaWeqUNxIb8uukjbhaOvL8L+/S/dNnmf/nB2QU5jQ6zq6OHZkUMIbf4/fx1ulVpBReZ3GnV5FJdHdIJWIJWaU57IzdQ56i4I758pK7M8C1FymF1xuUSQ+7QfQvkfiM8KP7u72xaCYj/KNzKAuVOuXz4nOJ2HyRZj3d6L6kNw7tHLn4WRhFNwo1MmYOZgRMaE2PZX3o8noPTGxMCf/oLOVF9eOM3hdN3OFYAqcGMnDpIMRSQ46vC6GqvKrBNKeeTeXyj5doOaoVT7w3GEs3S46vC0FRqNDOf18vntw0UvNr+0w7ven2fzpA7zbv79aVOe0nsv3qLmYceIf4/FQ+7LcYS6nuDml7+wCCU84wN3glsw4tJav0Fh/2W4ytSe0AY0775+js1Ib3z3zOpL8X8WvMfuZ1nEIPlw5acZkZmxKRGMmcT95p0LZ18XB0Zd/7OzgWcZp2swbz0e4tbJm/jicCa49RHNdnBBteWsLy7zfSYdYQIhIjObj6e+wstSfs9Fm/a4jcG0nMoRg6T+/M4OWDMZQacuyDY3csa8lnk7n4w0Vaj27N0PeHYuVmxbEPjqEoUJc1UxtTnvr0Ka1fmzFtUBmKqHCS6DXfj2tZ02d7rk+bAwTat2es7yj2Jh/g/bAPSSu+wdx2M7EwMtedH5kHM1pO5lT6WVaEfcil7CvMbv08zmaOGpmFp97V+m2P+pFqVTUXsxp/LHijBwNz5sxBIpFw6NAh+vTpg5ubG0OGDOHIkSPcuHGDt99+WyPr4eHBihUrmDBhAmZmZri4uPDZZ59pxZefn8+MGTOws7NDJpPRv39/IiIiNM+XLVtGu3bt2LJlC56enhgbGwNq14eePXtiaWmJjY0Nw4cP13SUATw9PQFo3749IpGIvn37AvXdUfr27curr77K66+/jrW1NY6OjixbtkwrjdHR0fTs2RNjY2NatGjBkSNHNC46d0IqleLo6Ii7uzuzZs1i4MCB/Pnnn1rpWLlyJc7Ozvj7+wNw5coV+vfvj4mJCTY2Nrz44ouaTvOyZcsYMUJ9Xq+BgQEikahenqZOncrx48f5+OOPEYlEiEQikpOTG0yjqakpjo6OeHl5sWzZMnx9fTVpvN93czt//vkn48aN4/nnn8fHx4eWLVsyYcIEVq5cWU/2ww8/xMnJCRsbG+bMmUNFRe2569999x2BgYFYWFjg6OjIs88+S1ZWluZ5SEgIIpGI/fv307FjR6RSKadOnaK6uprVq1fj6emJiYkJbdu25bfffrvju/vll19o27YtLi4umntfffUVsbGxbNiwAYDt27cTGhrKtm3b6NevH/PmzdOKY9SoUZrBRGPSHxwcTGBgIKampnTv3p2YmJgG02ltbc3ChQu16t3bb7/NK6+8grOzs+beiBEjCA8P16oj98rMbs/w/cW/+Ony38RmJ7No7zrKKhRMaD9cp/yz7YdhZSJjyk9vcj7tCmn5GZxJucy1zPhGxznMcwBH00I5fuMMN4oz+ObaTsqryunbrJtO3YkFKfwYs4sz6eFUVjc8EJSKpbzcdhqbr/5ASUVpg3LJhxNx7eVGsx5umDtb0PK5NoglYm6E6p7NSQlOwralHZ6DfTB3ssB3VHNkbnJSjyZrZJy7NMO2hR2mdmZYuFjQfFwLKssqKbpeqBWXSqUi9mAMLZ5siUvHZli6WdLlpS6U5Zdx42LDA5iYA9F49fXGq7cXchc5gVM7YSg1JOm49gyYWGKIiaWJ5mdkYqQ33YZ1dOvL5uP8h7A34Rj7k06QUniD9WFbUVQqGeal+5zyFWc+Z0/8EeLzU0gtSmft+c0YiAzo6NBSI9PK1pcDSSe5nBVFRkkOfyUcIyE/lQBrb624DoQd493t69gTeqBB29Zl5vBJJGWksvCrFUSnxvPZH9v57cQ+XnvqBY3M/DEvsnn/TrYf/IWo1DhmfryYUqWC6YOf0Y5Lj/Ub1GUt+kA0rUa2wrWjK1ZuVnSb2Y3S/FLSLqQ1aIPo/dH49PPBu483chc5nad1RiwVk3Bc3cYZGBholTETSxPSwtMod5OCkUiv+X5cy5o+23N92hxgkGtfTt08w+n086SXZvJDzK+UV5fTw7mLTv0DXPtwLTeaQ6nHyCjN5M+k/aQWXadfs14amcLyIq1fO9vWxOTFk6O41aCtGqJRg4Hc3FwOHjzI7NmzMTEx0Xrm6OjIxIkT+fnnn7VcVtatW0fbtm25dOkSixcvZu7cuVqzmGPHjiUrK4v9+/dz4cIFOnTowIABA7RWGOLj4/n999/ZtWsXly9fBqCkpIT58+cTHh5OcHAwBgYGjB49WjNre/78eQCOHDlCeno6u3btajBfO3bswMzMjHPnzrF27Vree+89TRqrqqoYNWoUpqamnDt3jq+//lqr49UYTExMtGbPg4ODiYmJ4fDhw+zdu5eSkhIGDx6MlZUVYWFh/Prrrxw5ckTjfrJw4UK2bdsGQHp6Ounp6fV0fPzxx3Tr1k0z45+eno6rq+t9pfF+383tODo6cvbsWVJSdC8F1nDs2DESEhI4duwYO3bsYPv27Wzfvl3zvKKighUrVhAREcGePXtITk7W6mzXsHjxYtasWUNUVBRt2rRh9erVfPvtt3z55Zdcu3aN1157jeeee07jIqWLkydPEhgYqHXPzs6Or7/+mnfffZfDhw/z2muv8fHHH9+zfe81/W+//Tbr168nPDwcQ0NDpk+ffsd4582bR0pKCrt37yY4OJiLFy+yePFiLRk3NzccHBw4efLkPaW1BiOxIW2d/TiRGK65p1KpOJEYTmCzljrDDPbvSfj1q6wZtoBrC//k+OxvmdtrEgYig0bFKRaJ8ZS5cTUnulYOFVdzovG19GpUPm5neotnuJR1lau3ohuUqa6spjClAJsAW809kYEImwBb8hPydIbJT8zFpoWd1j3blvbkJ+qWr66sJu1EKoYmhlg0056hKskuQVGgwKFlrbuLxFSCjZcNOfG6G/uqyirykvO0wogMRDi0cKgXJvVMCrtn72L/m/v555cIKpW1/2ybWnfVv7r1ZXNDAzF+1p6EZ1zVyKlQcSHzKi1tfXXGcztSsRRDkZjC8hLNvas5cfRw6aCZTWxv3wJXC0fCMh7sw1fdAjpw5NIprXsHLxynWwv1jKSRoREd/Vpz5GJtfVepVBy5eFIjA/qt3zUUZxejKFDg2Kp2xlNiKsHW25acuJx68qAua7lJuTi2rA0jMhDh2NKRnHjdYW4l3SIvJQ+ll7Fe8/24ljV9tuf6trlYJMbNohlRubFa+qNyY/GSeejU5y330JIHuJYb3aC8hZE5rW1aEJp+Vufzu9Eo5/W4uDhUKhUBAQE6nwcEBJCXl0d2djb29vYA9OjRQ9Mx8fPzIzQ0lI0bNzJo0CBOnTrF+fPnycrKQiqVAuqZ4T179vDbb7/x4osvAmr3k2+//RY7u9oGf8yYMVq6t27dip2dHZGRkbRq1Uoja2Njg6OjI3eiTZs2LF26FABfX18+/fRTgoODGTRoEIcPHyYhIYGQkBBNPCtXrmTQoEH3bDeVSkVwcDAHDx7klVde0dw3MzNjy5YtSCQSQO1Xr1Ao+PbbbzEzMwPg008/ZcSIEXzwwQc4ODho3IEaypNcLkcikWhm/O+Vqqoqdu7cyT///MOLL774QO/mdpYuXcpTTz2Fh4cHfn5+dOvWjaFDh/L0009jYFA7HrWysuLTTz9FLBbTvHlzhg0bRnBwMC+8oJ6BqNsp9vLyYtOmTXTq1Ini4mLMzWuX2t577z3N+1EqlaxatYojR47QrVs3TdhTp07x1Vdf0aeP7lmBlJSUeoMBUM/2jxs3jqCgIEaMGMGUKVPuyb6NSf/KlSs16Vq8eDHDhg1DoVDoXHn59ttvWbVqFSKRiHfffRdzc3OMjIzo1q0b8+bNY+bMmRpZZ2fnBgdkSqUSpVLbDUNVWY21hRxDA0Oyi7Xd/7JLcvGxddcZl7uVMz09O/D7P4eZ8MMiPK1d+GDYAowMDPnw+DasTe8tTpnEHLGBmIJy7RnzgvJCnM0duF+6OQXiIXflndNr7ihXXlyOqlqFRCbVui+VSSnJ0O3ipixQIrGoL68s0HaTyYrIJGLzBarKq5DKjen0Wrd64WrcHYzl2u/dWG6MIr9Md5qL1Gk2ltUPU5hea0f3bu6Y2phhYmVCflo+//wcQWF6ET3n9tSL7twbebSf3Uk/Ni8EudQCQwNxPVeEXEUhbhbO3Asz2z1DTlkeF+p0OD6+sINFnZ9n16hPqayupFqlYt35LURkNzwIvRccre3JzNPed5GZl4PcTIaxxBgrCzmGYkOdMs1da/c83WtdrMvDqt81KPLV78lEpj3BaCwzpqxAd1lTFinVZU1H+axb1uqSEJKAzFlGnp0RtnrM9+Na1vTZnuvb5uZGZogNxBSWax9GUlRehJOp7rzLJBYUVmjLF5YXIW/Aram7U2cUVQouZjfeRQjucwNxYzbg1nTA6l7XbGyNiIiguLi43qbjsrIyLXcGd3f3ep3NuLg4lixZwrlz58jJydGsCKSmptKqVavGZIc2bdpoXTs5OWncN2JiYnB1ddXqWHfu3Pme4t27dy/m5uZUVFRQXV3Ns88+q+WC1Lp1a81AANSbg9u2basZCIB6MFVdXU1MTAwODvdfYRri888/Z8uWLZSXlyMWi3nttdeYNWsWX3zxxX2/m9txcnLizJkzXL16lRMnTnD69GmmTJnCli1bOHDggGZA0LJlS8RisVa4K1dqR9gXLlxg2bJlREREkJeXp/XOW7RooZGr24mPj4+ntLS03uCtvLyc9u3bN5jmsrKyBt2e3n33Xb799lveeefefC4bm/665dHJyQmArKws3Nzc6sU5efJkJk+eTFVVFZ06dSI/P5+0tDTNAK4uJiYmlJbqXkJdvXo1y5cv17pn2scVRtz53erCQGRATkk+C/5aS7Wqmn/SY3CS2TGn+wQ+PL6t0fE9TKyNrZgSMJZVYZuouMOy8yNPR3Mbui/pQ0VROWknU7j8VTgeg32I+712c1ivBb0fmX7vfrX/pC1dLSm8UUDUX1H8NuNXRCJRk+o2sTQhZM0xSrNKMJCI7xDywdBl865v9bp7wHtgYsAIBrh149Wj71NeXevaOMbvCVrY+LD4+IdklObQzq45rwVOVXcqMq89FN1NzYPWb0mygp+f/1lz3Xdh30eYWjWV5ZUkn0mm9ajWpKgadj26E/8r7drjVNbuRlO15/8fbN7DqQvnMi7c0Z3qTjRqMODj44NIJCIqKorRo0fXex4VFYWVldVdO4c1FBcX4+TkREhISL1ndTfE1u0c1zBixAjc3d3ZvHkzzs7OVFdX06pVq/vaYGxkZKR1LRKJHsoxjP369eOLL75AIpHg7Oxc7xQhXflqaiZOnMjbb7+NiYkJTk5Omo75g7ybhmjVqhWtWrVi9uzZzJw5k169enH8+HH69esH3Pk91LhQDR48mB9++AE7OztSU1MZPHhwvXdeN001+y327dun5f8P6Oww12Bra0tenm43g5r3WPd9GhgY1Bsk193v0Jj017VDzb6Qhsrj559/zuuvvw6oZ/dVKpVmALdkyRLNM1C7+TVUN998803mz5+vdc97bRC5pQVUVldiZ26t9czOzJqsYt3uIplFOVRWV1Gtqk1zbHYKDha2GIkN7znOwvJiqqqrkEu0Z0LkEhn5St2zf3fDS+aGXCpjVffaU6zEBmKaW/vwhFsfJh2sXbmTmEsQGYgov23jqrJQiVSmu+xI5dJ6G4GVhUqkt81gGkoNMbQ3BHszLL2tOPH2UcoLFTzx/mCNTHWF2n6KAgUmlrWzpooCBZbuuk/WkVio03z7hl1FgQJjuYnOMAC+T/gR9VcUHSZ1xK65XZPqrjlpqCSrBJvmtk1q8+unUqGtOQXKIiqrq7AylmuFsTaWkXuXjYvPNB/Ksy1GMP/YahLzazuaErERL7QZz9unNnL25mUAEvPT8LFy55mAYQ/UWcjIzcLBSrsuO1jZUlBSiKJcQU5BFZVVlTplMvJq9ynpo36Xu0gYOqaf5n5VpXqTcFlhGSZWdcpaoQIrN91lTWohVZe1gvplzURHWUs9n0qVsgrPnp5wMk2v7drjWtb02Z7r2+bFFSVUVVfV2yhtIbGot1JSQ2F5ETIjbXmZxIICHbbykXvhaObA19d23DEvd6JRewZsbGwYNGgQn3/+OWVl2st3GRkZ/PDDD4wfP17TgQH1ySZ1OXv2rMbNqEOHDmRkZGBoaIiPj4/Wz9bWloa4desWMTExvPPOOwwYMEDjnlSXmhn3qqqGTyO4F/z9/UlLSyMzM1NzLyws7J7CmpmZ4ePjg5ub2z0dJxoQEEBERAQlJbU+aaGhoRgYGGg2GN8LEonknvMtl8vx8fHBxcVFy2Xnft/NvVIzE143r3ciOjqaW7dusWbNGnr16kXz5s21Nt/eSY9UKiU1NbVePu7k69++fXsiIyPvLTOo9xPU3cNRVVXF1au1y4n3m/67MXHiRC5fvszly5d58skn6devn+a6xr0KQKFQkJCQ0OBqiFQqRSaTaf1EhgZUVFUScTOWXp4dNbIikYheXh0Jv677H8z5tCt4WLtotQPeNq5kFOVQUVV5z3FWqapIKkyllU1t2RchoqWtP3H5uo+DuxtXb0Wz6OQKFoeu0vwS8pMJvRnG4tBVqKgd0BkYGiBzl3MrqtYHWVWt4lZUDpbeujspll7WWvIAt6KydR4bWheVSgUiERYOFpqfzEWGsdyYzMjatqeirIJbibew9dF9hLPYUIyVhxWZ12rDqKpVZEZmNhgGoDhTPWi29rRuct15Keq229jSuMltXl2p7thVVlcRm5tER8da324RIjo4tOJaTlyDcUwIGM7klqNZFLKWmNwkrWeGIkOMxIb1JiioIjUAAQAASURBVAmqVdUYPOAnfs5EXWRA+55a9wZ16M2ZyIsAVFRWcCH2ipaMSCRiQPueGhlAP/XbyAALRwvNT+4iV5e1OuWmorSCnIQcbH11/68RG4qx9rQm41qG5p6qWkXGtQxsfeqHSQhJwKWDi8aFTZ/t2uNa1vTZnuvb5lWqKlKLrtPcqnZ/gggRAVZ+JBYm69SdUJBMc2vt/QwtrP11yvd07kpyYSrXi282mJe70ehS8umnn6JUKhk8eDAnTpwgLS2NAwcOMGjQIFxcXOqdEBMaGsratWuJjY3ls88+49dff2Xu3LkADBw4kG7dujFq1CgOHTpEcnIyp0+f5u233yY8PFyXekDtW25jY8PXX39NfHw8R48erTeraW9vj4mJCQcOHCAzM5OCgjuP/hpi0KBBeHt7M2XKFP755x9CQ0M17iF1G4WHwcSJEzE2NmbKlClcvXqVY8eO8corrzBp0qRGuQh5eHhw7tw5kpOTtVyoGsP9vhtdzJo1ixUrVhAaGkpKSgpnz55l8uTJ2NnZ1XMjawg3NzckEgmffPIJiYmJ/Pnnn6xYseKu4SwsLFi4cCGvvfYaO3bsICEhgYsXL/LJJ59ovgOhi8GDB3PmzJl7HlT179+fffv2sW/fPqKjo5k1axb5+fkPnP67UTOY8/HxwcLCQjMA9fHxwcqqtjN09uxZpFLpPdu7Ll+e+YnnOo5gfNsgfG3dWTdsIaZGJvx0aR8An45+h7cHvKSR3x62BysTGSuD5uJl48pA327M6zWJred33XOcNexLCqafa096u3TF2cyR6S0nIBVLOX79DACz2kzhGb+RGnmxSIy7RTPcLZphaCDGSmqJu0UzHEzVs1aKKiXXi29q/ZRV5RRXlOhsSD0GeXH9ZCo3TqdRnF7EtR/+oaq8Cpceapetf765RMyuWtce9wGe5FzLIulQAsXpRcT9GUNBcj5u/T0AqFRWErsrivyEPMpulVKQks+V7ZdR5ilw7KjtuyoSifAb7E/kH9e4cfEG+Wn5nPvqLCaWJrh0aKaRO7bmKHGHazea+Qc1J/F4Akknkyi8UUD4jnAqlZV49lZv0ivOLOLanqvkJuVSkl3MjYs3OPf1Wez87bB0s9SLbis/a81mXn3Z/JeY/Qz37keQZy/cZc4s6DQNE0MpfyepDxp4q+tMXmw7XiP/bMBwnm/9NB+c+5qMkmysjeVYG8sxMVSvYJRWlnEpM5JZ7SbQzj4AJzM7gjx7M9ijFyeua08omRmb0ta7BW291ZMkno6utPVugaudOn2rpi9mx+sfaeS/3PsdXo5ufDDjbfxdvZk1YjLj+gxn467NGpkNv3/NC0MnMHnQ0zR38+GLV1djZmzCtoM/a+nWZ/0GdVlrHtScq3uucv3CdfLS8jj91WlMLU1x7Vg7YXNk1RFiDtWerNZ8SHPiQ+JJPJFIwY0Czm87T5WyCq8+2ptRizKKyIrJwqevj9Z9feb7cS1r+mzP9WlzgMNpIfRy7kY3x044mjow0X8sErGE0JvnAJgWMJHRXrWnTgWnHaeVdQCDXPviaGrPCM8g3C1cOXZd+xAQY7GUjvZtOXXz/jYO19DoPQO+vr6Eh4ezdOlSxo0bR25uLo6OjowaNYqlS5diba29RLZgwQLCw8NZvnw5MpmMDRs2MHiweilcJBLx999/8/bbbzNt2jSys7NxdHSkd+/ed+z8GhgY8NNPP/Hqq6/SqlUr/P392bRpk+b4UFC7cGzatIn33nuPJUuW0KtXL50uL3dDLBazZ88eZsyYQadOnfDy8mLdunWMGDGiQZ/y+8XU1JSDBw8yd+5cOnXqhKmpKWPGjNEcZXmvLFy4kClTptCiRQvKyspISkrCw8OjUXHc77vRxcCBA9m6dStffPEFt27dwtbWlm7duhEcHHzPH6mzs7Nj+/btvPXWW2zatIkOHTrw4Ycf8uSTT9417IoVK7Czs2P16tUkJiZiaWlJhw4deOuttxoMM2TIEAwNDTly5IimvN6J6dOnExERweTJkzE0NOS1117TuD89aPofBjt37mTixImYmpo2Ouwf145iY2bJ6/1mYG9uzdWMeJ75fgHZJeoZXRe5g9bS+c3CLMZ/N5/3gl4lZNZ2Mgpz+Prcr3xy6od7jrOGsxkXkEnMedp3OJZSGSmF11kT9gkF/27EsjW21pqZsTKWs6Zn7WlfI7wGMcJrEJG3YllxfmOj8+7UyYXyonLi/ohBWahE5iojcG4XjctKWW4Z1JkTsPKxpu2MDsTuiSZ2dzRm9mZ0mNMJCxd1R1dkIKIko5hLZ8IpLy5HYmaE3MOSLq/3wMKl/lnbzYc1p1JZSfi2MMpLy7HztaPPwj6I6/jWF2cVo6zjJuPW1Q1lkYKru66o3XrcLOmzqK9ms6WBoQGZ1zKJPRhLZXklptamuAa60mJkS73pbhbkoT+b31CvihxNPYul1ILprZ/G2lhOfF4KC0M+IE+hXpZ3MLXRKmsjfQYiERuxotc8Lbttu/I7266qO4jLT3/Ki23H82632cgk5mSU5rD5n1/447aPEgX6tSVkfe1HkjbOWgbA9kO/MG3dfJxs7HGzr3VzTM5IY9g7U9g4aylzR0/nek46MzYs4lB47Qlpvxz/CztLG96bshBHKzsuJ0QS9NYksvK1V1H0Wb9raDG8BZXKSs5tPUd5aTn2fvb0e73fHcuaR1cPlIVKIn6PQFGgwMrdin6v96vnJpRwPAFTa1OcWjv9z+T7cS1r+mzP9WlzgPCsS1gYmfGk1xBkEhnXi26wKeIriir+XZU1ttJamU4sTGbLtW8Z6TWMUd7DySrN5vMr33CzJEMr3k4OHRAhIizzIg+CSPUIP8fr4eHBvHnz6p2//v+d0NBQevbsSXx8PN7e9c+TFfhv8Nlnn/Hnn39y8OCdv874v05OTg7+/v6Eh4drvr9xL9gv63l3oUfEgC6t9abbXo97eeRS/e8j0gcFyntzF3wUXLpR/4jmpuLk1oaPN37U2PXw0Jvul4c9oTfdn+47pDfdzf11n1TUFOizrD0zf4TedN/Iv7/9CA+D5g6NP4DjYdHQ14kb4r5OE3rc2L17N+bm5vj6+hIfH8/cuXPp0aOHMBD4j/PSSy+Rn59PUVERFha6v5D4/4Hk5GQ+//zzRg0EBAQEBAQEBB4PhMHAPVBUVMQbb7xBamoqtra2DBw4kPXr1+s7WQKPGENDw/v+wNz/EoGBgTq/mSAgICAgICAg8EgHA8nJyY8y+iaj5ix3AQEBAQEBAQEBgf8SD3bmlICAgICAgICAgIDA/1uEwYCAgICAgICAgIDAY4owGBAQEBAQEBAQEBB4TBE2EAsICOgkOzRZb7ot+3TSm259IjU00ncS9IPy7iKPChdLmd506/N4T33Wb/dnne8u9IjQZ771emRyT/2dJmf5kL/J1BgMrB7ux2EbQ0Jurt50NxZhZUBAQEBAQEBAQEDgMUUYDAgICAgICAgICAg8pgiDAQEBAQEBAQEBAYHHFGEwICAgICAgICAgIPCYIgwGBO4JkUjEnj179J2MJiMkJASRSER+fr6+k6JF7969+fHHHxsVJjIykmbNmlFSUvKIUiUgICAgICDw/xXhNKEmZurUqezYsYPVq1ezePFizf09e/YwevRoVCrVPcfl4eHBvHnzmDdvns7n5eXlODs7s3DhQi1dNaxYsYJPP/2U69evY2Sk/1NMtm/fzrRp0wD14MPZ2ZlBgwbxwQcfYG9v/1B1RURE/B975x0eVfE14HdTN203vfceIAkl9N6kCygd6YiACoigCAooAiJVsKBSVaQpTZDeCTWEBEgvpADpvW7afn9EdlmyoYmsv8/7Ps8+T3buuefMnMzM3pk5M5dPPvmEy5cvU1hYiK2tLS1btmTdunUv3NaL4sCBA2RkZDBs2DCV9Bs3brBkyRLOnTtHQUEBTk5OdOrUidmzZ+Pt7U2DBg1o1aoVq1at4pNPPnlmu+39WzJ78GSaeftjb2HLgAUT2H/x6GPv6RjQmlWT59PQxZvUrDQ+//Urth7brSIz9dUxzB48GVtzK8ITonj3m0+4FhNWR9fdM0mkHLtDRaEMY0cTvIc2ROJmWq/tzOtpJB6IpTynDANrQzwG+mLpr/o/LUkrJmFvNHmxuchr5BjZGeP/VlPE5gZ19CWfvsOdowlUFMgwcZLgN7wRpm5m9dpPD7lP3P5oyrLLMLQxwud1P6z8bRTX4w7EkH7tHuW55Yh0tJC6SPEa4Iupe12dcrmc8N/CiTsdT0VJBVbeVrQa3xKJ3eNPwIk+FkPEwQjKCsowdzajxZgWWHpaKq4XZRQRsu06mTGZ1FTVYB9gT4uxzTGQKsv/Mm27D/FBX6KvcZ93d+5IP7fuSPUlpBTdZUvkThIKktXadDS2Y5BXP9wlzlgZWvBT1G4OJ51Skenm3IHuTu2xNLQA4G5RGnvi/yQ8O6KOvvHNX2Nq2+FYG5sTkZ7A3MOruXEvqt4yS8TGzO0yiT5+HTA1kHC3IIOPj3zFybjLz6RT0+0bauvauW3BhB27iaxEhqOfPT2nvoK5ff3/84u7LxNzMY6cezno6Oni6GtP57EdsXA0V6t/58LfSQy9g5GlNiWG1Rovtybr2rjmA5naprZeRKYnMPfwGm7cV1/Xhgb2Yu2AuSpp5VUyXBZ3U3y3MjLj425T6OTRHInYmMvJ4cw9vIY7uXfr6NNkf97duQN93Loj1av1+daoXSTW43MHYzsGefbFTeqMlYEFP0ft5kjyaRWZrk7t6ebcASuD2jp3tziNvfF/Ep4dqVZnf4+uDPHujblYSkJBKutu/ExMXqJa2d5unXjFpS2uEkcAYvOS2Hh7d73yM5qMpZ9HF74J28ae+MfXY3UIKwMaQCwWs2zZMvLy8v5RO3p6erzxxhts3ry5zjW5XM6WLVsYPXr0v2Ig8ACJREJaWhp3797lxx9/5PDhw4waNeq59VVWVtZJy8rKomvXrpibm3P06FGioqLYvHkz9vb2//jseUVFxXPfu3btWsaNG4eWlrLZHjx4kFatWiGTydi2bRtRUVH88ssvSKVSlQf/cePG8d1331FVVfXMdo3EhoQnRvL2uo+fSt7V1olDn2/ldPhFGk/pwZq9G9gwczmvBHVUyAzp2I9Vb83n019W03RKL8ITIzm69BesTC1UdGWE3Cfut2hc+3rSfG5bjB0lhK27SkWh+rMoCxLyiNgYhl1bJ5rPa4dVY1turb9O8b0ihUxpVgnXV1zC0MaYpjNb0uKTdrj29kRLp253mHbtHtG7IvHs502bTzpg4ighZM0VZPXYz4vPJfzHUBzbOdNmfgdsGtsS+s01iu4VKv1pY4TfcH/aLuxIyw/aYmBhSMiay1QU1dUZ8UcEUUejaTm+Jb0X9UJHrMOJL05SXVFdr//vXEoi5JcQAl8LoO/iPpg5m3Hii5OUFZQBUFleyfGlJxCJ4JV53em5oAc1VdWcWn4aeY1yMuJl2g5dd1VhW1M+b2XbjFF+r/N7/CHmXlxCcuFd5jSfhkTPRK1dPW09Mkuz2R67j7zyArUyueV5bI/dx7zgpcwL/oKInBhmNZuMo7Gdilz/hl34tMc7rDizmW7fTyAiI56db6zC0shUrV5dbR12j1qNk6ktE3Z9QpuvRzDzwDLSC7OfWacm2/cDLv9+lZCDofSa2p2xK0aiK9Zjx/zdVFXU31+l3E6lWZ8mjFn+BsMXDaa6uobt83dTUV63j722/zqiR06Y1GS5NV7XXnmHlWe30P37iURkxLPjjZVYGprWW/bC8mIareiv+AStGaxyfcvQJbiY2TFmx0d0+348dwvS2T1qNYa6qkeKarI/b2XbjJG+r7Mn/hAfX1xKStE95gS9i0TPWK1tfS09Msuy2RHzOJ/nsyNmH/MufsHHF5cRkRPLzKaTcXjE5wCdHFsyOWAEP0XuY/KJ+STkp7Cs/WxM9dX/zwOtfDmVcpn3zy7l3dOfkVWWw5ftZ2MprjtAbmvfDD8LD7LLnv8oU2EwoAG6deuGra0tS5cufazchQsXaN++PQYGBjg5OTFt2jTFw2qnTp1ITk7mvffeQyQSIXq0p/uLCRMmEBsby4ULF1TSz549S2JiIhMmTODatWt0794dS0tLpFIpHTt2JDQ0tN58qQuhCQsLQyQSkZSU9FT5rw+RSIStrS329vb06tWLadOmceLECcrKah8mNmzYgJ+fH2KxGF9fX7799lvFvUlJSYhEInbu3EnHjh0Ri8Vs27atjo3g4GAKCgrYsGEDTZo0wc3Njc6dO7N69Wrc3FTPYr5+/TpBQUEYGhrSpk0bYmJiFNcSEhLo378/NjY2GBsb07x5c06cOKFyv6urK4sWLWL06NFIJBImTZr0XL7Jysri1KlT9OvXT5FWWlrKuHHj6N27NwcOHKBbt264ubnRsmVLVqxYwffff6+Q7d69O7m5uZw9e/ax/lfHkWun+WTLcvYFH3kq+cl9R3EnPYVZ3y8iOiWeb/Zv4bdzh3jvtTcVMjNfn8SPh7ez5eguolLimPzVHEpl5YzvobrqkXriDvZtnbBv44SRvQk+IxqhpavN/Yt1Z5wAUk8lYd7QEpdX3DGyM8b9VW9MnKXcPZOkkEncH4tFIys8X/fFxFmKoZURVoE26D00M/2ApOOJOLV3xrGtM8b2JjR8IwBtPW3uBaeotZ988g6WDa1w6+GJsZ0JXgN8kThLSTmltG/f0hHLBlYYWhlh4mCC75AGVJVVUXS3UEWXXC4n6kg0AQP8cQ5ywszZjHZT2lKaX0pKiHr7AFF/RuLV2QvPTp6YOprSakIrtPW1iT+bAEBWbBYlWSW0easNZs5mmDmb0XZKW3Lu5JAWka4R2wXJ+eREZ2vU533cunIqNZiz9y5xrzidjRHbqaiuoJNja7V2EwuS+TVmD5fSQqiqUf/QGpp5i7CsCNJLs0gvzWRX3AHKq2R4mqr2M5NbD+OX0D/YEfYnsVlJzD64nLLKcoY36atW74gmfTAzkDBmx0dcTb1Fan46l5LDiMiIf2admmzfUFvXrh64TtshrfBu5YW1mzX93utNUW4xMZfj6s3HsE8HE9CtEVYulti4WdN3Ri8KswpJj89QkctIzODKvmv0md7zX1Nujda1VkOV9SI7idkHV/xVL/rUW3Y5crJKch/6KCcy3c2dCHJqxIeHVhJ2P5qEnFQ+OLgSA119BjbqpqJHk/15L9cunE4N5ty9y9wrSWdTxHZk1RV0dGij3ueFyWyP2cvl9OtUydX7/EbWLcKzI8j4y+e7H/hcWvedDoO8e/LnnTMcTT5PctF91oRuQVYto6drRzWaYenV9RxIPElCQQqpRWmsDNmISKRFE+sGKnKWYjPebTyKJVfXU1VT/0TNkxAGAxpAW1ubJUuWsG7dOu7eVd8IEhIS6NmzJ6+//jo3b95k586dXLhwgXfeeQeAPXv24OjoyGeffUZaWhppaWlq9fj7+9O8eXM2bdqkkr5582batGmDr68vRUVFjBkzhgsXLnD58mW8vLzo3bs3RUVFanU+DU/K/9NiYGBATU0NVVVVbNu2jfnz57N48WKioqJYsmQJn3zyCVu3blW5Z86cOUyfPp2oqCh69OhRR6etrS1VVVXs3bv3iWFZ8+bNY+XKlYSEhKCjo8P48eMV14qLi+nduzcnT57kxo0b9OzZk379+pGSovrQsmLFCgIDA7lx4waffPLJc/nmwoULGBoa4ufnp0g7evQo2dnZfPDBB2rvMTU1Vfytp6dH48aNOX/+/GPL+yJo7deUEzdUB59Hr5+ldYOmAOjq6NLM258Tocq8yOVyToSeV8gA1FTVUJRSiLmfclZNpCXC3M+SwkT1q2oFiXmY+1qqpJk3sKQwMb/WTo2cnFuZGFobEbb2KudnnyDki2CywtLr6KqpqqEwuQALP6U+kZYICz9L8hPU289PzMWigZVKmmVDa/LryW9NVQ2p51LQMdDBxFE1/KY4s5iy/DLsGilnmfQM9bDysCQrLvtRVQBUV1WTcycXu0a2Knm2a2RHVlxWrUxlNYhAW1dbIaOtq41IJCIzJlNjtvPiczXmc22RNm4SZ25nRyvk5Mi5nR2Nl6m7Wj3PiggRre2C0NfRIy5fudSvq61DoL035xJDlLblcs4lhhDk2FCtrh4+7Qi5e5sv+rxPxKwDnJ36E9Pbj0JLpPXcOp+WF9W+H5CfUUBJXglujV0UaWIjfey97bgXff+p8yUrqZ1dFpsoZ6MryyvZt+IQPSZ3w9hM/Qzw0/Kiyq3RuqalQ4C9N+cTr6vYflK9MNIzIGT6bkJn/MbWoUvwsXJVXHvwosTyKuWKjBw5sqoKWjgHKNI02Z8rfJ6jnMyTI+d2TjRepi/mZWwiRLSybYa+jh7x+aqhPDoibbxNXQnNVIZsyZETmhFJAwvPp9Kvr6OPjpY2RZXKSUMRIua0eItdsX+SXHjvb+Vf2DOgIQYOHEjjxo1ZsGABGzdurHN96dKljBw5UrEfwMvLi7Vr19KxY0e+++47zM3N0dbWxsTEBFtb2zr3P8yECROYNWsWa9euxdjYmKKiIn777TfWrl0LQJcuXVTkf/jhB0xNTTl79ix9+6qfmXoST8q/+CneSBgXF8f69esJCgrCxMSEBQsWsHLlSl577TUA3NzciIyM5Pvvv2fMmDGK+2bMmKGQUUerVq2YO3cuI0aMYPLkybRo0YIuXbowevRobGxsVGQXL15Mx461I/c5c+bQp08fysvLEYvFBAYGEhgYqJBdtGgRe/fu5cCBAyoP9l26dOH9999XfJ84ceIz+yY5ORkbGxuVEKG4uNpZM19f3yf6EsDe3p7kZPXxkTKZDJnskaXaGjloPfvbG23NrcnIy1JJy8jLRmokQawnxsxEio62jloZXydlx1hZXIG8Rl5nhkfPRJ/S9GK1tisKZeiqkX8QYlJRVEG1rJrko4m4v+qNx0BfciKyuPV9KE3ea4mZt/KHqqIe+/oSfUrqsS8rkKFnUldeVlCukpYZnkH4j9eprqhGXyqm+Xut69z3ILRGLFWtD2KpgeJaHftFMuQ1cpXYfwADqZjC+7VL3VZeVujo6xC6PZQmQ5sgl8sJ3XEDeY2csvwyjdmWFZRrxuclVUj0jNHW0qagQnV1pqCiEHtj1T7hWXEytuez1rPR1dKlvFrGqtDvuVesfFgxN5Sio6VDVrHqEn9WSS6eli6PqgPAxcyedm5N+f3mcYZvm42buQPL+ryPrpYOK85ufi6dT8uLat8PKMmrfbgxMjVSSTcyNVJcexLyGjknfjyFo58D1i7KgeHxDadw9LXHu5XXU+l5HC+q3P+KulbyaL3Iw6ueepGQk8KM/V8QmZGARGzM1NbDODj+Ozp8O5q0oizispNJzU9nXte3mH1wOaUV5bzVeggOUhtsjJX9qSb7c5N6fF4oK8Le6O/7fGGrWQqfrw79gXslqoMRqb4J2lra5JWr2s+TFeAkqRtSpI43/YeSU5bH9QzlgGKYTx+q5dXsiT/2t8oAwsqARlm2bBlbt24lKqruxp3w8HC2bNmCsbGx4tOjRw9qamq4c+fOM9kZPnw41dXV7Nq1C4CdO3eipaXF0KFDAcjIyODNN9/Ey8sLqVSKRCKhuLi4zgz3s/C8+S8oKMDY2BhDQ0N8fHywsbFh27ZtlJSUkJCQwIQJE1R0fv755yQkJKjoCAoKemL+Fi9eTHp6OuvXr6dhw4asX78eX19fbt26pSIXEKCc2bCzq220mZl/zZ4WFzNr1iz8/PwwNTXF2NiYqKioOn57ND/P45uysrI6g4Rn2WwOtasspaWlaq8tXboUqVSq8uHO868M/Wv5y2dWgdY4d3PDxEmCa08PLP2tuXfu+ev7s2Lua0Gb+R1p9WE7LBtaEfZ9CMmnk/h13HbFp6b62f6/T4tYIqbj9A6kht7l1/Hb2TFxJ7lJuSCC+LPxL912ZWkFEmdpvaGOLwp1Pq9vH8KL5H5JBnOCl/DJpS85kXKOKQFjcDB+/ATOk9ASaZFdks/7f3zJzbQY9kecYs35nxgT1P8F5fqfw6REm+WD1yg+1VU1f1vnkfXHyUrJZsAHyjDK2CvxJN9MofubXR5z5/8v/om6FnI3gt03jxKREc+l5DDG7ZpHTmk+o4NeBaCqpprxu+bhYeFE7IeHSZp3nLauTTkRd4ka+d//3z6Wf0F/fr8kg7kXlzL/8pecTD3P5IDROBj9PZ8/yjCfvnR2asmCS2uprKndB+ll6sprXq/w5bUfX4gNYWVAg3To0IEePXrw0UcfMXbsWJVrxcXFvPXWW0ybNq3Ofc7Ozs9kRyKRMGjQIDZv3sz48ePZvHkzQ4YMwdi4dtl0zJgx5OTk8NVXX+Hi4oK+vj6tW7eud7Prg9nphx9GH92o+7z5NzExITQ0FC0tLezs7DAwqJ1lzMiojQP98ccfadmypco92traKt+NjFRnmOrDwsKCwYMHM3jwYJYsWUKTJk1YsWKFStjRw5urHzys1NTUdnCzZs3i+PHjrFixAk9PTwwMDBg0aFAdvz2an+fxjaWlZZ0N597e3gBER0fTurX6WNOHyc3NxcPDQ+21jz76iJkzZ6qkSQf6qZV9Eum5mdiYqYZt2JhZUlBSSHlFOdkF1VRVV6mVSc/LVHzXNdZDpCWqs7msokimNr4fQE+iT6Ua+Qcn1TzQaWinumnL0NaYgnhV/+rVY19WKFM5+eZh9KX6dTYCywpl6D8yw66jr4OOtQ5YG2HqYca5eaeoKCyn71Jl3G7NXw9J5QXlGJoZKtLLC8owc6l7YgqAvok+Ii1Rndn7soJyxKbKGXv7AHteWzOQ8sJytLS1EGmJ+H36Hjw7eeLdxeul2tYz0mPH5F3YWRm+dJ/fvZCCSUd7CiuKqa6pRqqnGqol1ZOQL1OdzXtWquXVZJTWzhbfKUzBXepKT5cubIyoPSI4t7SAqpoqrIxV/WplZE5mcY5anRlF2VTVVKs8bMVmJWNjYomuts5z6Xxa/m77LjaoZsIS5UpudWVtnHNJfgnG5spQnpL8Emzcn3yy29H1J4i/lsiopcOQWCrbdfLNFPLS81k5bK2KvH22PmX6Ndy1KX9U1WN5Uf3av6KuGT1aL8yeul5U1VRzKy0ONzNHRdrNtFi6fj8eE30j9LR1ySnN5/CE7wlLU4ZCabI/L6rH5xJ9EwpeoM+TClNxl7jQw7UzmyK2K2QKZEVU11RjJla1b6YvJbeezckPGOzdi+E+fZh9/ksSC1IV6f6WPpjqS9jee7UiTVtLm8mBw3nd65VnLoewMqBhvvjiC/744w8uXbqkkt60aVMiIyPx9PSs89HT0wNq48Crq59uw8iECRO4cOECBw8e5OLFi0yYMEFxLTg4mGnTptG7d28aNmyIvr4+2dnq44IBrKxqO7uH9ymEhYU9c/7VoaWlhaenJ+7u7oqBAICNjQ329vYkJibW0ffopt/nQU9PDw8Pj2c6TSg4OJixY8cycOBA/P39sbW1VdlAXR/P45smTZqQnp6uMiB45ZVXsLS05Msvv1R7z6PvSLh9+zZNmjRRK6uvr49EIlH5PE+IEMClqFC6Nmmnkta9aQcuRdZuSq+squR67C0VGZFIRNcm7RQyAFo6Wpg4S8iLVv5IyWvk5EXnIFFzDCeA1N2M3GjVH7XcqGwk7qZKna5SSjNUl6VLM0oQW6g+PGrpaCFxkZITpWwL8ho5OVHZmHqot2/qbq4iD5ATlaX22NCHkcvlIBIhsZUoPlIHKQamBopNvQAVpRVkJWRj5WWpVo+2jjYWbuYq98hr5KRHpGPlZVVHXiwRo2ekR3ZiNhUlFXh18nzpttMi0qgokmEVaPvSff5g0FMtr+ZOYQqNLHwU10WIaGjpoxJz/SLQEonQ1VLOw1VWVxF+P5b2bs2UtkUi2rs3I+Ru3WMhAa6m3sLV3EFlNcXDwon0omwqq6ueS+fT8nfbt1wLzO3NFB9LZwuMzIxIClfO5MpKZdyPTcPB177efMjlco6uP0HMpThGLh6Kqa2pyvXWg1owcd1YJqwdo/gAZJlVkG7x7CtCL6pf02hdq6ni5v1Y2rs/VC94tnqhJdLCz8adDDWDhyJZCTml+biZOxJo78ORaOUeC0325w983vARnzey8CEu/9kiLZ6E6BGfA1TJq4nNT6KJtXJfhggRTawbEJkT/6gKBUO9e/OGX3/mXFhBbJ5qPk+kBPPm8XlMOvGx4pNdlsuumD/58PzyZ863MBjQMP7+/owcOVIRv/+ADz/8kIsXL/LOO+8QFhZGXFwc+/fvV4lFd3V15dy5c9y7d++xD+9Quwrh6enJ6NGj8fX1pU0b5Q56Ly8vfv75Z6Kiorhy5QojR45UeRB/FE9PT5ycnFi4cCFxcXEcOnSIlStXPnP+n5VPP/2UpUuXsnbtWmJjY7l16xabN29m1apVz6Tn4MGDvPHGGxw8eJDY2FhiYmJYsWIFf/75J/37P/0yu5eXF3v27CEsLIzw8HBGjBihWDV4HM/jmyZNmmBpaUlwcLAizcjIiA0bNnDo0CFeffVVTpw4QVJSEiEhIXzwwQdMnjxZIZuUlMS9e/fo1q2bOvWPxUhsSKBHAwI9ak8xcLN1ItCjAU5WtT/US8bPYesHaxTy6w/+jLutM8smzsPHyYMp/UYzpGNfVu9RLmeu+v0H3uw9nNHdB+Hr7Ml305ZiJDZg89GdKradurlx/0IqaZfuUpJWTMz221RXVGHfpnZWKnJzOAl7lbNPTl1cyY3IIuV4IiXpxST+EUtRcgGOnVwVMi7d3ckMSePe+RRKM0u4ezqJnFuZOHSsGzPr2t2du+dTuHcxleK0IiK23aS6ohqHtrUrODc33iBmjzLMz6WrG9kRmdw5lkBxWhFxB2IoSMrHuUut/SpZFbF7oshPyKMsp5SC5HxubQlDlleObTPVBx+RSIRfT19u7b1F6vVU8lLyCP4uGENTQ5yDlCtIxxYfJ/qo0gd+vRsQdzqOhHMJ5N8r4PKmK1SVV+HZUbkqFH8mnqy4LIoyiki8kMjZr87RoJcfUnupRmy7dnPH2NZYoz4/dOcknZ3a0cGhFfZGtoxvOBx9bX3O3q2dqJkSMIZh3sr+QVukjYuJIy4mjuhoaWOmb4qLiSM2hsqBzzDv/viaeWJpYI6TsT3DvPvjZ+5F8P2rKv/r9Zd28EazfgwN7ImXpQvL+8zCUNeAHTcOAfD1wI+Z1/UthfyWa/swM5CwuOd03C2c6ObVmhntR7Hp6p6n1vkATbZvqK1rLV5tRvDOS8ReiSczKYs/Vv2JibkxPg/F+m+bt5OQg8qH6qPfneD2mUj6z+qLnoEuxXnFFOcVUymrXaU2NjPG2sVK5QNQqS2nSkeu0XJrtK5d3snIpn0Z8le9+LLv+7X1IuxPANYNmKdS12Z2GEtH9+a4mNrhb+vNtwM/wVFqy7bQgwqZfg060calMS6mdvT0aceuUas4HH2es4nXVGxrsj8/nHSKzo5taW/fEnsjW8Y1HFbr83u1Pp/sP4ah9flcpI2ZuK7Phz7i86EKn6uWG+C32CP0cevIKy7tcDaxZ0bTMYh19DmadA6AD5tPYkIj5ZGtw3z6MLbh66wI2UB6STZm+lLM9KWItWtXRQorikkqvKfyqaqpJre8gLvF6XXsPwkhTOhfwGeffcbOnaqdRUBAAGfPnmXevHm0b98euVyOh4eHIs7/wX1vvfUWHh4eyGSyx8aQi0Qixo8fz9y5c/noo49Urm3cuJFJkybRtGlTnJycWLJkCbNmzapXl66uLtu3b2fKlCkEBATQvHlzPv/8cwYPVlbkp8n/szJx4kQMDQ1Zvnw5s2fPxsjICH9//3pfulYfDRo0wNDQkPfff5/U1FT09fXx8vJiw4YNz/ROg1WrVjF+/HjatGmDpaUlH374IYWFT15yfB7faGtrM27cOLZt26ayqbt///5cvHiRpUuXMmLECAoLC3FycqJLly58/vnnCrnt27fzyiuv4OLy7JsHg7wDObNS+WKd1VMWArDl2C7GLZ+JnYU1ztYOiutJ6an0+XgMq6csYPrA8dzNTmPiqtkcC1Eea7rr7B9YmVrw2ZhZ2JpZEZYQSc+5o8jMVx3U2gTZU1lUQeIfsVQUVmDiaELguy0Uy8rluWXw0AKG1MOMhhMak3ggloT9sRhaG+I/uRnGDsplZKsmtviMaETykQTidkViaGNEo0lNMfWsG/5i19yBiqIK4vbHICuUIXGSEDS9pWKZuuwR+2ae5gRObErsvmhi90ZjZG1E07ebY+JQuzws0hJRkl7MjUshVBRXoGeki9TVlJYftMXEoe550w37NaRKVsWlDZepKK3A2tuabnO6oq2nDI0ryiii/KEwGbfWrsgKywn7LZyy/DLMXczoOqeLysbegrRCQnfeoKK4AiMrIwL6++PX209jti06KjfRvWyfl/21Gng5/ToSPWMGefXFVF9CcuFdvri2joKK2r0zlmJzlT7WTCzli3bzFN/7uXenn3t3InNiWXS1duleomfC1ICxmIollFaWk1J0jy+ureNWjvKBB2B/xCksjEz5oPNErI3NuZ0ez7Bf3lcc4eggtVEJCbpfmMnQn2fyWc9pnJmyhfTCbH64spt1F7Y9tc4HaLJ9P6DV6y2oKK/k8NdHKS+R4dTAgaGfDkJHT/mIkp+eT2mhMgQt9HAYANvm7lDR1Xd6LwK6NVJr599Sbo3XNUNTPug04a+X0cUzfNusR+qa0rapgQkr+32AtbE5BeVFhN+Ppe+mKcRmJylkbIwt+PSVd7AyNiejKIfdN4+w6qzqKX+g2f78cvp1TP7yufQvny8L+ZrCv3xuYWCGHGUbMxNLWdJW+bK1vm7d6evWncjcWBZfXaPw+eSAMZjq1/o8tegey0K+5vYjPgc4c/cKUn0TxjZ4DTOxlISCFOZcWE7eX2FK1oYWKv/zfu5d0NPWZWFr1XDirZF7+Slybx39fxeR/Fl3IQoICGiE9PR0GjZsSGho6DM91FdUVODl5cWvv/5K27Ztn/o+UXfHJwv9Q0yeO/jJQv8Qeo/sQXmZWNfzkqn/72SW5GvQ9j/7osHHcfLKrScL/UNkBSdpzPaWbxZqzPbYtzVne9jMfk8W+oc4dfW2xmy/1uHJh3r8UxQ+ekreSyS9WP0pSS+Dk4N+eiZ5IUxIQOB/BFtbWzZu3PjMpzylpKQwd+7cZxoICAgICAgICPw3EMKEBAT+hxgwYMAz3/Ngc7KAgICAgICAwKMIKwMCAgICAgICAgIC/1GEwYCAgICAgICAgIDAfxRhMCAgICAgICAgICDwH0UYDAgICAgICAgICAj8RxGOFhUQEFDL1tgNGrN9vyhTY7ZznvB6+H+Si4nJGrOtSdq4P/v7L14UgVbeGrN9p+Cexmy7SOt/u+8/jSaP99TksaZaPN9b3V8Emqxrj76R92XiaGKjMduDPYZrzLZY2/CZ5IWVAQEBAQEBAQEBAYH/KMJgQEBAQEBAQEBAQOA/ijAYEBAQEBAQEBAQEPiPIgwGBAQEBAQEBAQEBP6jCIMBgf8ECxcupHHjxprOhlpcXV1Zs2aNprMhICAgICAg8B9Ec1u8BQSewNixY9m6dSsAOjo6mJubExAQwPDhwxk7dixaWi92LDt27Fjy8/PZt2/fC9X7gC1btjBjxgzy8/NV0q9du4aRkdFz65XJZEycOJH9+/dja2vLt99+S7du3RTXly9fTkpKCuvWrXtuGwByuZxz24IJO3YTWYkMRz97ek59BXN7s3rvubj7MjEX48i5l4OOni6OvvZ0HtsRC0dztfp3LvydxNA7dH6vMy7NnVWuhf0WRuzpOCpKKrD2tqb1+FZI7CSPzXPUsWhuH7xNWUEZ5s7mtBzTAitPK8X1woxCQraFkBGTSU1VDQ4B9ngP80NfKlbI3DmZSMKROGQFMiROUhqNDMDMvf4y3792j+i9UZRll2JkY4zf4AbYBNiqlCVmXzQp55KoLK3E3NMC/9GBGNsY19H1mvcrjGzYD3MDKfF5Kay6upmonAS1djs6NWe0/wAcTWzR0dImtTCdHZGHOHLnPADaIm3eajyU1g6NsTexpriilJC023x3YzvZZXn/Ktua9LlcLufstguEHbtJeYkMRz8Hek/tjrl93Tr7gODdl4m+GKtSz7uO7YiFo4VC5qePtpNyO1XlPs8unrQc31LF9s3fbxJ/Op7K0kqsvK1oPq45EtvH1/OY4zFEHYqirKAMM2czgkYHYelhCUBxVjH739uv9r6BH76KXzsfhe2X1b6NLLUpMaymvX9LZg+eTDNvf+wtbBmwYAL7Lx59bFk7BrRm1eT5NHTxJjUrjc9//Yqtx3aryEx9dQyzB0/G1tyK8IQo3v3mE67FhKnV9zLLPXjuQHxae6lc+6/UtU7TOuLaylVh+2X15wPe7ouxmfL39WX6PHpIAp8s/Fjx/cTxk+ze+RtREVEUFBSw8/cd+Pr5PLbMAMeOHOebdd9y/959nF2cmTFzGu07tlcp07dff8ee3XspKiqicZNAPvt0Ea6urk/U/QBhZUDgX03Pnj1JS0sjKSmJw4cP07lzZ6ZPn07fvn2pqqrSdPYAqKio+Fv3W1lZYWj4bMeAPcwPP/zA9evXuXTpEpMmTWLEiBE8ODH4zp07/PjjjyxevPhv5RHg8u9XCTkYSq+p3Rm7YiS6Yj12zN9NVUX9/4eU26k069OEMcvfYPiiwVRX17B9/m4qyuv67Nr+64jqOXnv9h+3iTwaRevxreizqDc6Yh2OfXGcqorqem3fuXSHa79co/Frgby6uB/mzmYc/+IEZQVlAFSWV3J86XEQieg5rwe9F/SiuqqGq2svI6+p9d+9q3eJ3Hkb71d96bCgExInCVdWXURWKFNrMzc+h9DvQ3Bu70KHhZ2xbWLLtXVXKLxbqJBJOBzHnRMJBIxuTPuPO6Ktr82VlReprlQtS1eX1kwLGsWmm78x7tBHxOcls7rrR5iJ1f9gFlaUsPXWPiYd/oTRf3zInwlnmdtmMi3tAgAQ6+jhbeHK5lt7GHfoI+aeXYWz1J5lnWfV0aVJ25r0OcCl369y7WAovaa+wrgVb6An1uXXJ9Tz5NupBPVpwrjloxi5aAg11TVsU1PPm/QIYMZPUxWfpsOaqlyPPBhJzLEYWoxvQY9Pe6Cjr8PpZaepfkw9T7qcROi2UPwH+tP7896YOZtxetlpygvKATC0MOS1r19T+QS8HoCegS4ezdwUejTRvo3EhoQnRvL2uo/ryKvD1daJQ59v5XT4RRpP6cGavRvYMHM5rwR1VMgM6diPVW/N59NfVtN0Si/CEyM5uvQXrEwt1OrUZL/2X6lrOmIdHBo7KPS8zP5816LfFf35y/b5e7NmqFwvKyujSdPGzHh/Wr22HiXsRhhzZn/EwNcGsPP37XTu2okZ784kLi5eIbN54xa2/7KdjxfM5ZcdP2FgYMCECROQydT3meoQBgMC/2r09fWxtbXFwcGBpk2bMnfuXPbv38/hw4fZsmWLQi4/P5+JEydiZWWFRCKhS5cuhIeH19H3/fff4+TkhKGhIUOGDKGgoPZM+YULF7J161b279+PSCRCJBJx5swZtXnq1KkT77zzDjNmzMDS0pIePXoAsGrVKvz9/TEyMsLJyYmpU6dSXFwMwJkzZxg3bhwFBQUK/QsXLgTqhgmlpKTQv39/jI2NkUgkDBkyhIyMjHp9FBUVxauvvkrDhg15++23ycrKIjs7G4ApU6awbNkyJJLHz7g8CblcztUD12k7pBXerbywdrOm33u9KcotJuZyXL33Dft0MAHdGmHlYomNmzV9Z/SiMKuQ9HjV8mQkZnBl3zX6TO+p1nbkkSgCBwTgHOSMubM57ae0ozS/lJSQlHptR/wZiXdnL7w6eWHqaErrCa3R0dcm7mxtJ5oZm0lxVgnt3mqLmbMZZs5mtJ/SjvykfLKjsgBIPJqAcwcXnNu7YOIgIWB0Y7T1tEk5r/59AHeOJ2LVyBrPXl6Y2Jvg+1oDpC6mJJ1KVJQl8XgC3v18sG1ih8RJSpOJzSjPLyc9NE3Vdw36cCDuFIcSzpJUcI8vL29AVl1BX49Oam3fyIjkXOo1kgvvc684g13Rh0nISyHA2heAksoyZpxYwqnky6QUphGRHc+qq5vws/DAxlD1QUmTtjXp89p6HkK7Ia3xaeWFjZs1r77X54n1fMSngwns5q+o5/1m9KYwq5C0R+q5rr4uxmbGio+uoa6K7egj0TTq3winZk6YOZvRenJrSvNLSb2e+qhJBdGHo/Hs7IlHRw+kDlJajGuBtr42CWdrV3G0tLQwMDVQ+aSGpOLXzhc9A72Hyv3y2/eRa6f5ZMty9gUfqdfGw0zuO4o76SnM+n4R0SnxfLN/C7+dO8R7r72pkJn5+iR+PLydLUd3EZUSx+Sv5lAqK2d8j2F19Gm6X/uv1DW3Vq7oinUVtl9mf34/Pp07N5M14nNjY9WVx36v9mXy1Ldo2bpVvbYeZdvP22nTrg1jJ4zB3cOdd6a9jV8DP3Zs26Eo07affuXNt96kc9fOePt48/kXi8jMzOTEiRNPbUcYDAj8z9GlSxcCAwPZs2ePIm3w4MFkZmZy+PBhrl+/TtOmTenatSu5ubkKmfj4eHbt2sUff/zBkSNHuHHjBlOnTgVg1qxZDBkyRLESkZaWRps2berNw9atW9HT0yM4OJj169cDtR3h2rVriYiIYOvWrZw6dYoPPvgAgDZt2rBmzRokEolC/6xZdWdFa2pq6N+/P7m5uZw9e5bjx4+TmJjI0KFD681LYGAgFy5coKysjKNHj2JnZ4elpSXbtm1DLBYzcODAZ3OwGvIzCijJK8GtsfLlUGIjfey97bgXff+p9chKamcqxCbKMJzK8kr2rThEj8ndMDarG7ZRnFlMWX4Zdo2UL0nSM9TDysOKrLgstXaqq6rJuZOjco9IS4RdI3vFPTWVNSACbV1thYy2rjYikYjcuBxqqmooSM7HsoGVig7LBlbkJSjr1cPkJuRi9ZA8gHUja/Lia+VLs0qRFchUdOoa6mLqbqaiU0dLGx9zN0LSbynS5Mi5lnaLRk/5kqxmto1wltoRlhlVr4yRriE18hqKKkv/FbY16XOorefFauq5g7cdd5+jnhs8VM8Bbp+JZOWIdXz/9iZObT1LlUw5G1mcVUx5QTm2jZThTXqGelh6WJIdl63WTnVVNbl3crFtqLxHpCXCtqEt2fHq78m5k0Nech6B3f1Vyq2p9v0stPZryokbF1TSjl4/S+sGtbPeujq6NPP250ToecV1uVzOidDzCpmH0WS5/0t1zauTMjRKE/15auRd4OX7vKys7Kl11sfNsJu0at1SJa1N29bcDL8JwL2798jOzqblQzImJiYEBgZy48aNp7Yj7BkQ+J/E19eXmzdrG8OFCxe4evUqmZmZ6OvrA7BixQr27dvHb7/9xqRJkwAoLy/np59+wsGhdrly3bp19OnTh5UrV2Jra4uBgQEymQxbW1v1Rh/Cy8uLL7/8UiVtxowZir9dXV35/PPPmTx5Mt9++y16enpIpVJEItFj9Z88eZJbt25x584dnJycAPjpp59o2LAh165do3nz5nXuGT9+PDdv3qRBgwZYWlqya9cu8vLymD9/PmfOnOHjjz9mx44deHh4sGnTJkX5H0Ymk9VZUqysqERXr3Y2pySvBAAjU9W9DUamRoprT0JeI+fEj6dw9HPA2kX5YHZ8wykcfe3xbuWl9r4Hy8AGUtWO10AqVlyrU54iGfIaudp7Cu7XrgZZeVmho69DyPbrNBvaFLlczvUdochr5JQXyKj4S4e+RFWHvkSf4rRi9XYLytXKl/8V4iIrLP8rra6MrEDpf1N9CTpa2uSWqb4NObe8ABdp3f/fA4x0Ddj/+nfoaetQLa9hxZVNXEu7pVZWT0uXqU1HcDzpIqWVSj9q0rYmfQ5Q/Nh6rt7+o8hr5Bz78WSdet6oox9Saykm5sZkJGVyastZUpPu02FGBwDK82vzaSAxUNEnljy5nosfqediqZjCtEK19yScSUBiL8HRT/m/1GT7fhZsza3JyFN9YMzIy0ZqJEGsJ8bMRIqOto5aGV8nzzr6NFnu/1Jds/a2VqRpoj8vzq319cv2+dz8j1m9duVT6a2P7OxsLCxU9zNYWFqQnZ2juF6b9oiMhYXi2tMgDAYE/ieRy+WI/grEDA8Pp7i4GAsL1XCDsrIyEhKUGx6dnZ1VHoRbt25NTU0NMTExTzUAeJhmzZrVSTtx4gRLly4lOjqawsJCqqqqKC8vp7S09Kn3BERFReHk5KQYCAA0aNAAU1NToqKi1A4GdHV1+eabb1TSxo0bx7Rp07hx4wb79u0jPDycL7/8kmnTpvH777/X0bF06VI+/fRTxXcTExPsHe3R0a3tIobMf/2p8v84jqw/TlZKNqOWjVCkxV6JJ/lmChO+GqMie+7rc4i0av+/3T7o+rdtq0MsEdNpekcub7pM1NEoRCIRbm3ckLpI643x/bdTWlnOmEMfYqgjJsi2EdOCRnG/OJMbGZEqctoibRZ1mI4IEcuvbPyft/28lOaUsmzwasX3YS+gnh/+q56PWTZSJb1pz8aKv61drchKzubib1fYMX4HIpGITrM6/W3bT6KqooqkS0k4BDqwfPAaRfrLbt+awqREW6Pl3rP8AFratQEZ/6W69su4bYr0l9mfW3paIhKJCD9xi9tnI1+6z0/9doqWTVsjEon49vuvaRpUd3Xq34IwGBD4nyQqKgo3t9rNb8XFxdjZ2amN8Tc1Nf1H7D96+k9SUhJ9+/ZlypQpLF68GHNzcy5cuMCECROoqKj4WxuEn5XTp08TERHBhg0bmD17Nr1798bIyIghQ4bw9ddfq73no48+YubMmYrvJSUl/HJ7i2Iw8GCjZUl+CcbmyiXvkvwSbNyteRJH158g/loio5YOQ2JpokhPvplCXno+K4etVZGvrqzGwsOCjm93oLqq1nZZQTmGZko/lhWUY+6i/gQIfRN9RFoiyv7a2PbwPQamytkwhwAHXl/zOuWF5Yi0tdA30mP75B0YtjBC7y8dD2aWHyArlKEv1VdvVypWKy+W1Mo/mJ2WFZYjNhWryEidpTyYp86XFVJVU425gVRFl7lYSm5ZvlrbUBvOc6+oNo41Li8ZF6kDoxv1V3kg1xZp83mH6dgaWfHu8UUqM/Oatq0Jn4/4cJAi7eF6blKnntvUW/YHHFl/nLhrCYxeOlylnquj+avNuPjbFYLGBGHjY6Os54VlGJgp62h5YTlmzupPtnlQz8sfqeflBeUYSA3qyKdcTaFaVk3A4AB6jlWeOPay27d9tj5l+jXctSl/VNVjSc/NxMZMNSTMxsySgpJCyivKyS6opqq6Sq1Mel4mxQbVTFiifEB/6f1aVTXWrlYMnNXvP1XXmg5uokh/mf25lpaIPTP20vgVf5q8EqgRn8/5+EOaNWuKtc2T65M6LC0tyclRDWfMyc7B0tJCcb02LRcrK2W9z8nJwdfX96ntCHsGBP7nOHXqFLdu3eL112tH+U2bNiU9PR0dHR08PT1VPg8aCtRuzL1/XxkXePnyZbS0tPDxqT3aS09Pj+rq+k8zeBzXr1+npqaGlStX0qpVK7y9vVVsPa1+Pz8/UlNTSU1VbuKKjIwkPz+fBg0aPDEf5eXlvP3223z//fdoa2tTXV1NZWUlAJWVlfXa19fXRyKRKD52dnZYu1hhbm+Gub0Zls4WGJkZkRSu3OAlK5VxPzYNB197tTqhdgXn6PoTxFyKY+TioZjamqpcbz2oBRPXjWXC2jGKD0CL0S3o9G5HJLYSTB1MMTA1IC1CudmzorSCrIQsrLxUf/QfoK2jjYWbhco98ho5aRFpau8RS8ToG+mRFpGGrEiGbWNbtHS0kLqYKjYTP9CRHZWFmYf6Hy1zD3MVeYCsiCzMPGvlDa0M0Zfqkx2plKksqyQ/MU9FZ1VNNTG5d2hm20iRJkJEkG0jbmfFqrWtDi2RCF0t5cbBBw/jThI7pp/4nMKKukvjmrT9sn1u4WOpqOMP6rmxmRFJ4crNyrJSGfdi03B8Qj0/sv44MZfiGLV4KGaP1HN15KflA2DhZoGJrQlSByliqZiMCOWmxMrSSrITsrH0slSrQ1tHG3M3c9Ij0pV5qZGTHpGOpWfdexLOJODQ1AETa5M65X6Z7TvLrIJ0i6c/6eQBl6JC6dqknUpa96YduBQZCkBlVSXXY2+pyIhEIro2acelyFDkWmi03K9M7MprH7z6n6trEluJ4vMy+/PsxGzKisto3M1fYz5v2LABzi7OiMXix99QDwGNA7hy+apK2uVLlwkIrD2pzcHRAUtLS65cvqK4XlxcTHh4OE2aNOFpEVYGBP7VyGQy0tPTqa6uJiMjgyNHjrB06VL69u3L6NGjAejWrRutW7dmwIABfPnll4oH8UOHDjFw4ECCgoIAEIvFjBkzhhUrVlBYWMi0adMYMmSIIkTI1dWVo0ePEhMTg4WFBVKpFF1d3Xrz9jCenp5UVlaybt06+vXrp7Kx+AGurq4UFxdz8uRJAgMDMTQ0rLNi0K1bN/z9/Rk5ciRr1qyhqqqKqVOn0rFjR0U5HseiRYvo3bu3ohNo27Yts2fPZty4cXz99de0bdv2qcrzKCKRiBavNiN45yXM7M0wtZFy7pcLmJgb4/NQTOy2eTvxae1FUN/a5dCj350g4lwUg+YNRM9Al+K/4jL1DfVVTl54FCMLI0ysTRS2G/T04+bem0hsTTCxMiF09w0MTQ1xDlK+i+Do4qM4Bznj18MPgIa9G3B+/QUs3S2w9LAk8nAUVeVVeHVUxg7HnYlD6mCKWKJPVlwWV3+6hnt3D4ztam279/AgbEMopq5mmLqZkXg8gWpZNc7tau3e+PE6YjMxfoMaAuDW3Z2Lyy6QcCQO60Bb7l+5S35SHgFjGivK4t7dg7iDsRjZGGNoZUj03ijEpmJsm9qRnHpXkbcdkYf4uO0UonMSicyOZ6hfb8Q6+hxMOAvAJ22mklWWy/obtadKjGrUn+icRO4VZaCrpUMbhyb0dG+vCMXRFmmzpON7eJu7Mfv0MrREWpiLa2f/CyuKqaqp1pjth3nZPn+Y2noexIWdlzC3N8PUxpQzv5yvU89/mbcDn9beNP+rnh/57ji3z0UxZN5A9Az06tTz3LQ8Is5G4RnkjoGJAZlJmRzbcBprX2vFTKxIJMK3py+3993GxMYEI2sjbv52E0NTQ5yaKcMGTyw5gVOQEz6v1E5i+Pby5dL3l7Bws8DCw4LoI9FUy6px7+iuUrai9CIyYzLpPKszj/Ky23eltpwqHTlGYkM8HVwV6W62TgR6NCC3MJ/UrPssGT8HB0tbxnw5A4D1B3/mnVfHsmziPDYd3UGXxm0Z0rEvfT5Wzvav+v0Htn6wmpDYcK7GhDFj4ESMxAZsPrpT4+WWWkkUD5L/5br2Mvvzlv2DFO8DeNk+bxbUFG8f5aELBfkFpKWlk5WZCdRGFABYWlpgaVU7oJo352Osra2ZPrP2+NGRo4YzYcybbN38Ex06tufIn0eJuB3JJ59+oijTyNEj+PH7Dbi4OOPg6MA3a7/F2tpa5X1DT0IYDAj8qzly5Ah2dnbo6OhgZmZGYGAga9euZcyYMYqXjolEIv7880/mzZvHuHHjyMrKwtbWlg4dOmBjo1z68/T05LXXXqN3797k5ubSt29fvv32W8X1N998kzNnzhAUFERxcTGnT5+mU6dOT5XPwMBAVq1axbJly/joo4/o0KEDS5cuVQxYoPZEocmTJzN06FBycnJYsGCB4njRB4hEIvbv38+7775Lhw4d0NLSomfPnk/1wrDbt2+za9cuwsLCFGmDBg3izJkztG/fHh8fH3799denKo86Wr3egorySg5/fZTyEhlODRwY+ukgdPSU3Uh+ej6lhcrQj9DDtXnZNneHiq6+03sR0K0RT0ujfo2oklVxccMlKkorsPG2ofucbujoKU+OKMwoorxIOdvo1tqN8sJybvwWRll+GeYu5nSf001lSbsgrZDrO0OpKK7A2MqYgP7+2HRR7itxaOFIRVEFMfuiFC/Aavlea8VLycpyS1XWV809LWg6KYjoPVFE74nCyMaI5u+2ROKoPNrVo5cXVbJqbm4Nq30BlpcFLWe2UTkFA+Bk8iVMxRLeDByMuYEpcXnJzDz1BXnltRvmbIwsqUF5fraBjj6zWozH2tACWXUFyQX3+fTCN5xMvgSAlaE57Z1qB5Q/9VXd/P72sc9Uwnletm1QbtbUpM8BWr/egoryCg59fYzyknKcGjgy/NPBKvU8Lz2f0kLlKUjX/6rnPz9Sz/tN70VgN3+0dbS5E5bE1QMhVJRXIrE0wa+NN049XVXkG/RtQJWsiiubrlBRWvsyps4fdEb7oXpenFmM7KF67trKFVmhjPDfwykvKMfMxYzOH3SuE7qRcDYBQ3ND7PxVB0AP0ET7DvIO5MxK5QvDVk9ZCMCWY7sYt3wmdhbWOFsr22NSeip9Ph7D6ikLmD5wPHez05i4ajbHQs4qZHad/QMrUws+GzMLWzMrwhIi6Tl3FJn56jdTarJf+6/WtZfZn3cbqjogeZk+XzFHdfPwmdNnmT9vgeL7h+/PAWDy1LeY8s5kANLT0lVeqNq4SWOWfrmEr9d+w7o1X+Ps4syadavw8lIOgsZNGEtZWRmfLficoqIimjRtzIYNGxQHqjwNIvmDtxMJCAgIPMTW2A0as32/KFNjtnPKC54s9A9xMVH9Wfr/32nj7vJkoX+IwKc8LvWf4E7BPY3ZdpHWHxbxTzP27YUas73lG83Z1kJzJxNosq7pamlu3tnR5Ml7Af4pBnsM15htsfaz7VMU9gwICAgICAgICAgI/EcRBgMCAgICAgICAgIC/1GEwYCAgICAgICAgIDAfxRhMCAgICAgICAgICDwH0UYDAgICAgICAgICAj8RxEGAwICAgICAgICAgL/UYSjRQUEBNQi6u6oMduT5w7WmG097bpnz78srI1MNWZbk2SW5GvQdsmThf4hTl65pTHbWcFJGrOtyeM9NXms6bCZ/TRm+9TV2xqz/VqHJ78w85+iUPbsb7p+UaQX133L+svi5KCfnkleWBkQEBAQEBAQEBAQ+I8iDAYEBAQEBAQEBAQE/qMIgwEBAQEBAQEBAQGB/yjCYEBAQEBAQEBAQEDgP4owGBB4KkQiEfv27dN0Nl4aZ86cQSQSkZ+fr+msqNChQwd+/fXXZ7pn/fr19OunuY1rAgICAgICAv9edDSdgf8aY8eOZevWrSxdupQ5c+Yo0vft28fAgQN5lsOdXF1dmTFjBjNmzFB7vaKiAnt7e2bNmqVi6wGLFi3i66+/5u7du+jq6j5zWV40W7ZsYdy4cUDt4MPe3p7u3buzbNkyrK2tX6it8PBwPvnkEy5fvkxhYSG2tra0bNmSdevWvXBbL4oDBw6QkZHBsGHD6lxbunQpH3/8MV988QWzZ89WuTZ+/HgWLVrE+fPnad++/TPbbe/fktmDJ9PM2x97C1sGLJjA/otHH3tPx4DWrJo8n4Yu3qRmpfH5r1+x9dhuFZmpr45h9uDJ2JpbEZ4QxbvffMK1mLA6uu6eSSLl2B0qCmUYO5rgPbQhEjfTem1nXk8j8UAs5TllGFgb4jHQF0t/1f9pSVoxCXujyYvNRV4jx8jOGP+3miI2N6ijL/n0He4cTaCiQIaJkwS/4Y0wdTOr1356yH3i9kdTll2GoY0RPq/7YeVvo7gedyCG9Gv3KM8tR6SjhdRFitcAX0zd6+qUy+WE/xZO3Ol4KkoqsPK2otX4lkjsJPXaB4g+FkPEwQjKCsowdzajxZgWWHpaKq4XZRQRsu06mTGZ1FTVYB9gT4uxzTGQKsv/Mm27D/FBX6KvcZ93d+5IP7fuSPUlpBTdZUvkThIKktXadDS2Y5BXP9wlzlgZWvBT1G4OJ51Skenm3IHuTu2xNLQA4G5RGnvi/yQ8O6KOvvHNX2Nq2+FYG5sTkZ7A3MOruXEvqt4yS8TGzO0yiT5+HTA1kHC3IIOPj3zFybjLz6RT0+0bauvauW3BhB27iaxEhqOfPT2nvoK5ff3/84u7LxNzMY6cezno6Oni6GtP57EdsXA0V6t/58LfSQy9g5GlNiWG1Rovtybr2rjmA5naprZeRKYnMPfwGm7cV1/Xhgb2Yu2AuSpp5VUyXBZ3U3y3MjLj425T6OTRHInYmMvJ4cw9vIY7uXfr6NNkf97duQN93Loj1av1+daoXSTW43MHYzsGefbFTeqMlYEFP0ft5kjyaRWZrk7t6ebcASuD2jp3tziNvfF/Ep4dqVZnf4+uDPHujblYSkJBKutu/ExMXqJa2d5unXjFpS2uktpT/WLzkth4e3e98jOajKWfRxe+CdvGnvjH12N1CCsDGkAsFrNs2TLy8vL+UTt6enq88cYbbN68uc41uVzOli1bGD169L9iIPAAiURCWload+/e5ccff+Tw4cOMGjXqufVVVlbWScvKyqJr166Ym5tz9OhRoqKi2Lx5M/b29pT8w8cMVlRUPPe9a9euZdy4cWhp1W22mzZt4oMPPmDTpk11runp6TFixAjWrl37XHaNxIaEJ0by9rqPn0re1daJQ59v5XT4RRpP6cGavRvYMHM5rwR1VMgM6diPVW/N59NfVtN0Si/CEyM5uvQXrEwtVHRlhNwn7rdoXPt60nxuW4wdJYStu0pFofrj4goS8ojYGIZdWyeaz2uHVWNbbq2/TvG9IoVMaVYJ11dcwtDGmKYzW9Lik3a49vZES6euX9Ou3SN6VySe/bxp80kHTBwlhKy5gqwe+3nxuYT/GIpjO2fazO+ATWNbQr+5RtG9QqU/bYzwG+5P24UdaflBWwwsDAlZc5mKoro6I/6IIOpoNC3Ht6T3ol7oiHU48cVJqiuq6/X/nUtJhPwSQuBrAfRd3AczZzNOfHGSsoIyACrLKzm+9AQiEbwyrzs9F/SgpqqaU8tPI69RTka8TNuh664qbGvK561smzHK73V+jz/E3ItLSC68y5zm05Domai1q6etR2ZpNttj95FXXqBWJrc8j+2x+5gXvJR5wV8QkRPDrGaTcTS2U5Hr37ALn/Z4hxVnNtPt+wlEZMSz841VWNZz1Kyutg67R63GydSWCbs+oc3XI5h5YBnphdnPrFOT7fsBl3+/SsjBUHpN7c7YFSPRFeuxY/5uqiqq6s1Hyu1UmvVpwpjlbzB80WCqq2vYPn83FeV1+9hr+68jEqmmabLcGq9rr7zDyrNb6P79RCIy4tnxxkosDU3rLXtheTGNVvRXfILWqB79vGXoElzM7Biz4yO6fT+euwXp7B61GkNdsYqcJvvzVrbNGOn7OnviD/HxxaWkFN1jTtC7SPSM1drW19IjsyybHTGP83k+O2L2Me/iF3x8cRkRObHMbDoZh0d8DtDJsSWTA0bwU+Q+Jp+YT0J+Csvaz8ZUX/3/PNDKl1Mpl3n/7FLePf0ZWWU5fNl+NpbiugPktvbN8LPwILssV62up0EYDGiAbt26YWtry9KlSx8rd+HCBdq3b4+BgQFOTk5MmzZN8bDaqVMnkpOTee+99xCJRIge7en+YsKECcTGxnLhwgWV9LNnz5KYmMiECRO4du0a3bt3x9LSEqlUSseOHQkNDa03X+pCaMLCwhCJRCQlJT1V/utDJBJha2uLvb09vXr1Ytq0aZw4cYKystqHiQ0bNuDn54dYLMbX15dvv/1WcW9SUhIikYidO3fSsWNHxGIx27Ztq2MjODiYgoICNmzYQJMmTXBzc6Nz586sXr0aNzc3Fdnr168TFBSEoaEhbdq0ISYmRnEtISGB/v37Y2Njg7GxMc2bN+fEiRMq97u6urJo0SJGjx6NRCJh0qRJz+WbrKwsTp06pTbc5+zZs5SVlfHZZ59RWFjIxYsX68j069ePAwcOKPz4LBy5dppPtixnX/CRp5Kf3HcUd9JTmPX9IqJT4vlm/xZ+O3eI9157UyEz8/VJ/Hh4O1uO7iIqJY7JX82hVFbO+B6qqx6pJ+5g39YJ+zZOGNmb4DOiEVq62ty/WHfGCSD1VBLmDS1xecUdIztj3F/1xsRZyt0zSQqZxP2xWDSywvN1X0ycpRhaGWEVaIPeQzPTD0g6nohTe2cc2zpjbG9CwzcC0NbT5l5wilr7ySfvYNnQCrcenhjbmeA1wBeJs5SUU0r79i0dsWxghaGVESYOJvgOaUBVWRVFdwtVdMnlcqKORBMwwB/nICfMnM1oN6UtpfmlpISotw8Q9WckXp298OzkiamjKa0mtEJbX5v4swkAZMVmUZJVQpu32mDmbIaZsxltp7Ql504OaRHpGrFdkJxPTnS2Rn3ex60rp1KDOXvvEveK09kYsZ2K6go6ObZWazexIJlfY/ZwKS2Eqhr1D62hmbcIy4ogvTSL9NJMdsUdoLxKhqepaj8zufUwfgn9gx1hfxKblcTsg8spqyxneJO+avWOaNIHMwMJY3Z8xNXUW6Tmp3MpOYyIjPhn1qnJ9g21de3qgeu0HdIK71ZeWLtZ0++93hTlFhNzOa7efAz7dDAB3Rph5WKJjZs1fWf0ojCrkPT4DBW5jMQMruy7Rp/pPf815dZoXWs1VFkvspOYfXDFX/WiT71llyMnqyT3oY9yItPd3Ikgp0Z8eGglYfejSchJ5YODKzHQ1Wdgo24qejTZn/dy7cLp1GDO3bvMvZJ0NkVsR1ZdQUeHNup9XpjM9pi9XE6/TpVcvc9vZN0iPDuCjL98vvuBz6VudWQHeffkzztnOJp8nuSi+6wJ3YKsWkZP145qNMPSq+s5kHiShIIUUovSWBmyEZFIiybWDVTkLMVmvNt4FEuurqeqpv6JmichDAY0gLa2NkuWLGHdunXcvau+ESQkJNCzZ09ef/11bt68yc6dO7lw4QLvvPMOAHv27MHR0ZHPPvuMtLQ00tLS1Orx9/enefPmdWaMN2/eTJs2bfD19aWoqIgxY8Zw4cIFLl++jJeXF71796aoqEitzqfhSfl/WgwMDKipqaGqqopt27Yxf/58Fi9eTFRUFEuWLOGTTz5h69atKvfMmTOH6dOnExUVRY8ePerotLW1paqqir179z4xLGvevHmsXLmSkJAQdHR0GD9+vOJacXExvXv35uTJk9y4cYOePXvSr18/UlJUH1pWrFhBYGAgN27c4JNPPnku31y4cAFDQ0P8/PzqXNu4cSPDhw9HV1eX4cOHs3HjxjoyQUFBVFVVceXKlceW90XQ2q8pJ26oDj6PXj9L6wZNAdDV0aWZtz8nQs8rrsvlck6EnlfIANRU1VCUUoi5n3JWTaQlwtzPksJE9atqBYl5mPtaqqSZN7CkMDG/1k6NnJxbmRhaGxG29irnZ58g5ItgssLS6+iqqaqhMLkACz+lPpGWCAs/S/IT1NvPT8zFooGVSpplQ2vy68lvTVUNqedS0DHQwcRRNfymOLOYsvwy7BopZ5n0DPWw8rAkKy77UVUAVFdVk3MnF7tGtip5tmtkR1ZcVq1MZTWIQFtX+XI1bV1tRCIRmTGZGrOdF5+rMZ9ri7RxkzhzOztaISdHzu3saLxM3dXqeVZEiGhtF4S+jh5x+cqlfl1tHQLtvTmXGKK0LZdzLjGEIMeGanX18GlHyN3bfNHnfSJmHeDs1J+Y3n4UWiKt59b5tLyo9v2A/IwCSvJKcGvsokgTG+lj723Hvej7T50vWUnt7LLYRDkbXVleyb4Vh+gxuRvGZupngJ+WF1VujdY1LR0C7L05n3hdxfaT6oWRngEh03cTOuM3tg5dgo+Vq+Kavk5tZEF5lXJFRo4cWVUFLZwDFGma7M8VPs9RTubJkXM7Jxov07oP7s+DCBGtbJuhr6NHfL5qKI+OSBtvU1dCM5UhW3LkhGZE0sDC86n06+voo6OlTVGlctJQhIg5Ld5iV+yfJBfe+1v5F/YMaIiBAwfSuHFjFixYoPbhbenSpYwcOVKxH8DLy4u1a9fSsWNHvvvuO8zNzdHW1sbExARbW9s69z/MhAkTmDVrFmvXrsXY2JiioiJ+++03RdhIly5dVOR/+OEHTE1NOXv2LH37qp+ZehJPyr9YLH68AiAuLo7169cTFBSEiYkJCxYsYOXKlbz22msAuLm5ERkZyffff8+YMWMU982YMUMho45WrVoxd+5cRowYweTJk2nRogVdunRh9OjR2NjYqMguXryYjh1rR+5z5syhT58+lJeXIxaLCQwMJDAwUCG7aNEi9u7dy4EDB1Qe7Lt06cL777+v+D5x4sRn9k1ycjI2NjZ1QoQKCwv57bffuHTpEgBvvPEG7du356uvvsLYWPnjZ2hoiFQqJTlZfXykTCZD9uibGmvkoKV+xelx2Jpbk5GXpZKWkZeN1EiCWE+MmYkUHW0dtTK+TsqOsbK4AnmNvM4Mj56JPqXp6t/sWFEoQ1eN/IMQk4qiCqpl1SQfTcT9VW88BvqSE5HFre9DafJeS8y8lT9UFfXY15foU1KPfVmBDD2TuvKygnKVtMzwDMJ/vE51RTX6UjHN32td574HoTViqWp9EEsNFNfq2C+SIa+Rq8T+AxhIxRTer13qtvKyQkdfh9DtoTQZ2gS5XE7ojhvIa+SU5ZdpzLasoFwzPi+pQqJnjLaWNgUVqqszBRWF2Bur9gnPipOxPZ+1no2uli7l1TJWhX7PvWLlw4q5oRQdLR2yilWX+LNKcvG0dHlUHQAuZva0c2vK7zePM3zbbNzMHVjW5310tXRYcXbzc+l8Wl5U+35ASV7tw42RqZFKupGpkeLak5DXyDnx4ykc/RywdlEODI9vOIWjrz3erbyeSs/jeFHl/lfUtZJH60UeXvXUi4ScFGbs/4LIjAQkYmOmth7GwfHf0eHb0aQVZRGXnUxqfjrzur7F7IPLKa0o563WQ3CQ2mBjrOxPNdmfm9Tj80JZEfZGf9/nC1vNUvh8degP3CtRHYxI9U3Q1tImr1zVfp6sACdJ3ZAidbzpP5ScsjyuZygHFMN8+lAtr2ZP/LG/VQYQVgY0yrJly9i6dStRUXU37oSHh7NlyxaMjY0Vnx49elBTU8OdO3eeyc7w4cOprq5m165dAOzcuRMtLS2GDh0KQEZGBm+++SZeXl5IpVIkEgnFxcV1ZrifhefNf0FBAcbGxhgaGuLj44ONjQ3btm2jpKSEhIQEJkyYoKLz888/JyEhQUVHUNCTX32+ePFi0tPTWb9+PQ0bNmT9+vX4+vpy69YtFbmAAOXMhp1dbaPNzPxr9rS4mFmzZuHn54epqSnGxsZERUXV8duj+Xke35SVlakdJGzfvh0PDw/FoKRx48a4uLiwc+fOOrIGBgaUlpaq1b906VKkUqnKhzvPvzL0r+WvlSCrQGucu7lh4iTBtacHlv7W3Dv3/PX9WTH3taDN/I60+rAdlg2tCPs+hOTTSfw6brviU1P99IcJPAtiiZiO0zuQGnqXX8dvZ8fEneQm5YII4s/Gv3TblaUVSJyl9YY6vijU+by+fQgvkvslGcwJXsInl77kRMo5pgSMwcH48RM4T0JLpEV2ST7v//ElN9Ni2B9xijXnf2JMUP8XlOt/DpMSbZYPXqP4VFfV/G2dR9YfJyslmwEfKMMoY6/Ek3wzhe5vdnnMnf+/+CfqWsjdCHbfPEpERjyXksMYt2seOaX5jA56FYCqmmrG75qHh4UTsR8eJmnecdq6NuVE3CVq5H//f/tY/gX9+f2SDOZeXMr8y19yMvU8kwNG42D093z+KMN8+tLZqSULLq2lsqZ2H6SXqSuveb3Cl9d+fCE2hJUBDdKhQwd69OjBRx99xNixY1WuFRcX89ZbbzFt2rQ69zk7Oz+THYlEwqBBg9i8eTPjx49n8+bNDBkyRDFzPGbMGHJycvjqq69wcXFBX1+f1q1b17vZ9cHs9MMhNo9u1H3e/JuYmBAaGoqWlhZ2dnYYGNTOMmZk1MaB/vjjj7Rs2VLlHm1tbZXvRkaqM0z1YWFhweDBgxk8eDBLliyhSZMmrFixQiXs6OHN1Q8eVmpqaju4WbNmcfz4cVasWIGnpycGBgYMGjSojt8ezc/z+MbS0lLthvONGzcSERGBjo6yKdfU1LBp0yYmTJigIpubm4uVldWjKgD46KOPmDlzpkqadGDdkKSnIT03ExszVTs2ZpYUlBRSXlFOdkE1VdVVamXS8zIV33WN9RBpiepsLqsokqmN7wfQk+hTqUb+wUk1D3Qa2qlu2jK0NaYgXtW/evXYlxXKVE6+eRh9qX6djcCyQhn6j8yw6+jroGOtA9ZGmHqYcW7eKSoKy+m7VBm3W/PXQ1J5QTmGZoaK9PKCMsxc6p6YAqBvoo9IS1Rn9r6soByxqXLG3j7AntfWDKS8sBwtbS1EWiJ+n74Hz06eeHfxeqm29Yz02DF5F3ZWhi/d53cvpGDS0Z7CimKqa6qR6qmGakn1JOTLVGfznpVqeTUZpbWzxXcKU3CXutLTpQsbI2qPCM4tLaCqpgorY1W/WhmZk1mco1ZnRlE2VTXVKg9bsVnJ2JhYoqut81w6n5a/276LDaqZsES5kltdWRvnXJJfgrG5cjWzJL8EG/cnn+x2dP0J4q8lMmrpMCSWynadfDOFvPR8Vg5TPTjBPlufMv0a7tqUP6rqsbyofu1fUdeMHq0XZk9dL6pqqrmVFoebmaMi7WZaLF2/H4+JvhF62rrklOZzeML3hKUpQ6E02Z8X1eNzib4JBS/Q50mFqbhLXOjh2plNEdsVMgWyIqprqjETq9o305eSW8/m5AcM9u7FcJ8+zD7/JYkFqYp0f0sfTPUlbO+9WpGmraXN5MDhvO71yjOXQ1gZ0DBffPEFf/zxhyLM4wFNmzYlMjIST0/POh89PT2g9pSY6uqn2zAyYcIELly4wMGDB7l48aLKg2JwcDDTpk2jd+/eNGzYEH19fbKz1ccFA4oHyof3KYSFhT1z/tWhpaWFp6cn7u7uioEAgI2NDfb29iQmJtbR9+im3+dBT08PDw+PZzpNKDg4mLFjxzJw4ED8/f2xtbVV2UBdH8/jmyZNmpCenq4yILh16xYhISGcOXOGsLAwxefMmTNcunSJ6GhlR5yQkEB5eTlNmjRRq19fXx+JRKLyeZ4QIYBLUaF0bdJOJa170w5ciqzdlF5ZVcn12FsqMiKRiK5N2ilkALR0tDBxlpAXrfyRktfIyYvOQaLmGE4AqbsZudGqP2q5UdlI3E2VOl2llGaoLkuXZpQgtlB9eNTS0ULiIiUnStkW5DVycqKyMfVQb9/U3VxFHiAnKkvtsaEPI5fLQSRCYitRfKQOUgxMDRSbegEqSivISsjGystSrR5tHW0s3MxV7pHXyEmPSMfKq+5AUCwRo2ekR3ZiNhUlFXh18nzpttMi0qgokmEVaPvSff5g0FMtr+ZOYQqNLHwU10WIaGjpoxJz/SLQEonQ1VIO3iurqwi/H0t7t2ZK2yIR7d2bEXK37rGQAFdTb+Fq7qCymuJh4UR6UTaV1VXPpfNp+bvtW64F5vZmio+lswVGZkYkhStncmWlMu7HpuHga19vPuRyOUfXnyDmUhwjFw/F1NZU5XrrQS2YuG4sE9aOUXwAsswqSLd49hWhF9WvabSu1VRx834s7d0fqhc8W73QEmnhZ+NOhprBQ5GshJzSfNzMHQm09+FItHKPhSb78wc+b/iIzxtZ+BCX/2yRFk9C9IjPAark1cTmJ9HEWrkvQ4SIJtYNiMyJf1SFgqHevXnDrz9zLqwgNk81nydSgnnz+DwmnfhY8ckuy2VXzJ98eH75M+dbGAxoGH9/f0aOHFnn2McPP/yQixcv8s477xAWFkZcXBz79+9XiUV3dXXl3Llz3Lt377EP71C7CuHp6cno0aPx9fWlTRvlDnovLy9+/vlnoqKiuHLlCiNHjlR5EH8UT09PnJycWLhwIXFxcRw6dIiVK1c+c/6flU8//ZSlS5eydu1aYmNjuXXrFps3b2bVqlXPpOfgwYO88cYbHDx4kNjYWGJiYlixYgV//vkn/fs//TK7l5cXe/bsISwsjPDwcEaMGKFYNXgcz+ObJk2aYGlpSXBwsCJt48aNtGjRgg4dOtCoUSPFp0OHDjRv3lxlL8r58+dxd3fHw8Pjqcv3ACOxIYEeDQj0qD3FwM3WiUCPBjhZ1f5QLxk/h60frFHIrz/4M+62ziybOA8fJw+m9BvNkI59Wb1HuZy56vcfeLP3cEZ3H4SvsyffTVuKkdiAzUdVw5ucurlx/0IqaZfuUpJWTMz221RXVGHfpnZWKnJzOAl7lYMepy6u5EZkkXI8kZL0YhL/iKUouQDHTq4KGZfu7mSGpHHvfAqlmSXcPZ1Ezq1MHDrWjZl17e7O3fMp3LuYSnFaERHbblJdUY1D29oVnJsbbxCzRxnm59LVjeyITO4cS6A4rYi4AzEUJOXj3KXWfpWsitg9UeQn5FGWU0pBcj63toQhyyvHtpnqg49IJMKvpy+39t4i9XoqeSl5BH8XjKGpIc5ByhWkY4uPE31U6QO/3g2IOx1HwrkE8u8VcHnTFarKq/DsqPzfx5+JJysui6KMIhIvJHL2q3M06OWH1F6qEduu3dwxtjXWqM8P3TlJZ6d2dHBohb2RLeMbDkdfW5+zd2snaqYEjGGYt7J/0BZp42LiiIuJIzpa2pjpm+Ji4oiNoXLgM8y7P75mnlgamONkbM8w7/74mXsRfP+qyv96/aUdvNGsH0MDe+Jl6cLyPrMw1DVgx41DAHw98GPmdX1LIb/l2j7MDCQs7jkddwsnunm1Zkb7UWy6uuepdT5Ak+0bautai1ebEbzzErFX4slMyuKPVX9iYm6Mz0Ox/tvm7STkoPKh+uh3J7h9JpL+s/qiZ6BLcV4xxXnFVMpqV6mNzYyxdrFS+QBUasup0pFrtNwarWuXdzKyaV+G/FUvvuz7fm29CPsTgHUD5qnUtZkdxtLRvTkupnb423rz7cBPcJTasi30oEKmX4NOtHFpjIupHT192rFr1CoOR5/nbOI1Fdua7M8PJ52is2Nb2tu3xN7IlnENh9X6/F6tzyf7j2FofT4XaWMmruvzoY/4fKjC56rlBvgt9gh93Dryiks7nE3smdF0DGIdfY4mnQPgw+aTmNBIeWTrMJ8+jG34OitCNpBeko2ZvhQzfSli7dpVkcKKYpIK76l8qmqqyS0v4G5xeh37T0IIE/oX8Nlnn9WJ8Q4ICODs2bPMmzeP9u3bI5fL8fDwUMT5P7jvrbfewsPDA5lM9tiTcUQiEePHj2fu3Ll89NFHKtc2btzIpEmTaNq0KU5OTixZsoRZs2bVq0tXV5ft27czZcoUAgICaN68OZ9//jmDBysr8tPk/1mZOHEihoaGLF++nNmzZ2NkZIS/v3+9L12rjwYNGmBoaMj7779Pamoq+vr6eHl5sWHDhmd6p8GqVasYP348bdq0wdLSkg8//JDCwicvOT6Pb7S1tRk3bhzbtm2jb9++VFRU8Msvv/Dhhx+qlX/99ddZuXIlS5YsUfy/3nzzTbWyTyLIO5AzK5Uv1lk9ZSEAW47tYtzymdhZWONs7aC4npSeSp+Px7B6ygKmDxzP3ew0Jq6azbGQswqZXWf/wMrUgs/GzMLWzIqwhEh6zh1FZr7qoNYmyJ7KogoS/4ilorACE0cTAt9toVhWLs8tg4cWMKQeZjSc0JjEA7Ek7I/F0NoQ/8nNMHZQLiNbNbHFZ0Qjko8kELcrEkMbIxpNaoqpZ93wF7vmDlQUVRC3PwZZoQyJk4Sg6S0Vy9Rlj9g38zQncGJTYvdFE7s3GiNrI5q+3RwTh9rlYZGWiJL0Ym5cCqGiuAI9I12krqa0/KAtJg51z5tu2K8hVbIqLm24TEVpBdbe1nSb0xVtPWVoXFFGEeUPhcm4tXZFVlhO2G/hlOWXYe5iRtc5XVQ29hakFRK68wYVxRUYWRkR0N8fv95+GrNt0VG5ie5l+7zsr9XAy+nXkegZM8irL6b6EpIL7/LFtXUUVNTunbEUm6v0sWZiKV+0m6f43s+9O/3cuxOZE8uiq7VL9xI9E6YGjMVULKG0spyUont8cW0dt3KUDzwA+yNOYWFkygedJ2JtbM7t9HiG/fK+4ghHB6mNSkjQ/cJMhv48k896TuPMlC2kF2bzw5XdrLuw7al1PkCT7fsBrV5vQUV5JYe/Pkp5iQynBg4M/XQQOnrKR5T89HxKC5UhaKGHwwDYNneHiq6+03sR0K2RWjv/lnJrvK4ZmvJBpwl/vYwunuHbZj1S15S2TQ1MWNnvA6yNzSkoLyL8fix9N00hNjtJIWNjbMGnr7yDlbE5GUU57L55hFVnVU/5A83255fTr2Pyl8+lf/l8WcjXFP7lcwsDM+Qo25iZWMqStsqXrfV1605ft+5E5say+Ooahc8nB4zBVL/W56lF91gW8jW3H/E5wJm7V5DqmzC2wWuYiaUkFKQw58Jy8v4KU7I2tFD5n/dz74Keti4LW6uGE2+N3MtPkXvr6P+7iOTP8spbAQEBjZGenk7Dhg0JDQ3FxeXpTwSJiIigS5cuxMbG1m4MfkpE3R2fLPQPMXnu4CcL/UPoPbIH5WViXc9Lpv6/k1mSr0Hb/+yLBh/HySu3niz0D5EVnKQx21u+Wagx22Pf1pztYTPrvifmZXHq6m2N2X6tw5MP9finKHz0lLyXSHqx+lOSXgYnB/30TPJCmJCAwP8Itra2bNy48ZlPeUpLS+Onn356poGAgICAgICAwH8DIUxIQOB/iAEDBjzzPd26dXuykICAgICAgMB/EmFlQEBAQEBAQEBAQOA/ijAYEBAQEBAQEBAQEPiPIgwGBAQEBAQEBAQEBP6jCIMBAQEBAQEBAQEBgf8owgZiAQEBtYx4/1WN2a7W4InHOlrCHMnLRpM+37HqD43Zbj++o8Zsd23przHbWjzf281fBJo83vO/Wtc02Z//uvKAxmx3mtRFY7afFeFXT0BAQEBAQEBAQOA/ijAYEBAQEBAQEBAQEPiPIgwGBAQEBAQEBAQEBP6jCIMBAQEBAQEBAQEBgf8owmBA4KkYO3bsc739VuDlsGXLFkxNTTWdDQEBAQEBAYH/MYTThF4iqampLFiwgCNHjpCdnY2dnR0DBgxg/vz5WFhYaDp7ACQlJeHm5saNGzdo3LixIv2rr75C/pJOBEhPT2fp0qUcOnSIu3fvIpVK8fT05I033mDMmDEYGhq+lHw8iTNnztC5c2dMTU1JS0tDLBYrrl27do0WLVoAvBS/DR06lN69e/9j+rs7d6CPW3ekehJSiu6yNWoXiQXJamUdjO0Y5NkXN6kzVgYW/By1myPJp1Vkujq1p5tzB6wMzAG4W5zG3vg/Cc+OrKOvk0M7XnHuglTPhLvF99ke+ztJRSn15rWZVSD93XtjITYnsyyL3xP+4HZOlOK6vrYer3n0o7GlP0a6hmSX53Iq9Rzn7l+soyvpVCIJR+KRFciQOEloOCIAM3ezem3fv3aPmH3RlGWXYmRjhO+ghtgE2Ciup12/T/KZJAqS86ksqaT9gk5InaX16pPL5YT/Fk7c6XgqSiqw8rai1fiWSOwk9d4DEH0shoiDEZQVlGHubEaLMS2w9LRUXC/KKCJk23UyYzKpqarBPsCeFmObYyA10Iht76G+6Etr24+mfN7evyWzB0+mmbc/9ha2DFgwgf0Xjz62rB0DWrNq8nwauniTmpXG579+xdZju1Vkpr46htmDJ2NrbkV4QhTvfvMJ12LC6uga6NWdYb59MDeQkpCXwlfXtxKVm6jWbl+PzvRwbYe7qRMAMbl3+DF8p4q8gY4+bwUOo51jEFI9Y9JKsvgt9igH4k/W0dfduSP93Loj1a9t31sid5JQT/t2NLZjkFc/3CXOWBla8FPUbg4nnVKR6ebcge5O7bE0rP1du1uUxp74PwnPjlCrUy6Xc3bbBcKO3aS8RIajnwO9p3bH3N5crTxA8O7LRF+MJedeDjp6ujj62tN1bEcsHJW/pT99tJ2U26kq91m2scd5iK9Gy/1frmua6s817XOAAR5dGerTG3OxlIT8VNbe+JnoPPV+7+PWiVdc2uImdQQgNi+JDbd2q8h/2PxNerq2V7nvavpNPjy/4rHlUoewMvCSSExMJCgoiLi4OLZv3058fDzr16/n5MmTtG7dmtzc3H/UfkVFxd+6XyqVvpSZ58TERJo0acKxY8dYsmQJN27c4NKlS3zwwQccPHiQEydO1HtvZWXlP54/dZiYmLB3716VtI0bN+Ls7Py3dT/t/83AwABra+u/bU8drWybMdL3dfbEH+Lji0tJKbrHnKB3kegZq5XX19IjsyybHTH7yCsvUCuTW57Pjph9zLv4BR9fXEZETiwzm07GwdhORS7IugmDvQZwMOkIn19bQWrxPaY3noyJrnrb7hJXJjYczYW0yyy6toIbWbeY6j8BeyNbhcxgzwE0NPdlY+QvLLjyBSdTzzLc+3UCLRuq6Lp/9R6ROyPwftWH9gs6InGScnX1JWSFMvVlis/lxg/XcW7vTPsFnbBtYkfI11covFuokKmWVWPuZYHfoIZqdTxKxB8RRB2NpuX4lvRe1AsdsQ4nvjhJdUV1vffcuZREyC8hBL4WQN/FfTBzNuPEFycpKygDoLK8kuNLTyASwSvzutNzQQ9qqqo5tfw08hrlwPVl2r667gryGrlGfW4kNiQ8MZK31338WLkHuNo6cejzrZwOv0jjKT1Ys3cDG2Yu55Ug5RGOQzr2Y9Vb8/n0l9U0ndKL8MRIji79BStT1cmfLs6teLvJSLbc3sPEIx8Tn5/Cis5zMNVXP/BqYu3HyeRLTD+5mCnHFpBZmsOKznOwNFAOmt5u8gYt7AL4/NK3jPpzNrtjDjOj2RjaOjRV0dXKthmj/F7n9/hDzL24hOTCu8xpPg2Jnola23raemSWZrM99nHtO4/tsfuYF7yUecFfEJETw6xmk3F8pH0/4NLvV7l2MJReU19h3Io30BPr8uv83VRVVKmVB0i+nUpQnyaMWz6KkYuGUFNdw7b5u6koV+0zm/QIYMZPUxUfh1c9NV7u/2pd02R/rkmfA3R2bMmUwBFsjdzHpOPzSShI4csOszHVV1/fGlv5cir1Mu+dWcrbpz4jszSH5R1mYylWnRi5khbOawfeVXwWXf72qcr3KMJg4CXx9ttvo6enx7Fjx+jYsSPOzs706tWLEydOcO/ePebNm6eQdXV1ZdGiRQwfPhwjIyMcHBz45ptvVPTl5+czceJErKyskEgkdOnShfDwcMX1hQsX0rhxYzZs2ICbm5ti1vrIkSO0a9cOU1NTLCws6Nu3LwkJCYr73NzcAGjSpAkikYhOnToBdcOEOnXqxLRp0/jggw8wNzfH1taWhQsXquQxOjqadu3aIRaLadCgASdOnEAkErFv3756/TR16lR0dHQICQlhyJAh+Pn54e7uTv/+/Tl06BD9+inPiBaJRHz33Xe8+uqrGBkZsXjxYgC+++47PDw80NPTw8fHh59//llxj1wuZ+HChTg7O6Ovr4+9vT3Tpk1TXP/222/x8vJCLBZjY2PDoEGD6s3rA8aMGcOmTZsU38vKytixYwdjxoxRkcvJyWH48OE4ODhgaGiIv78/27dvV5Hp1KkT77zzDjNmzMDS0pIePXoAcODAAUW+OnfuzNatWxGJROTn5wN1w4Qe/P9//vlnXF1dkUqlDBs2jKKioieW51F6uXbhdGow5+5d5l5JOpsitiOrrqCjQxu18omFyWyP2cvl9OtUydX/mN/IukV4dgQZpVmkl2ayO+4A5VUyPKVuKnLdnTpx4f4lLqZdJa00g20xu6moqaCtfUu1ers6dSQiN5pjKadJL83gwJ3DpBTdpbOjcvbEQ+rGpfRrxObHk1Oey/n7l7hbfB9XiYtqOY7F49TBBad2LpjYS/AfFYiWnjapF9TPHN45kYBVI2s8enphYm+Cz0A/pC6mJJ26o5BxbOOE96s+WDawUqvjYeRyOVFHogkY4I9zkBNmzma0m9KW0vxSUkLqn0mL+jMSr85eeHbyxNTRlFYTWqGtr0382dp2nhWbRUlWCW3eaoOZsxlmzma0ndKWnDs5pEWka8R2QVI+2dFZGvX5kWun+WTLcvYFH3ms3AMm9x3FnfQUZn2/iOiUeL7Zv4Xfzh3ivdfeVMjMfH0SPx7ezpaju4hKiWPyV3MolZUzvscwFV1DfHpxMOE0h++cI7nwHiuvbaK8SkYfd/Vnwy+69C374k8Qn59MSlEaX179ES2RFs1slA9AjSy9OHLnPGGZUaSXZPNHwmkS8lPwM/dQ0dXHrSunUoM5e+8S94rT2RixnYrqCjo5tlZrO7EgmV9j9nApLYSqGvXtOzTzFmFZEaT/1b53PWjfpm51ZOVyOVcPhNBuSGt8Wnlh42bNq+/1oSi3mJjLceqdD4z4dDCB3fyxcrHExs2afjN6U5hVSFp8hoqcrr4uxmbGio+2WEfj5f6v1jVN9uea9DnAYO+eHLpzhiNJ50kuus+q61sor5bRy1W93xdfXc/+hJMkFKSQWpTGipCNiERaNLVpoCJXWVNFnqxA8SmuLH2q8j2KMBh4CeTm5nL06FGmTp2KgYGByjVbW1tGjhzJzp07VcJJli9fTmBgIDdu3GDOnDlMnz6d48ePK64PHjyYzMxMDh8+zPXr12natCldu3ZVWWGIj4/n999/Z8+ePYSFhQFQUlLCzJkzCQkJ4eTJk2hpaTFw4EBqamoAuHr1KgAnTpwgLS2NPXv21FuurVu3YmRkxJUrV/jyyy/57LPPFHmsrq5mwIABGBoacuXKFX744QeVAY86cnJyOHbsGG+//TZGRkZqZUQi1ZfVLFy4kIEDB3Lr1i3Gjx/P3r17mT59Ou+//z63b9/mrbfeYty4cZw+XRum8vvvv7N69Wq+//574uLi2LdvH/7+tS/fCQkJYdq0aXz22WfExMRw5MgROnTo8Ng8A4waNYrz58+TkpKisOHq6krTpqqzIuXl5TRr1oxDhw5x+/ZtJk2axKhRoxQ+f9ivenp6BAcHs379eu7cucOgQYMYMGAA4eHhvPXWW0/0JUBCQgL79u3j4MGDHDx4kLNnz/LFF1888b6H0RZp4yZx5nZOjCJNjpzbOdF4qflhfx5EiGhl2wx9HT3i85VLoNoibZxNHInKjVWxHZUbi7vEVa0uD6mrijxARG60inxCwR0CLRthqlcbKuJj6omNoRWRudEKmZqqGgqSC7DyUz5AirREWDWwIi8hT63tvIS8Og+cVg2tyUt4vlW/4sxiyvLLsGuknFXUM9TDysOSrLhstfdUV1WTcycXu0bKmTORlgi7RnZkxWXVylRWgwi0dbUVMtq62ohEIjJjMjVmOycmR+M+fxZa+zXlxI0LKmlHr5+ldYPadq+ro0szb39OhJ5XXJfL5ZwIPa+QAdDR0sbb3I2Q9NtKOeRcz7hNQ0uvp8qLvrY+OiJtCitKFGm3s+No69BUMYPbxLoBTia2XEu/pZBRtO9sZd2XI+d2djRepu5PZftJiBDR2i4IfR094vLrhkTkZxRQnFeCW2Plw5vYSB8HbzvuRt9/ajuyktrVIwMTsUr67TORrByxju/f3sSprWepqaj+V5T7Wfj/Utc01Z8/Dy/K5wA6Im28zVy5nqEMF5MjJzQjkoYWnk+VH30dfXS0VP0OtSsIe/p9zdaey5jRdEy9K/ZPQtgz8BKIi4tDLpfj5+en9rqfnx95eXlkZWUpQj3atm3LnDlzAPD29iY4OJjVq1fTvXt3Lly4wNWrV8nMzERfXx+AFStWsG/fPn777TcmTZoE1IaY/PTTT1hZKX8sX3/9dRXbmzZtwsrKisjISBo1aqSQtbCwwNbWlscREBDAggULAPDy8uLrr7/m5MmTdO/enePHj5OQkMCZM2cUehYvXkz37t3r1RcfH49cLsfHx0cl3dLSkvLycqB2hWXZsmWKayNGjGDcuHGK78OHD2fs2LFMnToVgJkzZ3L58mVWrFhB586dSUlJwdbWlm7duqGrq4uzs7Mitj8lJQUjIyP69u2LiYkJLi4uNGnS5LE+ALC2tqZXr15s2bKF+fPns2nTJsaPH19HzsHBgVmzZim+v/vuuxw9epRdu3Yp8vDAl19++aXi+5w5c/Dx8WH58uUA+Pj4cPv2bcVKSH3U1NSwZcsWTExqlyFHjRrFyZMnn3jfw5joGaOtpU1BRaFKeqGsCHsjm3ruejqcjO1Z2GoWulq6lFfLWB36A/dK0hXXjXWN0NbSprBCdTWjqKIIO0P1tiV6JhRWqsoXVhQhfWgJfEfs77zhO5Qv231KdU01Ncj5OXqnyg92RZEMeY0cfYm+ii49iT7FaepXV2QF5XXk9SX69Ya4PIkHoTViqerDjVhqoLhWJw9/5fvh2H8AA6mYwvu1oQ1WXlbo6OsQuj2UJkObIJfLCd1xA3mNnLL8Mo3ZLs0u0bjPnwVbc2sy8rJU0jLyspEaSRDriTEzkaKjraNWxtdJ+QAg1TdBR0u7TuhJbnkhzib2T5WXyY2HkV2Wx/WHHvK+ur6V2S0msGfA11TVVFEjl7P86gbCs5QPSZJ62ndBRSH2xn+/fX/Weraifa8K/Z57xel15Irzah9ujExVJ4CMTI0oySt+KlvyGjnHfjyJo58D1i7K37tGHf2QWksxMTcmIymTU1vOohVrQNCUdhov97Pw/6GuabI/fx5elM+h1u/aWtrklavWt7zyApxN1IfOPcpb/kNr/f7QgOJq+k3O3w0hrSQLe2NrJvoP5ov27/POyc+epaiAMBh4qTzLRtLWrVvX+b5mzRoAwsPDKS4urrPpuKysTCXkx8XFRWUgALUDk/nz53PlyhWys7MVKwIpKSk0atToWYpDQECAync7OzsyM2tnFmNiYnByclIZUDz8wPssXL16lZqaGkaOHIlMpvojHxQUpPI9KipKMRh6QNu2bfnqq6+A2hWVNWvW4O7uTs+ePenduzf9+vVDR0eH7t274+LiorjWs2dPBg4c+FQblsePH8/06dN54403uHTpErt37+b8+fMqMtXV1SxZsoRdu3Zx7949KioqkMlkdfQ3a9ZM5XtMTAzNmzdXSXsaX7q6uioGAqD6/3kUmUxWx7fVFdWgr1b8hXC/JIO5F5dioCOmpW1TJgeM5vMrq1UGBP8EnR074C5x5evwH8kpz8Xb1IMR3q9TICsgKi/2yQr+Ie5eTuXITzcV37t88M+8yl4sEdNxegcub7pC1NFoRCJR7QZfEcSfjedO8J2XatutjStSF2mdVT+Bp2OkXz+6Ordm2qnPqahR7pt63fsVGlh4MufsCtJLs2ls5ct7QWPrPFD8U9wvyWBO8BIMdQxoaduEKQFj+OzKKm6dCWPZnNUKuWHzX3+Mlqfj8PrjZKVkM2bZSJX0pj0bK/62drXC2MyYbR/vRJarfkD7Iqiv3H93QPBv4N9Y1/6t/fmLZLhPXzo7t+S9M0upfMjvp1OvKP6+U3iXxIJUfu29ksbW6ieeH4cwGHgJeHp6IhKJiIqKYuDAgXWuR0VFYWZmVufBvT6Ki4uxs7PjzJkzda49HDeuLtSmX79+uLi48OOPP2Jvb09NTQ2NGjV6rg3Gurq6Kt9FIpFicPE8PPBTTEyMSrq7e+2y7aMhVqC+jI/DycmJmJgYTpw4wfHjx5k6dSrLly/n7NmzmJiYEBoaypkzZzh27Bjz589n4cKFXLt27Ymbp3v16sWkSZOYMGEC/fr1U3s61PLly/nqq69Ys2YN/v7+GBkZMWPGjDq+f9Yy1cez/H+WLl3Kp59+qpLWaGQQTUa1orqmGqme6uYyib4JBTLVWY5npVpeTUZp7axKUmEq7hIXerh2ZlNE7T6K4soSqmuq62zoM9EzqTOj94DCiiIkuqryEj1lXnW1dBno0Yfvbm3iVk7tyUX3StJwNHGgu3NnxY+Hnok+Ii1RnRnmikKZ4tSbR9GXiuvIywpldWau68M20BbXpU6K7zVVtf+r8oJyDM2UA8bygjLMXNSfsqL/V74fnb0vKyhHbKpsP/YB9ry2ZiDlheVoaWsh0hLx+/Q9eHbyxLuL10u1rWekx87Ju7ALsn/pPv87pOdmYmOm2mfbmFlSUFJIeUU52QXVVFVXqZVJz1MOygtkRVTVVGMmVj3hyFwsIbeejaoPGObbmxEN+jHz9FIS85Wn5uhp6/JmwFDmXVjN5fthACTmp+Jp5sIwvz6KB7TCimK17VuqJyH/BbbvO4UpuEtd6enShZRGd+ndvq1SrrJ2Q3pJfgkm5soQh5L8EmzcnzxLf2T9ceKuJTB66XAkluo3Yz7Awad2Fjb7buZLL/fGiF+fW+f/h7qmyf78eXhRPodav1fXVGMmVq1vZmLpE/0+xLsXI3z78P65L0ksSH2sbFpJFvmyQhyeY3VL2DPwErCwsKB79+58++23lJWp/lCmp6ezbds2hg4dqjIzdvnyZRW5y5cvK8KMmjZtSnp6Ojo6Onh6eqp8LC0tqY+cnBxiYmL4+OOP6dq1qyI86WH09PSA2lnsv4OPjw+pqalkZCg3c127du2x9zzw09dff01JScljZevDz8+P4OBglbTg4GAaNFBuujEwMKBfv36sXbuWM2fOcOnSJW7dqo1t1NHRoVu3bnz55ZfcvHmTpKQkTp1SPT5OHTo6OowePZozZ86oDRF6kI/+/fvzxhtvEBgYiLu7O7GxT+6sfHx8CAkJUUl7ki+flY8++oiCggKVT8MhTamWV3OnMIWGFsrQLREiGln4EJd/5zEanx2RSISulnJ+olpeTUrRXXzNlLGsIkT4mXmTWJikVkdCQRK+5qqxrw3MfRTy2iItdLR06qzSyeVytB5qf1o6WkhdpGRHKZeA5TVysqOyMPNQf8ylmYeZijxAdmQmZh71H4/4MDoGukhsJYqP1EGKgamBYlMvQEVpBVkJ2Vh5qW/n2jraWLiZq9wjr5GTHpGOlVfdyQaxRIyekR7ZidlUlFTg1cnzpdtOi0hDViTDtqndS/f53+FSVChdm7RTSevetAOXIkMBqKyq5HrsLRUZkUhE1ybtFDIAVTXVxObeoZmtckOmCBFNbRoRkV3/Btrhfn0Z3XAgs898SUyualvUEemgq123ntfIa9B66Gf/Qftu9Ej7bmjp87fDLB5F66/2rS3WwdzeTPGxdLbA2MyIpHDlJnFZqYx7sWk4+tYfuiKXyzmy/jgxl+IYtXgoZramT8xDRuJfD2kmOi+93H+H/y91TVP9+fPwonwOUCWvJjYviabWj/jdugEROfH15mGYT29GNejPB+dXEJv35N9bSwMzJHrG5JTlP00RVRAGAy+Jr7/+GplMRo8ePTh37hypqakcOXKE7t274+DgUCeOOzg4mC+//JLY2Fi++eYbdu/ezfTp0wHo1q0brVu3ZsCAARw7doykpCQuXrzIvHnz6jw0PoyZmRkWFhb88MMPxMfHc+rUKWbOnKkiY21tjYGBAUeOHCEjI4OCgsePWuuje/fueHh4MGbMGG7evElwcDAff1x7pNfjwgG+/fZbqqqqCAoKYufOnURFRRETE8Mvv/xCdHQ02tra9d4LMHv2bLZs2cJ3331HXFwcq1atYs+ePYpY/S1btrBx40Zu375NYmIiv/zyCwYGBri4uHDw4EHWrl1LWFgYycnJ/PTTT9TU1NTZw1AfixYtIisrS3EC0KN4eXlx/PhxLl68SFRUFG+99ZbKYKk+3nrrLaKjo/nwww+JjY1l165dbNmyBXi8L58FfX19JBKJykdbr9bXh5NO0dmxLe3tW2JvZMu4hsPQ19bn7L1LAEz2H8NQ7/4KXdoibVxMHHExcURHpI2Z2BQXE0dsDJUPhEO9++Nr5omlgTlOxvYM9e6Pn7kXwfdVBznHU8/Q3r41rW2bY2tow0ifwehp6xF8v3Z5dJzfSAa691XIn0w9SyNzP7o7dcLW0Jp+bj1xMXHi9N3akK3yahkxefG87vkq3qaeWIjNaW3bgla2QdzIuqVi2/0VT1LOJZManELR/SJu/RJOtawap7a1R8be2HCdqN+V70Vw6+ZB1u1MEo7GU5xWRMz+aPKT8nHtotxoXVFcQUFKAUX3a+NgS9KLKUgpoLygvM7/RCQS4dfTl1t7b5F6PZW8lDyCvwvG0NQQ5yDlsbXHFh8n+qgyNtevdwPiTseRcC6B/HsFXN50haryKjw7Kk/2iD8TT1ZcFkUZRSReSOTsV+do0MsPqb1UI7bdu3tgbGuiUZ8biQ0J9GhAoEftxIGbrROBHg1wsqp9IF0yfg5bP1ijkF9/8GfcbZ1ZNnEePk4eTOk3miEd+7J6z48KmVW//8CbvYczuvsgfJ09+W7aUozEBmw+ulPF9q6Yw/T16ExPt/a4SOx5v/k4DHT0+fPOWQDmtprMpMChCvkRfn2Z4D+IZVd+IL0kC3OxFHOxFAOd2hWR0qoybmREMqXxcBpb+2FnZEVPtw70cG3PubuqbezQnZN0dmpHB4dW2BvZMr7h8Nr2fbe2fU8JGMOw+tq3ljZm+nXb97BH2vcwRftWPSwBautai1eDuLDzErFX4shMymL/qkOYmBvj00r5IPjLvB1cO6h8yDry3XFunYlkwKy+6BnoUZxXTHFeMZWy2jCK3LQ8zu+4SFp8OvkZBcReiWP/6j8x9jDF0N5Yo+X+r9Y1TfbnmvQ5wO7YI/R170gPl3Y4m9jzXtMxiHX0OZJ0DoCPmk9iYqPBCvlhPn0Y1/B1ll/bQHpJNmb6Usz0pYi1a/0u1tbnrYBh+Jl7YGNoSVPrBixuO4N7xZlcy7hVx/6TEMKEXhJeXl6EhISwYMEChgwZQm5uLra2tgwYMIAFCxZgbq46k/X+++8TEhLCp59+ikQiYdWqVYqHTJFIxJ9//sm8efMYN24cWVlZ2Nra0qFDB2xs6l8e0tLSYseOHUybNo1GjRrh4+PD2rVrFceHQu0M99q1a/nss8+YP38+7du3VxuO9CS0tbXZt28fEydOpHnz5ri7u7N8+XL69eun8nKuR/Hw8ODGjRssWbKEjz76iLt376Kvr0+DBg2YNWuWYmNwfQwYMICvvvqKFStWMH36dNzc3Ni8ebOijKampnzxxRfMnDmT6upq/P39+eOPP7CwsMDU1JQ9e/awcOFCysvL8fLyYvv27TRs+HRnwuvp6T12Zebjjz8mMTGRHj16YGhoyKRJkxgwYMATB1xubm789ttvvP/++3z11Ve0bt2aefPmMWXKFMUG8n+Sy+nXMdEzZpBXX6T6EpIL77Is5GvFRjALAzPkKMOPzMRSlrSdq/je1607fd26E5kby+Kra4Dapd7JAWMw1ZdQWllOatE9loV8ze0c1RMgQjJvYKJrxKvuvZDoSbhbdI+14d9TVFm7sdBcbIYc5axQYmESGyJ+or97HwZ49CWzNItvb23k/kP7EH6M2MpAj75MaPgGRjqG5JbnsS/xT87eU11Rsm/hgKxIRuy+aGSFtS/AavFeK0XISllumcpgzNzTnCZvNiNmbxQxe6IwsjYi6J2WSByVS8MZYemEb76h+B76fe3g3etVH3z6+9bxfcN+DamSVXFpw2UqSiuw9ram25yuioEa1L7Eq7xIGSrj1toVWWE5Yb+FU5ZfhrmLGV3ndFHZ2FuQVkjozhtUFFdgZGVEQH9//Hr7acy2TWcHjfs8yDuQMyuVLxRaPWUhAFuO7WLc8pnYWVjjbO2guJ6Unkqfj8ewesoCpg8cz93sNCaums2xkLMKmV1n/8DK1ILPxszC1syKsIRIes4dRWa+6olMp1IuY6pvwnj/QZiLpcTnJTPrzDLFhkMbQwuV2c/+nt3Q09ZlUfsZKno23/qdzbdrT4D79OLXTAocyietpyLRMya9NJsfb+5i/yMvgrqcfh3JX+3b9K/2/cW1dRT81b4txeYqts3EUr5opzzNrJ97d/q5dycyJ5ZFV2v3Akj0TJgaMBZTcW37Tim6xxfX1nHrkfb9gNavt6CivIJDXx+jvKQcpwaODP90MDp6ykeUvPR8SguVxyZePxwGwM9zd6jo6je9F4Hd/NHW0eZOWBJXD4RQUV6JxNIEvzbelLYQa7zc/9W6psn+XJM+Bzh99wpSfRPGNnztr5eOpfDh+eXk/RXyZG1oQc1DZe/v0QU9bV0+bTNNRc+WiL1sjdxLjbwGD6kTPVzaYaxnSE5ZHiEZt9l0+3cq6zn69nGI5C/rtbICT42rqyszZsxgxowZms7KCyU4OJh27doRHx+Ph4fHk28QqJfFixezfv16UlMfH0P4dxh55PEDr38So7/C1TSBiQZtmxs8/u2+/1/JLft7cdp/h1WfPn8s99+l/Xj1Z4y/DBxMNVfXensEPVnoH+LPhPpXz/9pdqz6Q2O2NVnXfG2ebj/kP8GPS3/TmO1Ok/6ZgxiehtODf3omeWFlQOAfY+/evRgbG+Pl5UV8fDzTp0+nbdu2wkDgOfj2229p3rw5FhYWBAcHs3z5ct555x1NZ0tAQEBAQEDgfxxhMCDwj1FUVMSHH35ISkoKlpaWdOvWjZUrV2o6W/+TxMXF8fnnn5Obm4uzszPvv/8+H330kaazJSAgICAgIPA/jjAY+BeSlJSk6Sy8EEaPHs3o0aM1nY3/F6xevZrVq1c/WVBAQEDg/9g77/Coiq8Bv5tNdlN30wvpnQAhEHoHIXSQIk0UEFABUYogKB0UFKQqNpBio0lTkQ6hhN5CSUhIQkiA9LLpu8lmvz8iG5ZsaALr9+O+z3MfuPeemTMzOXf2npkzcwUEBASeAGE3IQEBAQEBAQEBAYGXFMEZEBAQEBAQEBAQEHhJEZwBAQEBAQEBAQEBgZcUYc2AgICAXg6cfvIPlzwrXmlcx2C6zYwN1y0qy0oNptuQlJWXP1roOWHILRePrTnyaKHnhGNL70cLPSeC7F0MpvvQmasG0/2y2prrxB4G023INve3e/5fQn9WCDMDAgICAgICAgICAi8pgjMgICAgICAgICAg8JIiOAMCAgICAgICAgICLymCMyAgICAgICAgICDwkiI4Ay+AYcOG0atXL0MX419RVFRE3759kclkiEQicnNz8fLyYtmyZS+8LLNnz6ZevXoPlXmcNjdU+Z+Utm3bMn78+P9MPgICAgICAgL/O/y/2U0oOTmZWbNmsWfPHjIzM3FxcaFXr17MnDkTOzs7QxcPqPhysLe3NxcvXtR5WV2+fDkajcZwBXsGrF+/nmPHjnHixAns7e2Ry+WcPXsWCwsLrYxIJGL79u16X8LXr1/PqlWrOH78OG3btuXIkYqdDaRSKT4+PowdO5YxY8Y8VlkmTZrE+++//6/r9GD5/6ts27YNExMT7bmXlxfjx49/oS/2bzXqzZjmg3C0tCUqNZ5Pdi/j4t1ovbIDQrqwotcnOtdKypR4ftZBe+5gYcP0DqNp69sImaklp25F8snuZdzMvl0lvzCPNvTwDkMulZGUf5t1UZuIV9zSq9vN0oXX/HvgI/PAwdyOn6K3sDvxULX16unTkUGBvdmdeIiforfolbl1+CY398ajUiixcpcRNKgO1t421eaZeu4uN3ZepzizGHMnCwL7BuEQ7KS9f+OPGFLP3qEkuwSRsRFyTzn+vWpi7VM1T41Gw9VtV0kIj6e0qBR7f3saDGuIlbNVtfoBbhy4wfW/oylRlGDtbk3omw2w863sJw/NP0jG9QydNL7tfGn4ViOD6HZv7UntN+tqzw3V5r39wxhYsxu2ZnLic5JYfn490dkJenV2921HJ6+W+Fi7AxCTfZNVkZt05M2MpbwbMpCWbg2RSyxJKczg99i9/BF3UCevVsFNmNxvFA0Cgqlh50yvWSPYeWJvtfUFaFO3GUtGzaS2ZwDJGSl8+tty1u/TteExPYcyud8onG0diIyP5v2VMzgbc6lKXoZ8vqHC1i5vvUzc4ThKi0pxCHCg0VuNkDnLHtoGMftjiN4VTbGiGBsPGxoOaYi9rz0ABRkF7Jyws0oaa6CwpYxSD1OD1vtltTVD9ueGavN7tHVtSUePV5BLrLhdcJcNsVtJzE+qtj4NHEJ41acrdqa2pBdnsDX+T65mVdrnD68s05vu97iqdv8o/l/MDCQkJNCwYUNu3LjBhg0biIuL47vvvuPgwYM0a9aM7Ozs56pfpVL9q/RyuRxra+tnU5hnzOPWLT4+nqCgIOrUqYOzszMikQgHBwfMzc0fK/3OnTvp2bOn9vztt98mJSWFqKgo+vfvz3vvvceGDRseKy9LS8tn4gA+SfkNia2tLVZWD38Be568WvsV5nQcy+Ij6wj7fiTX0uLY+MZi7M2tq02TV1JAnS9f1R4Nl/XTub9uwHw8bVwYuvFjOnw/nNuKVLa8uRRzE1MduabODXgzqC9b43bxyYn53Mq7zdRGHyCT6G8PiVhCelEmG2J3kFOieGi9fOSetHdvxa08/S8oACln73B9cxR+PQJoPqM1Vm4yzi07jTJPqVc+Jy6byFUXcGvpQfOZrXGq58yFlWfJv5OnlbFwsiBoUDAtZrehyUctMLMz59yyU6jyq+Z5fdd1buyPpeGwhnSYFYZYasyRReGoVepqy5x0KolLv12kdq86dJzbCWsPa44sCqckr0S3/m196LniVe0RMrCewXQHvhZk8DZ/xaMp79UfzLqr2xi5ZzpxuUl82W4q1lL9L6T1HYM4eOsk4w5+xuh9s0gvyuLLdlOxN6t0MN6r/waNXery6clvePPvyWyJ2c34BkNp4Rqqk5eFqTmRCVG899X0atv2fryc3dn16XoOR56g3uhOLNu+mtUTF9GxYeU2iv3b9GDJuzOZ88tSQkd3ITIhir0LfsHBWrfvNOTzfY+ov6KI2RdD4+GN6TSnE8ZSYw5/cfihtpZ4KpELv14guHcwXT/tio2HDYe/OEyJosLWzO3M6fN1H52jbt+6aIxFlLpIDFrvl9XWDNmfG7LNARo61qeffy/+StzDp2e/JLngDuPqjcLKxFJ/fWRejKw9hOMpp5h39ksuZlxhTPAIalg4a2UmHZ+hc6yL/o1yTTkX0i8/tK308f/CGXjvvfeQSCTs27ePNm3a4OHhQZcuXThw4AB37txh2rRpWlkvLy/mzZvHoEGDsLCwwNXVlZUrV+rkl5uby8iRI3FwcEAmk/HKK68QGRmpvX8vDGX16tV4e3tjalrxIO/Zs4eWLVtibW2NnZ0d3bt3Jz4+XpvO27ti3+b69esjEolo27YtUDVkpW3btnzwwQd89NFH2Nra4uzszOzZs3XKeP36dVq2bImpqSm1atXiwIEDiEQiduzYUW07tW3blrFjxzJ27Fjkcjn29vbMmDFDZ1biXvsMGTIEmUzGO++8A8DWrVupXbs2UqkULy8vFi9erJPv4sWLOXr0qE697g+z8fLyAqB3796IRCLtOUBJSQn79u3TcQbMzc1xdnbGx8eH2bNn4+/vzx9//AHAlClTCAgIwNzcHB8fH2bMmEFpaeX+6w+GCanVaiZOnKj9u3z00UePNRPzYJiQSCRi9erV9O7dG3Nzc50yVYdSqWTKlCm4u7sjlUrx8/Pjxx9/1JZrxIgReHt7Y2ZmRmBgIMuXL9dJf8825syZo7XHUaNG6Thp94f3tG3bllu3bjFhwgREIhEikQiArKwsBg0ahKurK+bm5gQHBz+2c/UoRjUdwC8X/mTjpb+JzUxk8l9fUlxawqD63apNo0FDRmH2fUeO9p6PrTsN3eswZddiLt29TnxWMh/9tRgzEym963TQyaebd3sOJUdw5M5J7hSk8uO1DajUKtq6NdOrN0Fxi99itnEy5Rxl5WXVlk8qljI25C1WXf2VwtKiauUS9yfg3soDtxYeWNawovYbdRFLxNyJ0D+ac+vgTexrO+DdyQ9LFyv8e9VE5iEn6VCiVqZGEzfsazlg7mCBlasVNfvXoqy4jPzbeTp5aTQaYvfGUKtnbVwbuGHtYU2Td5tQnFvMnQvVOzAxe67j09YXn9Y+yF3lNBzWCGOpMTeP6I6AiSXGmFmbaQ8Ts8rZpxet2/g+3YZq8/6BXfgr/jC7bx7lVt4dFp9dQ0mZkm4++vcpn3fyG3bEHSAu9xZJ+SksPLMKI5ERDZxqa2Xq2Puz5+YxLqVHk1qYyZ/xh4nPTSLI1lcnrz1nDzNj3SJ2ROyptm3vZ1T3N7mZmsSk7+dxPSmOlTvX8fvRXUzo87ZWZmLfd1i1ewPr9m4mOukGo5ZPpUhZwvBOA3XzMuDzDRW2dn3Pdeq8Wgf3Bu7YeNjQbFQzinKLSD6fXG0Zru++jl87P3zb+CJ3ldP4rcaIpWLij1T8JhsZGenYmJm1GcnnklF5SMHEyKD1flltzZD9uSHbHCDMvS3H757kRMoZUorS+DVmC6pyFS1qNNGrv717G65lX2df0mFSi9L44+ZukvJv086tlVYmT5Wvc9SzDyYmJ47Mkqxq26o6/vPOQHZ2Nnv37mXMmDGYmZnp3HN2dmbw4MFs2rRJ5+Vv0aJFhISEcPHiRaZOncq4cePYv3+/9n6/fv1IT09n9+7dnD9/ntDQUNq3b68zwxAXF8fWrVvZtm0bly5dAqCwsJCJEydy7tw5Dh48iJGREb1796b8nw/mnDlzBoADBw6QkpLCtm3bqq3X+vXrsbCw4PTp0yxcuJC5c+dqy6hWq+nVqxfm5uacPn2aH374QcfheRjr16/H2NiYM2fOsHz5cpYsWcLq1at1ZL788ktt+8yYMYPz58/Tv39/Bg4cyJUrV5g9ezYzZsxg3bp1QEWYyttvv02zZs2qrdfZs2cBWLt2LSkpKdpzgIMHD+Lq6krNmjWrLbeZmZn2BdjKyop169YRFRXF8uXLWbVqFUuXLq027eLFi1m3bh1r1qzh+PHjZGdns3379sdqrweZM2cO/fv35/Lly3Tt2pXBgwc/dOZpyJAhbNiwgRUrVhAdHc3333+PpWWFp19eXo6bmxtbtmwhKiqKmTNn8sknn7B582adPA4ePEh0dDTh4eFs2LCBbdu2MWfOHL36tm3bhpubG3PnziUlJYWUlBSgwuFq0KABu3bt4urVq7zzzju8+eabWpt8WkyMjKlbI4BjCee11zRoOJpwjoZutatNZyEx49y4LVwY/zvrB8wn0MFLe09qXPHiV1JW6fBo0KAsU9HYozJURCwS4y3z4GrmdR25q5nX8bf2+Vf1Gl5rIBfTr3I163q1MuVl5eTdUmAXZK+9JjISYRdkT258jt40uQnZ2NVy0LlmX9uR3AT98uVl5SQfTcLYzBgrN90RqsKMQkoUJTjVrgx3kZhLsPOxIzNOf2evLlOTk5ijk0ZkJMKpllOVNEknb7F9zDZ2f7yby5sjKVNW/ti+aN3qf3Qbqs2NjcQE2HpzLrXyg1QaNJxPu0pte3+9+TyIVCzFWCQmT1WovXY18wYtXEO1o4n1HWvhbuXM2dR/90G/ZkGhHLh4XOfa3vNHaFarYkTSxNiEBgHBHLhwrLI+Gg0HLhzTyoBhn+97FGQUUKIowblO5YinxFyCva89mTcy9epXl6nJvpmNc+3KNCIjEc61ncmM058m62YWObdyUPmaGbTeL6utGbI/N3Sbi0ViPKzciM6O1dEfnR2Lj8xLrz5fuZeOPMC17OvVyluZWBJsV4uIlFOPVZ8H+c+vGbhx4wYajYagoCC994OCgsjJySEjIwNHR0cAWrRowdSpUwEICAggIiKCpUuXEhYWxvHjxzlz5gzp6elIpVKg4uV4x44d/P7779qRcpVKxU8//YSDQ+WPTN++fXV0r1mzBgcHB6KioqhTp45W1s7ODmdnZx5G3bp1mTVrFgD+/v58/fXXHDx4kLCwMPbv3098fDzh4eHafD777DPCwsIe2V7u7u4sXboUkUhEYGAgV65cYenSpbz9dqUX/8orr/Dhhx9qzwcPHkz79u2ZMWOGts2ioqJYtGgRw4YNw9bWFnNzcyQSSbX1uld3a2vrKjIPhgjdj1qtZsOGDVy+fFnb9tOnV05fenl5MWnSJDZu3MhHH32kN49ly5bx8ccf06dPHwC+++479u59eAxkdQwbNoxBgwYBMH/+fFasWMGZM2fo3LlzFdnY2Fg2b97M/v376dChYuTHx6eyUzMxMdF5qff29ubkyZNs3ryZ/v37a69LJBLWrFmDubk5tWvXZu7cuUyePJl58+ZhZKTrr9va2iIWi7GystJpZ1dXVyZNmqQ9f//999m7dy+bN2+mcePGT9UWALbmcoyNjMko1HWIMgpz8Lf31JsmPiuJ8Ts/JyotHpmpJWOaDeSv4d/S+pshpORncCPzFsm5qUxr/y6T/1pEkaqEd5v1x1XuhJNl5bSyTGKJ2EiMQqU7Yq5Q5VHD0ulBtY9NM5eGeMndmX7i84fKqQpUaMo1SGRSnetSmZTC1AK9aZQKJRKrqvJKhW6YTHpkGpGrzqNWqZHKTWk0oVmVdPfCHUzluiEGpnJTSnKL9Zc5v6LMprKqafJSKtvRs5kn5nYWmNmYkZucy+VNkeSl5NNyXEuD6M6+k0P9MY0M0+Z5IJdaYWwkrhKKkF2Sh4dVDb16H2RUvYFkFudw/r4XjuXn1zO58Qi29fqasvIyyjUaFp1ZTWRG9U7o4+Bs60haju66i7ScTOQWMkwlpthYyTEWG+uVqenupz035PN9j5Lcir+TmUx3sM9UZkqxQr+tKfOVFbamxz7vtzWdcofHI6shI9fBBHsD1vtltTVD9ueGbnNLEwvERmLyVPk61/NV+biY66+7TGJFXqmufJ4qH3k1YU3NXRpToi7hQsaThwjB/wNn4B5PsgC3WbNmVc7vhYNERkZSUFBQJea8uLhYJ+TH09NTxxGACsdk5syZnD59mszMTO2MQFJSEnXq1HmS6lC3ru4IiYuLC+np6QDExMTg7u6u87L3uC90TZs21YaOQEXdFy9ejFqtRiwWA9CwYUOdNNHR0bz66qs611q0aMGyZct00j0NGo2GP//8s8po+DfffMPq1atRqVSIxWImTJjA6NGjAdi0aRMrVqwgPj6egoICysrKkMn0PwAKhYKUlBSaNKmcajM2NqZhw4Zam/n111959913tfd3795Nq1atquQFun8XCwsLZDKZ9u/yIJcuXUIsFtOmTfWfO1+5ciVr1qwhKSmJ4uJiVCpVlZ2QQkJCdNYuNGvWjIKCApKTk/H01P/D9CBqtZr58+ezefNm7ty5g0qlQqlUPvaaCKVSiVKpG5OtKSt/rLQPcu72Nc7dvqY9P5t8hePv/cKQhj354vCPlJWrGb55Gkt7TiV2ym7Kyss4mnCeAzdOIkL0kJz/PbamNgwN6sf8sysofci08/PGtqYdzWe2oTRfRfKxW1z6/hxenfy4sbVycVirD1s/N/2+7Sp/pK3drcm7oyD6z2h+H7kFkUj0QnWbWZsR/vlhitILMZI8fV/zKPS1edNP9PcDT8rgoB6092jGB4c+RVVeGdLYN6Ajtez8mHrkS1KLMqnnUJMJDYdVvFSkXXtIjv9d/u3zbXKzhE0jNmnTt53U9rmXuUxVRuLJRIJ7BZNE9WFuD+O/0q+9TLb2KF5Uf/7/oc1buDThdOr5h4ZTPYz/vDPg5+eHSCQiOjqa3r17V7kfHR2NjY1NlRf36igoKMDFxYXw8PAq9+5f5Ktvl5kePXrg6enJqlWrqFGjBuXl5dSpU+epFhjfvzsMVMSr33MunjcvcgedM2fOUFZWRvPmzXWuDx48mGnTpmFmZoaLi4t2BPzkyZMMHjyYOXPm0KlTJ+RyORs3btRZw/Ck9OzZU8dZcHV1rVb2Sf4uD4atPcjGjRuZNGkSixcvplmzZlhZWbFo0SJOnz79BKV/PBYtWsTy5ctZtmwZwcHBWFhYMH78+Me2zQULFlQJTTJv4052ewll5WU4WNjq3HOwsCG94PHiEsvK1VxJuYG3jZv22uWUWNp/PxwrqQUSsQlZRbnsHvE9l1IqR1TyVAWoy9XIJbqOoFwiI1epf/TvUfjIPJBLZcxv/rH2mthITE1bPzp6tOHNvZW7VEksJYiMRKgeWLiqzFMifWDk+h5SubTKQmBlnhLpAyOYxlJjjB2NwdECa18bjk47hCqvhI6fdtLKlJdW2F2JogQz60pbK1GUYO2pf2cdiVVFmR9csFuiKMFUXr29+ncMIPrPaELfbIBDTYcXqvveTkOF6YXY1bR/oW1++3gShFiiUOZTVq7GxlSuk8bWVEb2IxYuDqzZlddr9WDi4QUk5FbGuEvEJrxddwDTji/l1N1LACTkJuNn48nAoG7/6mUhNTsdJxvd3zwnG3sUhXmUqErIVKgpU5fplUnNqRzcyC5SvPDnu9RNQte+bbWy6rKKRcLFecWY2dxna3kl2HjotzWplbTC1hRVbc1Mj60lnUlCrVTj3dIbjt82SL3v8bLamiH7c0O3eUFpIepydZWF0lYSqyozJffIU+UjM9GVl0msUOhpKz+5D84WTvxwbf1D6/Iw/vNrBuzs7AgLC+Obb76huFh3yjA1NZVff/2VAQMG6IyGnzqlGzN16tQpbZhRaGgoqampGBsb4+fnp3PY29tTHVlZWcTExDB9+nTat2+vDU+6H4lEAlSM0v4bAgMDSU5OJi0tTXvt/hj8h/Hgi+apU6fw9/d/6Oh+UFAQEREROtciIiIICAh4olkBExOTKnXfuXMn3bp1q5KPXC7Hz88PV1dXnVCYEydO4OnpybRp02jYsCH+/v7cuqV/27F7+bi4uOjUu6ysjPPnK2NBraysdP7Oj3qJf1yCg4MpLy/XbpP6IBERETRv3pwxY8ZQv359/Pz8dGaf7hEZGalj26dOncLS0hJ3d3e9+UokkirtHBERwauvvsobb7xBSEgIPj4+xMbG6k2vj48//hiFQqFzWLRyp7S8jMt3Y2nl00ArK0JEK58GOqNkD8NIZESQkw9pen5k85WFZBXl4m3rRkiNQPZcr4xNVWvU3MxLoo5doI7u2vaB3MjVvx3co7iadZ3Jx+YxNWK+9ojPTSTi7lmmRsxHQ+UMpJGxETJPOVnRlTHImnINWdGZWPvqf0mx9rHVkQfIis7Qu23o/Wg0GhCJsHKy0h4yVxmmclPSoir7gdLiUrISsrD307+blthYjI2XDWnXKtNoyjWkRaVVmwagIK0iBMfW2/aF6865VdGPmlqbvvA2L/9n9qusXE1s9k0aOFfGi4sQEepUh2uZN6rNY1BQd4bU7s3k8IXEZN/UuWcsMsZEbFxlVrtcU47Rv/zpPRl9gfb1W+pcCwttzcmoCwCUlpVyPvaKjoxIJKJ9/ZZaGcAwz7eJEVbOVtpD7iqvsLX77Ka0qJTM+Ezs/fX/JouNxdh625J6LVV7TVOuIfVaKvZ+VdPEh8fjGuqqDWEzZL/2stqaIftzQ7e5WqMmKf82NW0q1yeIEBFkE0BCXqJe3fGKRGra6q5nqGUbqFe+ZY2mJOYlcbvgbrV1eRT/eWcA4Ouvv0apVNKpUyeOHj1KcnIye/bsISwsDFdXVz777DMd+YiICBYuXEhsbCwrV65ky5YtjBs3DoAOHTrQrFkzevXqxb59+0hMTOTEiRNMmzaNc+fOVVsGGxsb7Ozs+OGHH4iLi+PQoUNMnDhRR8bR0REzMzP27NlDWloaCsXDPc7qCAsLw9fXl6FDh3L58mUiIiK0cfT3Oz36SEpKYuLEicTExLBhwwa++uorbd2r48MPP+TgwYPMmzeP2NhY1q9fz9dff60Tg/44eHl5cfDgQVJTU7WO0h9//FHtegF9+Pv7k5SUxMaNG4mPj2fFihWPXAw8btw4Pv/8c3bs2MH169cZM2YMubm5T1T2p8HLy4uhQ4cyfPhwduzYwc2bNwkPD9eGRPn7+3Pu3Dn27t1LbGwsM2bM0OvUqVQqRowYQVRUFH///TezZs1i7NixVdYL3K/36NGj3Llzh8zMTK2u/fv3c+LECaKjo3n33Xd1nMlHIZVKkclkOofIuEL/d6c2MTi0O/1DOuNv78nC7h9ibmLGxkt/A/BVr2lMa18ZhjWx9TDa+DTC09qFYOcAvuk9Aze5M79e+Esr06NWW5p71sPT2oXOgS3Z/OYSdl8/xpEE3fbZdfMg7dxb0tq1KTUsnBleexBSsZQjt08CMLruUAYGVIa4iUViPK3c8LRyw9hIjI3UGk8rN5zMK0atStRKbhfc1TmUahUFpYV6O1KvMB9uH0vizolkClLyufbrZdQqNa4tPAC4/ONFYrZVhvZ4tvcm81o6N/fFU5CSz40/YlAk5uLxihcAZcoyYrdFkxufQ3FWEYpbuVxZdwllTgnODXRjV0UiEQGdAonaeY07F+6Qm5zL6e9PYWZthmto5Wjk4c8PcWN/peMX2LkmCUfiuXnsJnl3FJxbf44yZRnerSvWsxSk5XNtx1Wyb2ZTmFHAnQt3OP3DKRwCHbD2sDaIbpsAW+1iXkO1+eaY3XT3bUdn71Z4ymrwYaO3MDOW8vfNCmf/k6ajeCdkgFb+9aDujAh+jS9O/0BqYQa2pnJsTeWYGVfMYBSVFXMxLYrR9QZRzzEIFwsHOnu3ppNXK47e1rVzC1NzQnxrEeJbCwBvZ3dCfGvh7lBRvvnDp7L+o2Va+e/++hkfZw++GDmNQHdfRvcYQv823Vm6bZVWZsnWH3i76yCGhL1GTQ8/vv1gARamZqzdu0lHtyGfb6iwtZqda3J1x1Vun79NTnIOJ74/gbm1Oe4NKgdEDsw/QMy+GO15zS41iQuPI+FoAoo7Cs6sPYNaqcanje5i1PzUfNJj0vFr66dz3ZD1flltzZD9uSHbHGB/cjitajSjmXMjnM2dGBzYD4lYQsTdioHMt4IG09unu1b+YPIR6tgGEebeFmdzR3p4d8bTyp3Dt4/p5GsqltLAMYTjd59u4fA9/vNhQlD5UjVr1iz69+9PdnY2zs7O9OrVi1mzZmFrqzvV9+GHH3Lu3DnmzJmDTCZjyZIldOpUMf0uEon4+++/mTZtGm+99RYZGRk4OzvTunVrnJyqX8RiZGTExo0b+eCDD6hTpw6BgYGsWLFCu80mVMSqr1ixgrlz5zJz5kxatWqlNxzpUYjFYnbs2MHIkSNp1KgRPj4+LFq0iB49emi3Oa2OIUOGUFxcTOPGjRGLxYwbN067MLc6QkND2bx5MzNnzmTevHm4uLgwd+5chg0b9kTlXrx4MRMnTmTVqlW4urpy8OBB4uLitG3/OPTs2ZMJEyYwduxYlEol3bp1Y8aMGVW2Xr2fDz/8kJSUFIYOHYqRkRHDhw+nd+/eT+2MPQnffvstn3zyCWPGjCErKwsPDw8++aTiwzTvvvsuFy9e1M5cDRo0iDFjxrB7926dPNq3b4+/vz+tW7dGqVQyaNCgh9Z37ty5vPvuu/j6+qJUKtFoNEyfPp2EhAQ6deqEubk577zzDr169XombbDz2iHszK35qO0IHC1tuZYax6BfJ2m31XOVO1F+3+iItZkVi3t8hKOlLYqSfCLvxtJ9zWhiMxO1Mk6WdszpOBYHS1vS8rPYcnkPS45UneI8lXoemcSS1/y7Yy2VcSvvNp+f/QrFPwux7E1tdUZmbEzlfN6ycuetHj5h9PAJIyorlnlnqt+RqjpcGrmiyldxY2cMyjwlMncZDcc10YasFGcXc384sI2fLSEjQ4ndcZ3Y7dexcLQg9L1GWLlWvOiKjEQUphZw8eQ5VAUqJBYmyL2safJRC6xcq+61XbNbTcqUZZxbexZVkQoHfwfaTGqD+L7Y+oL0ApT3hcl4NPVAmV/C1W1XKsJ6PKxpM7mtdrGlkbERadfSiN0bS5mqDHNbc9wbulPr1doG0+3W2ctwbX6nYlbkUNIprKVWDA9+DVtTOXE5t5gU/gU5JRXT8k7mdjq29qpfByRiE+a1Gq/TbmuvbGXt1Yod1+ac+Jp3QgYwo9kYZBJLUosyWXV5Mzsf+ChRw4AQwhdXfiRp6ejZAKzbt5m3Fk3Exc4RD8fK8MbE1GS6TR/K0tGzGNd7OLczUxi5ZDL7zlXOUm4+8icO1nbMHToJZxsHLsVH0fmTN0nP1Z1FMeTzfY9a3WtRpizj9JrTqIpUOAY40u6jdg+1Na+mXijzlERujaREUYKNpw3tPmpXJUwo/kg85rbmuAS7/Gfq/bLamiH7c0O2OcC59ItYmVjQ06cLMomM2/l3WBH5Pfml/8zKmtrozEwn5CWy+tpPvOrTjV6+3UkvyuCbKz9ytzBVJ99GTqGIEHE27QL/BpHm//uncR/AEF9nfRFERETQsmVL4uLi8PWtuoctVOxBX69ePZ298w3JkiVLOHDgAH///behi/KfZdiwYeTm5j70+xGGwmnOs1lc+TS80vjJFuQ/SxwN+FVqufS//0Xs54FCWfhooefExTspBtN9bI3+EMMXgWNLb4Ppfq/ro3fGe16s/Hv/o4WeE4EBHgbTbUhbGzixh8F038l9uvUIz4KaTo+3lvV5UN3Xiavj/8XMwMvI9u3bsbS0xN/fn7i4OMaNG0eLFi2qdQT+i7i5ufHxxx8/WlBAQEBAQEBAQMAgCM7Af5T8/HymTJlCUlIS9vb2dOjQ4V/tqGMI7t9LX0BAQEBAQEBA4L/H/5wzkJiYaOgiPBOGDBnCkCFDnijN06xPEDAs977yLCAgICAgICBgCP5f7CYkICAgICAgICAgIPDsEZwBAQEBAQEBAQEBgZcUwRkQEBAQEBAQEBAQeEn5n9taVEBA4Nkw+vAEg+n+bv6WRws9JybOet1gugtUKoPpNiSW/3y93RDkG7DN85XKRws9J6wf8c2a54mHzHBbLiblZRhMt9qAr1uGtLWNS/40mO63P37NYLpL1WqD6V4b9tUTyQszAwICAgICAgICAgIvKYIzICAgICAgICAgIPCSIjgDAgICAgICAgICAi8pgjMgICAgICAgICAg8JIiOAMCj2TdunVYW1s/URovLy+WLVv2UBmRSMSOHTuAio/FiUQiLl26BFR8QE0kEpGbm/uv9TxP7q/D4zB79mzq1av3UJlhw4bRq1cv7Xnbtm0ZP3689tzQdRYQEBAQEBD43+F/7gvEz4vU1FQ+++wzdu3axZ07d3B0dKRevXqMHz+e9u3bG7p41SISidi+fbvOy+WTyg0YMICuXbs+87KlpKRgY2Oj917z5s1JSUlBLpcDFQ7J+PHjqzgHZ8+excLC4pmW68iRI7zxxhskJyczbNgwcnNzq33hf1gdnpbly5fzsE2+Hqzz4/6N/w23wxNJ2ncTVZ4SSzcrAgbURuZtXa18+vkUEv6IpSSrGDNHc3x718Q+2FFHpjClgPjt18mJzUZTrsHCxZLgd0MxtTXTyrQKbsLkfqNoEBBMDTtnes0awc4Tex9a1jZ1m7Fk1ExqewaQnJHCp78tZ/0+3d2JxvQcyuR+o3C2dSAyPpr3V87gbMylKnklHkogfk8cSoUSmbuM2q/Xxcan+r/33bN3iNlxneLMIiycLKj5Wm2c6jpp76ecv8ut8EQUt3IpLSyl1ay2yD3k1ebX1rUlYR6vIJdYcbvgLhtjt5KYn1StfKhDCK/6dMXO1Jb04gy2xf/J1axo7f3vX1mmN93WuJ3sSzpsMN0nUiN0rj3Ldi8vKydmezTpV9IoyijC2MwY+1oOBPWthamNmU4+bV1b0vG+Om94RJ0bPFDnrQ/UWSqW0Me3B/Xsg7EwMSezJJtDyUc5evdElbzCPNrQwzsMuVRGUv5t1kVtIl5xS69eN0sXXvPvgY/MAwdzO36K3sLuxEPVlrOnT0cGBfZmd+IhfoquulOXoZ7ve2g0Gi79fonYwzdQFapwDHCk2fCmyFxk1ZYBIHrfda7+dZViRTG2HrY0GdoYB7/KnYry0vI49+s50mLSKS8rx7VuDdz6+iGRSQ1e75fR1gzdnxuyzV9xa0UXr/bIJTKSCu7w6/XfuZmnv80BGjrWo49fd+xNbUkrymBL3E4uZ0Zp78skVvTzf5XadjUxNzYjNieOX2N+J63o6XbLEmYGHoPExEQaNGjAoUOHWLRoEVeuXGHPnj20a9eO995776nz1Wg0lJWVVbmu+o9tL2hmZoajo+OjBZ8QZ2dnpFKp3nsSiQRnZ2dEItFD83BwcMDc3PyZlmvnzp306NHjsWQfVoenRS6XP3Qm5nnU+WGknbvLjd+v49Xdj0aftMDSTcalr86gytO/VZ0iPodrP17CpYU7jaa1xKGeM1e+O0/BnXytTFFGIee/PIm5kyWhE5vQeEZLvLr6YWSs2yVZmJoTmRDFe19Nf6yyejm7s+vT9RyOPEG90Z1Ytn01qycuomPDNlqZ/m16sOTdmcz5ZSmho7sQmRDF3gW/4GBtp5PX3TN3iNp0jYCegbSa1QaZu5wzS0+irKbe2XHZXPzhPB6tPGg1qy3O9V049/Vp8m7naWXUSjW2/nYEvVb7kXVp6Fif1/x7sStxD5+d/ZLbBXf4oN4orEws9cr7yLwYWXsIESmn+PTsl1zKuMLo4BHUsHDWykw+PkPnWB/9G+Waci6kX/7P6H7W7a5WqVEkKfDvUZFfw/caU5hawNmvTlepcz//XvyVuIdPz35JcsEdxj1GnY+nnGLe2S+5mHGFMQ/UuZ9fL2rb1uTHqF+YdfpzDiYfYVBAX0Lsdf/+TZ0b8GZQX7bG7eKTE/O5lXebqY0+QCax0qtbIpaQXpTJhtgd5JQo9Mpoyyn3pL17K27l3dZ735DP9z2u/nmVqL3RNBvelG7zumJsasy+z/dTpqp+a8abJ29y9pez1OsTQs/PemDrYcP+zw9QrCgGoLSklP0L9oNIROdpneg6qwvqsnIiV55DU64xaL1fVlszZH9uyDZv7BTKwMDe7EzYzezTC0nOv8OHoWOq1e0n92ZU8DCO3jnJrNNfcCHjMu+HvI2rhYtW5v2Qt3Ews+OrSz8w+9QXZJVkMyl0LBKjp9umWXAGHoMxY8YgEok4c+YMffv2JSAggNq1azNx4kROnToFVA1zAcjNzUUkEhEeHg5Uhr7s3r2bBg0aIJVKOX78OG3btmXs2LGMHz8ee3t7OnXqBMDVq1fp0qULlpaWODk58eabb5KZmanNv23btnzwwQd89NFH2Nra4uzszOzZs7X3vby8AOjduzcikUh7/qQ8GCYUHx/Pq6++ipOTE5aWljRq1IgDBw5USZefn8+gQYOwsLDA1dWVlStX6tx/WIjN/WFC4eHhvPXWWygUCkQiESKRSFvPB0NmcnNzGTlyJA4ODshkMl555RUiIyO19yMjI2nXrh1WVlbIZDIaNGjAuXPndHT/8ccf9OzZ87Ha5sE6TJkyhYCAAMzNzfHx8WHGjBmUlpZWSff999/j7u6Oubk5/fv3R6Go7GQfDBN6kPvrrO9vnJiYiJGRUZV6LVu2DE9PT8rLyx+rbvdIPnCTGi3cqdHcHYsaVgS+XgcjEzF3T+jv8JMPJWJb2x7Pjj5YuFji0zMAKw85t8MTtTIJO2Oxq+OAX9+aWHnIMXewwCHESTtid489Zw8zY90idkTseayyjur+JjdTk5j0/TyuJ8Wxcuc6fj+6iwl93tbKTOz7Dqt2b2Dd3s1EJ91g1PKpFClLGN5poE5eCfvicG/tiXtLT6xqyAh+MwQjiZjk4/pHc24eiMehjiO+nf2xqmFFYO8g5J7WJB66qZVxa+5OQM9A7Gs9ep/1Du5tOX73JCdSzpBSlMavMVtQlatoXqOJXvn27m24ln2dfUmHSS1K44+bu0nKv01bt1ZamTxVvs4RYh9MbE4cmSVZ/xndz7rdTcxNaPphc2o0csXS2QobX1vqDK6L4paC4qwibT5h1dS5xRPWud19dfaVe3My9SyxuXFklWRz7O5JbhfcxUvmqZNXN+/2HEqO4Midk9wpSOXHaxtQqVW0dWumV3eC4ha/xWzjZMo5ysqrDijdQyqWMjbkLVZd/ZXC0iK9MoZ8vqFiUCxqTzQhveri0dADWw9bWo1uSVFuEUnnqh+1vfZ3FAHt/PFv64+1mzXNRjTDWCrmxpE4ANJj0ynIKKTluy2w8bDBxsOGVqNbkp+kICcmy6D1flltzZD9uSHbvKNnO47ePsnxu6e5W5jKT9GbUKlVtHLV3+ZhHm25khXNnlsHSSlMY3v8Lm7lJdPeozUATuYO+Fl781P0Jm7mJZFalM5P0ZuRiE1o6tLgsdr2QQRn4BFkZ2ezZ88e3nvvPb3hKE8aSw8wdepUPv/8c6Kjo6lbty4A69evRyKREBERwXfffUdubi6vvPIK9evX59y5c+zZs4e0tDT69++vk9f69euxsLDg9OnTLFy4kLlz57J//36gIpwEYO3ataSkpGjP/y0FBQV07dqVgwcPcvHiRTp37kyPHj1IStLtuBctWkRISAgXL15k6tSpjBs3Tlu2J6F58+YsW7YMmUxGSkoKKSkpTJo0Sa9sv379SE9PZ/fu3Zw/f57Q0FDat29PdnY2AIMHD8bNzY2zZ89y/vx5pk6diomJiTb9tWvXSE9P55VXXnnicgJYWVmxbt06oqKiWL58OatWrWLp0qU6MnFxcWzevJk///yTPXv2cPHiRcaMGfNU+vT9jb28vOjQoQNr167VkV27di3Dhg3DyOjxH/vysnLyk/KwDaocZREZibANsicvIUdvGkVCDrY17XWu2dayJy8hFwBNuYasK+mYO1pwacUZjk0+wLnPI8i4lPrY5aqOZkGhHLh4XOfa3vNHaFYrFAATYxMaBARz4MIx7X2NRsOBC8e0MlBRb8UtBQ5BlS/tIiMRDrUcyInXX++c+JwqL/kOtR3Jic9+4nqIRWI8rNyIzo6tLCcarmfH4iPz0pvGR+7F9fvkAaKyr1crb2ViSbBdLY6nnPrP6H5R7V5aXAoiMDaveParq3P0Q+rsK/fSkQe49kCd4xU3CbGvg7WkIhQs0NoPJ3MHorKva2XEIjHeMg+uZlZe06DhauZ1/K19qq3D4zC81kAupl/latZ1vff/C893QXoBxbnFuNSpob0mMZfg4OtAxg39IQ/qMjVZN7N00oiMRLjUqaFNU15aDiIQm4i1MmITMSKRiJzYLIPV+2W1tafhWfXnhm5zLyt3rmXH6OiOyo7BT1697qj75AGuZl3HV+5dUW+jigj/0vucMw0aysrL8Lf21ZvnoxDWDDyCuLg4NBoNNWvWfGZ5zp07l7CwMJ1r/v7+LFy4UHv+6aefUr9+febPn6+9tmbNGtzd3YmNjSUgIACAunXrMmvWLG0eX3/9NQcPHiQsLAwHh4ofSGtra5ydnXlWhISEEBISoj2fN28e27dv548//mDs2LHa6y1atGDq1KkABAQEEBERwdKlS6vU/VFIJBLkcjkikeih9Th+/DhnzpwhPT1dG7rz5ZdfsmPHDn7//XfeeecdkpKSmDx5svbv6e/vr5PHzp076dSpE5Kn/CLq9OmV059eXl5MmjSJjRs38tFHH2mvl5SU8NNPP+Hq6grAV199Rbdu3Vi8ePET/52q+xuPHDmSUaNGsWTJEqRSKRcuXODKlSvs3LnzifIvLVChKddUGdmSWEkpSi3Qm0aVp8REj/y9MA9Vvgq1Us2tvQn49AzAt3dNsq5lcOX7C9Sf0ASbADt92T4WzraOpOXovkCk5WQit5BhKjHFxkqOsdhYr0xNd7/KOuQr0ZRrkD5YD5mUgpR89KFUlFSRl8qk1Ya3PAxLEwvERmLyVbq68lT5OJs76U0jk1iRV1pVXi7VH3fdzKUxJeoSLmbohukYUveLaHd1qZrrv0dRo7EbJmYmlKhU2jrnPVDnfFU+Lv+izhtjt/JGzQEsbDkHdbmacjT8fH0TN3IT7svHErGRGIUqTycvhSqPGpb6dT8OzVwa4iV3Z/qJz6uV+S883/fCeszkul9ENpObau89iPIfO9GXRnG3YpbVwd8BY6kx5zacp8GAUDQaDec3XkBTrqEkq9hg9X5Zbe1peFb9uSHb3EpyT/eDbZ6Ps4V+3XKprEpZFap85P+EcqUUppFZnM1rfj1YH70RpVpFJ8922JraYC15+Dqb6hCcgUfwsIWcT0vDhg2rXGvQQHdqJzIyksOHD2NpWTWmLD4+XscZuB8XFxfS09OfYWmrUlBQwOzZs9m1axcpKSmUlZVRXFxcZWagWbNmVc6f5y44kZGRFBQUYGf3wI9NcTHx8fEATJw4kZEjR/Lzzz/ToUMH+vXrh69vpSe9c+dOHYfmSdm0aRMrVqwgPj6egoICysrKkMl0H04PDw+tIwAV7VJeXk5MTMwzc9p69erFe++9x/bt2xk4cCDr1q2jXbt21YaKKZVKlA98rl6tqn5K+F/xzzPlEOKIR4eKkQ4rdxl5CTncOZr0r5wBgcenhUsTzqSef+jU//+a7vKyci58ew6NBoLfrPvoBP+Sdm6t8ZF58XXkKrJKsgmw9uX1gL4olAqic2IfncFTYmtqw9Cgfsw/u0Jn9PCF8IjnW5lTwtHf9mnFO3z0fDbgMJWZ0nZcG06tOUX03mhEIhHezb2x8pDxiKVoT4eB+7WX0tYMjKHaXK0p5+vI1Qyv/Tor2y1EXa4mKjuGy5nXgKczbsEZeAT+/v6IRCKuX3/41Ne90Iv7nQd9seKA3nCjB68VFBTQo0cPvvjiiyqyLi6Vi0juD3GBihj2J40Jf1ImTZrE/v37+fLLL/Hz88PMzIzXXnvN4AufCwoKcHFx0a7RuJ974VyzZ8/m9ddfZ9euXezevZtZs2axceNGevfuTUpKChcvXqRbt25Ppf/kyZMMHjyYOXPm0KlTJ+RyORs3bmTx4sX/olZPh0QiYciQIaxdu5Y+ffrw22+/sXz58mrlFyxYwJw5c3SuNRjShAZvNEFkJKqyqE6Vr9Qb/wsVo7ileuTvjd6aWEoQGYkwd9FdsGbubIkiTv8U/eOSmp2Ok41uyIiTjT2KwjxKVCVkKtSUqcv0yqTmVDrREispIiNRldFlVZ4S6QOjkfeQyk2ryCvzlFVGrR+HgtJC1OVqrB5Y1CeTWFUZ1btHniofmYkeeWVVeT+5D84WTqy6tv4/pft5tnt5WTnnvztLUVYRzSa3wMSssu+8V+cHF1Fa/Ys6mxiZ0Nu3G99eWcOVrIpdQO4UpuBm5UqYRzvty0KeqgB1uRr5AyN6comMXD3t9zj4yDyQS2XMb/6x9prYSExNWz86erThzb3vV5Txn2fxRT7f9iFO1AyuDElRl1UsEi5WlGBuU7kxQrGiBFtPW71lkP5jJ8WKEp3rxYoSzKwrd+1xretK32V9KckrQSQ2Qmoh4bdRG3AIdTFYv/ay2trT8Kz6c0O2eb7qnu4H29yKvGraXKHMq1JWucQKxX2zBbfyk5l16gvMjE0xFhmTX1rA9MYfkphX/TqbhyGsGXgEtra2dOrUiZUrV1JYWFjl/r2tLu+Fa6SkpGjv3b+Y+EkJDQ3l2rVreHl54efnp3M8yVaaJiYmqNXV78jwNERERDBs2DB69+5NcHAwzs7OJCYmVpG7t7j6/vOgoKCn0imRSB5Zj9DQUFJTUzE2Nq7SZvb2lbGeAQEBTJgwgX379tGnTx9tbP2ff/5J8+bNsbXV/wP0KE6cOIGnpyfTpk2jYcOG+Pv7c+tW1UWPSUlJ3L17V3t+6tQpjIyMCAwMfCq91f2NR44cyYEDB/jmm28oKyujT58+1ebx8ccfo1AodI7Q1xthZGyElYeMnOuVizw15Rpyrmchq2arR7mPDdnXdReFZkdnIvOxBqjI00tOUZrudHxRWiGmdvpf+B6Xk9EXaF+/pc61sNDWnIy6AEBpWSnnY6/oyIhEItrXb6mVuVdGuaeczOjK6WdNuYbM6AxsfPXX28bXRkceIDMqHRvfJ7cntUZNUv5tgmwqw9hEiKhpE0BCXqLeNAmKRGra6oa9BdkG6pVvUaMpt/KSuF1wt8o9Q+p+Xu2udQTSCmk6qTkSS90wwHt1rvlAnYMeUud4PXWudV+dxSIjjI2Mq8wuazQajO4bmlZr1NzMS6KOXeXzL0JEbftAnXCDJ+Fq1nUmH5vH1Ij52iM+N5GIu2eZGjEfDRVlMsTzbWxqjMxZpj2sXa0xszYj5Vrlb6eqSEVGfAYO/voX2ouNxdh52+mk0ZRrSLmWojeNqcwUqYWElGspqPJVONRzMli/9rLa2tPwrPpzQ7d5Yn4ytWwDdHXbBhCnqF73/fIAte0CiVfcrCJbXFZCfmkBTuYOeMs8uJh+RW+ej0JwBh6DlStXolarady4MVu3buXGjRtER0ezYsUKbSiMmZkZTZs21S4MPnLkiE78+JPy3nvvkZ2dzaBBgzh79izx8fHs3buXt95664le7r28vDh48CCpqank5Dx81PXmzZtcunRJ59DnAPn7+7Nt2zYuXbpEZGQkr7/+ut7ZiIiICBYuXEhsbCwrV65ky5YtjBs37rHL/mA9CgoKOHjwIJmZmRQVVd2toEOHDjRr1oxevXqxb98+EhMTOXHiBNOmTePcuXMUFxczduxYwsPDuXXrFhEREZw9e1broFS3i5BCoajSLsnJyXrbJSkpiY0bNxIfH8+KFSvYvn17FTlTU1OGDh1KZGQkx44d44MPPqB///5PHSJU3d84KCiIpk2bMmXKFAYNGoSZWdX9ve8hlUqRyWQ6h1hSMXHo3sGbu8eTSTl5m8KUAmI2XEWtKqNGczcAotZGEr+9cubM/RUvsq9lkLQ/gcLUAhL+jCX/lgK3tl5aGc8wH9LPpXDnWBJF6YXcPpxI1pV0XNvo7sJgYWpOiG8tQnxrAeDt7E6Iby3cHSoWDs4fPpX1Hy3Tyn/318/4OHvwxchpBLr7MrrHEPq36c7Sbau0Mku2/sDbXQcxJOw1anr48e0HC7AwNWPt3k06un06+pF09BbJEUnk383nyi+RqJVq3Ft4AHBx9Xmit1bu++zdwZeMq+nE742jICWfmJ3XyU3MxesVb62MqkCFIklB/t2KEZ7C1AIUSQpKHhjhBDiQHE7LGs1o6twIZ3MnXg/sh0Qs4cTdii0xhwUNppdPd638weQj1LYNooN7W5zMHenu3RlPK3fCbx/TyddULKWBYwjH7+o66/8V3c+63cvLyjn/7VkUibnUf6dBRcy4ooQSRQnlZZX91v7kcFrVaEazf+o8+J86R/xT57eCBtP7gTrXsQ0izL0tzuaO9Pinzof/qXOJWklMThx9/XoSYO2HnaktzZwb09S5IRczdH+wd908SDv3lrR2bUoNC2eG1x6EVCzlyO2TAIyuO5SBAa9q5cUiMZ5WbnhauWFsJMZGao2nlRtO5g5a3bcL7uocSrWKgtLCKk6YIZ9vqHh5q9U5iMvbL5N0PomcpByOfXscc2tzPBp6aOX2fraX6L2Ve7zX7lqL2MOxxB2NI/dOLifXnKKspAz/NpWx4jfCb5B+I4O8tDzij8cTvvwI7u29sXC2NGi9X1ZbM2R/bsg233frMG1cm9PCpTEuFk4MCeqPVCzV9oMja7/Ja36V25nvTwqnjl0tOnm+grO5E6/6dMFL5sHBpKNamYaO9Qi08cPBzI76DsFMCn2PC+mXuZb9dAu4hTChx8DHx4cLFy7w2Wef8eGHH5KSkoKDgwMNGjTg22+/1cqtWbOGESNG0KBBAwIDA1m4cCEdO3Z8Kp01atQgIiKCKVOm0LFjR5RKJZ6ennTu3PmJdoNZvHgxEydOZNWqVbi6uuodwb/HxIkTq1w7duxYlWtLlixh+PDhNG/eHHt7e6ZMmUJeXtXprg8//JBz584xZ84cZDIZS5Ys0W6b+qQ0b96cUaNGMWDAALKyspg1a5bONqpQ8aPy999/M23aNN566y0yMjJwdnamdevWODk5IRaLycrKYsiQIaSlpWFvb0+fPn2YM2cOhYWFHDx4UO+ahvDwcOrXr69zbcSIEaxevVrnWs+ePZkwYQJjx45FqVTSrVs3ZsyYUaWcfn5+9OnTh65du5KdnU337t355ptvnqpd4OF/4xEjRnDixAmGDx/+1Pk7NaxBab6KhD9jUeWpsHKzIuT9xtrp9JLsYp0wRbmvDbVH1CPhj1jid8Zi7mhO8KgGWLpWTns61Hcm8PU63NoTz43NUZg7WVDnnVCs/XRH0RsGhBC+uPIDM0tHzwZg3b7NvLVoIi52jng4Vq6/SExNptv0oSwdPYtxvYdzOzOFkUsms+/cEa3M5iN/4mBtx9yhk3C2ceBSfBSdP3mT9NzKbXsBajR2RZmvJHbHdZR5FR+/ajyhqTZcpTi7WOc7GLZ+ttR/uwEx26OJ2RaNhaMFDcc2QeZWOT2cdimVyLUXtecXvq/Y/tW/ZyCBr+puUnAu/SKWJhb09OmCTCLjdv4dVkR+T35pxcijramNzqhbQl4iq6/9xKs+3ejl2530ogy+vfIjdwt1dzNp5BSKCBFn0i5QHYbU/azbvSS3hLR/dnQ5OjtcR1fTyS2Q+si0dbb6l3X+5oE6r7q2nt6+3RlR+w0sjM3JLslhR8LfHLmj+5G1U6nnkUksec2/O9ZSGbfybvP52a+0YQH2prY6I5A2pnI+bzlNe97DJ4wePmFEZcUy74zu7mWPwpDP9z3q9KhDmbKME6tPoipS4RTgRNjUDhhLKncCykvLpyS/MkzHu5k3JXklXPz9EsW5xdh62hI2tQNm8spBD0VKHuc3XUBVoMLSwZK6rwZj2dLB4PV+WW3NkP25Idv8TNoFrCSW9PLthlxqRVL+HZZc+Ea7SNjuAd1xipt8f2Udffy609evO2lFGXwVuYo7hZUzYdZSOYMC+yCTWJGrzONEyhn+SHi8LVv1IdI8jxWyAgL/z9i2bRvTp08nKirq0cL/j5g3bx5btmzh8uXLjxZ+gNGHJzyHEj0e382v+pXUF8XEWa8bTHfBf+yDgy8Ky6fcvetZkG/ANs9/YNH+i8Ta9N+F5P0bPGSP/s7G8yIp7+m+0PosUBvwdcuQtrZxyZ8G0/32x68ZTHfpMw7RfhLWhn31RPJCmJCAAGBpaal3sfb/VwoKCrh69Spff/0177//9Au4BAQEBAQEBP63EcKEBATgqcO5/quMHTuWDRs20KtXr38VIiQgICAgICDwv43gDAgI/A+ybt061q1bZ+hiCAgICAgICPzHEcKEBAQEBAQEBAQEBF5SBGdAQEBAQEBAQEBA4CVFcAYEBAQEBAQEBAQEXlKENQMCAgJ6yTPgVnSG3A7OkHjI7R8t9D9IdnHV75S8KFYt+N1gulsNb2Mw3UY2okcLPSfcrJwMpvtqxm2D6f5t8R8G021IWzNkf27I57vtO68YTPeTIswMCAgICAgICAgICLykCM6AgICAgICAgICAwEuK4AwICAgICAgICAgIvKQIzoCAgICAgICAgIDAS4rgDDwHhg0bRq9evbTnbdu2Zfz48c9Vp0gkYseOHc9Vx7p167C2tn6uOgSenMTEREQiEZcuXTJ0UQQEBAQEBAT+n/FS7SY0bNgw1q9fD4CxsTFubm7069ePuXPnYmpq+tz0btu2DRMTk+eW/+OQkZHBzJkz2bVrF2lpadjY2BASEsLMmTNp0aKFQct2PyqViuXLl7NhwwZiYmIwNjbGy8uLHj16MGbMGGrUqGHoImoRiSp24zh58iRNmzbVXlcqldSoUYPs7GwOHz5M27Ztn2s53N3dSUlJwd7++e1EE+bRmm7eYcglMpLyb7M+ejMJilt6ZV0tXXjNrzvecg8czOz4OXoLe24d1pFp796KDh6tcTCzBeB2QQrb4/4mMjOqSn5tXVvS0eMV5BIrbhfcZUPsVhLzk6otawOHEF716YqdqS3pxRlsjf+Tq1nR2vtSsYQ+vj2oZx+MhYk5mSXZHEo+ytG7J6rklXgogfg9cSgVSmTuMmq/XhcbH5tqdd89e4eYHdcpzizCwsmCmq/Vxqlu5c4pKefvcis8EcWtXEoLS2k1qy1yD3m1+Wk0GiJ/j+TG4ThUhSocAhxoOrwJMhdZtWkAru+L4dpf1yhWFGPrYUPjoY2x96u0j/y0fM79ep70mHTKy8qpUbcGjYc1wkxuZhDdAQNqIpVX9MGGavNWwU2Y3G8UDQKCqWHnTK9ZI9h5Yu9D69qmbjOWjJpJbc8AkjNS+PS35azft0VHZkzPoUzuNwpnWwci46N5f+UMzsZcqpJXb/8wBtbshq2ZnPicJJafX090doJevd1929HJqyU+1u4AxGTfZFXkJh15M2Mp74YMpKVbQ+QSS1IKM/g9di9/xB2skp8hn2+osLUjvx7n0r7LlBQqcQtypeuYMGxr2OqVB4jYcorrJ2LJupOFscQEt5o1aD+sDXZudlqZnz7eQNLVZJ10Ds1d8RxQ06D1fpltzVD9uaHbHKCXb3sGBHbF1lROfG4yKy7+zPUc/e3ezbstHT1b4C13AyA2J5HVV7boyE9p9DadvVrppDuTepkpx758aL308dLNDHTu3JmUlBQSEhJYunQp33//PbNmzXquOm1tbbGysnquOh5F3759uXjxIuvXryc2NpY//viDtm3bkpWVZdBy3Y9SqSQsLIz58+czbNgwjh49ypUrV1ixYgWZmZl89dVX1aZVqVQvsKSVuLu7s3btWp1r27dvx9LS8l/n/bh1EovFODs7Y2z8fHz7ps4NGFyzL9vidjH9xAKS8u8wteH7yCT66yg1kpBenMnGmB3klCj0ymSX5LIxZgfTTnzO9BNfcC0rlomho3C1dNGRa+hYn37+vfgrcQ+fnv2S5II7jKs3CisT/bp9ZF6MrD2E4ymnmHf2Sy5mXGFM8AhqWDhrZfr59aK2bU1+jPqFWac/52DyEQYF9CXEvrZOXnfP3CFq0zUCegbSalYbZO5yziw9iTJP/5ar2XHZXPzhPB6tPGg1qy3O9V049/Vp8m5XbpupVqqx9bcj6LXaevN4kGt/XiN673WaDG9C13ldMDY15sDnB1Gr1NWmuXkykXO/nCOkT126f9YNGw8bDnx+kGJFMQClJaXsX3AAkQg6Tguj86xOlJepObToMJpyjUF0n/nqNJpyjUHb3MLUnMiEKN77avpD5e7h5ezOrk/XczjyBPVGd2LZ9tWsnriIjg0rt3Ds36YHS96dyZxflhI6uguRCVHsXfALDtZ2Onm94tGU9+oPZt3VbYzcM5243CS+bDcVa6l+x6u+YxAHb51k3MHPGL1vFulFWXzZbir2ZpVO03v136CxS10+PfkNb/49mS0xuxnfYCgtXEN18jLk832Pk1vPcPavC3QZ05G3vnwDiakJv83cQpmqTK88wK2ryTTsVp+3Fr3J4Hn9KVeX8+vMLahKdPvN+p3qMv6nMdrD7VU/g9f7ZbU1Q/bnhmxzgHZuTRgd8jrro3bwzv6ZxCuSWNh6MtZS/e+G9Rxqcij5FBPCF/DeobmkF2WxqPVk7E11B0ZOp0TS54/3tce8U988Vv0e5KVzBqRSKc7Ozri7u9OrVy86dOjA/v37tffLy8tZsGAB3t7emJmZERISwu+/V+5Tq1arGTFihPZ+YGAgy5cvf6jO+8OEwsPDEYlEVY5hw4Zp5Xfu3EloaCimpqb4+PgwZ84cysoqO8UbN27QunVrTE1NqVWrlk759ZGbm8uxY8f44osvaNeuHZ6enjRu3JiPP/6Ynj17auWWLFlCcHAwFhYWuLu7M2bMGAoKCh6a98PKqtFomD17Nh4eHkilUmrUqMEHH3xQbV5Lly7l+PHjHDp0iA8++IAGDRrg4eFBmzZt+O6775g/f75Om44dO5bx48djb29Pp06dADhy5AiNGzdGKpXi4uLC1KlTddru999/Jzg4GDMzM+zs7OjQoQOFhYXav03jxo2xsLDA2tqaFi1acOuW/lGiewwdOpSNGzdSXFysvbZmzRqGDh1aRXbKlCkEBARgbm6Oj48PM2bMoLS0VHt/9uzZ1KtXj9WrV+Pt7a2drbp+/TotW7bU/r0PHDigExb2YJjQPRs7ePAgDRs2xNzcnObNmxMTE/PQulRHF69XOJwcwdE7p7hTmMqaaxtQqlW0cW2uVz4h7xYbYrZzKvU8ZRr9P+YXM64QmXmNtKIMUovS2XLjD0rKlPjJvXXkwtzbcvzuSU6knCGlKI1fY7agKlfRokYTvfm2d2/Dtezr7Es6TGpRGn/c3E1S/m3auVWOnvjKvTmZepbY3DiySrI5dvcktwvu4iXz1K3HvjjcW3vi3tITqxoygt8MwUgiJvm4fpu4eSAehzqO+Hb2x6qGFYG9g5B7WpN46KZWxq25OwE9A7Gv5aA3j/vRaDRE77lO3V7BeDR0x8bDhpajW1CUW0TSuepH0qL/jsK/nT9+bf2wdrOm6YimiKVi4o7EA5ARm0FhRiHN322OjYcNNh42tBjdgqybWaRcSzWIbkViLpnXMwza5nvOHmbGukXsiNjzULl7jOr+JjdTk5j0/TyuJ8Wxcuc6fj+6iwl93tbKTOz7Dqt2b2Dd3s1EJ91g1PKpFClLGN5poE5e/QO78Ff8YXbfPMqtvDssPruGkjIl3Xz07w0/7+Q37Ig7QFzuLZLyU1h4ZhVGIiMaOFW+ANWx92fPzWNcSo8mtTCTP+MPE5+bRJCtr05ehny+ocLWzvxxjpb9mxHY1B8nb0d6TuhGfnYBMadu6G984PU5/QjpEIyDpz1O3o70GN+VvIw8UuLSdORMpCZY2lhqD7GpscHr/bLamiH7c0O2OUC/gM7suhnOnsRj3Mq/y5Lz6yhRK+nipb/dPzvzHTvjDxKvSCI5P4Uvz/2ISGREqFMtHbnS8jJylArtUVBa9Fj1e5CXzhm4n6tXr3LixAkkEon22oIFC/jpp5/47rvvuHbtGhMmTOCNN97gyJEjQIWz4ObmxpYtW4iKimLmzJl88sknbN68+bF0Nm/enJSUFO1x6NAhTE1Nad26NQDHjh1jyJAhjBs3jqioKL7//nvWrVvHZ599ptXfp08fJBIJp0+f5rvvvmPKlCkP1WlpaYmlpSU7duxA+ZAPSRkZGbFixQquXbvG+vXrOXToEB999FG18o8q69atW7WzLzdu3GDHjh0EBwdXm9+GDRsICwujfv36eu/fC8u5x/r165FIJERERPDdd99x584dunbtSqNGjYiMjOTbb7/lxx9/5NNPPwUgJSWFQYMGMXz4cKKjowkPD6dPnz5oNBrKysro1asXbdq04fLly5w8eZJ33nmnis4HadCgAV5eXmzduhWApKQkjh49yptvvllF1srKinXr1hEVFcXy5ctZtWoVS5cu1ZGJi4tj69atbNu2jUuXLqFWq+nVqxfm5uacPn2aH374gWnTpj20TPeYNm0aixcv5ty5cxgbGzN8+PDHSnc/YpEYb5kHV7MqHQkNGq5mXcffuuoP+9MgQkRT5wZIjSXE5VZOgYpFYjys3IjOjtXRHZ0di4/MS29evnIvHXmAa9nXdeTjFTcJsa+DtaQiVCTQ2g8ncweisq9rZcrLylHcUuAQVPkCKTIS4VDLgZz4HL26c+JzqrxwOtR2JCc+++ENUA0F6QUU5xbjUqdyVFFiLsHB156MG5l606jL1GTdzMalTuXImchIhEsdFzJuZFTIlKpBBGITsVZGbCJGJBKRHpNuMN1ZMVkGb/MnoVlQKAcuHte5tvf8EZrVqhgNNTE2oUFAMAcuHNPe12g0HLhwTCsDYGwkJsDWm3OpVyvl0HA+7Sq17f0fqyxSsRRjkZg8VaH22tXMG7RwDdWO4NZ3rIW7lTNnU69oZQz5fN8jN01BQU4h3vUqX95MLaS4Brhw+/rdx9ajLKz4bTOz0g35vRoexeLXv+L799ZwaP0R1Cr1f6LeT8L/iq0Zqj9/Gp5VmwMYi8QE2HhxPu1apSwaLqRFUdvO77HKIzWWYmyk2+5QMYOwrcfXrO/8BeNDh1Y7s/UoXqo1AwB//fUXlpaWlJWVoVQqMTIy4uuvvwYqwlTmz5/PgQMHaNasGQA+Pj4cP36c77//njZt2mBiYsKcOXO0+Xl7e3Py5Ek2b95M//79H6lfIpHg7FzxY5mVlcXIkSMZPny49kVtzpw5TJ06VTuy7OPjw7x58/joo4+YNWsWBw4c4Pr16+zdu1cbPz9//ny6dOlSrU5jY2PWrVvH22+/zXfffUdoaCht2rRh4MCB1K1bVyt3/yJnLy8vPv30U0aNGsU33+ifdnpUWZOSknB2dqZDhw6YmJjg4eFB48aNqy1nbGxslfj63r17a2c+6taty4kTlXGA/v7+LFy4UHs+bdo03N3d+frrrxGJRNSsWZO7d+8yZcoUZs6cSUpKCmVlZfTp0wdPz4ofnnvOSXZ2NgqFgu7du+PrWzGaERQUVG1Z72f48OGsWbOGN954g3Xr1tG1a1ccHKqOQk6fXjk96eXlxaRJk9i4caOOw6VSqfjpp5+06ffs2UN8fDzh4eFau/nss88ICwt7ZLk+++wz2rSpGHWYOnUq3bp1o6Sk5InWx1hJLBEbiVGodL8Qm6fMp4bFv/uKqLtlDWY3nYSJkQklaiVLL/zAncJU7X1LEwvERmLyVPk66fJV+biY69ctk1iRV6orn6fKR37fFPjG2K28UXMAC1vOQV2uphwNP1/fxI37frBV+Uo05RqkMqlOXhKZlIIU3fzvoVSUVJGXyqTVhrg8inuhNaZy3b+XqdxMe69KGf4p9/2x/wBmclPy7laENjj4O2AsNebChgvUH1AfjUbDhY0X0ZRrKM4tNpjuosxCg7f5k+Bs60haTobOtbScTOQWMkwlpthYyTEWG+uVqele+QIgl1phbCSuEnqSXZKHh9XjrZEaVW8gmcU5nL/vJW/5+fVMbjyCbb2+pqy8jHKNhkVnVhOZUfmSZMjn+x4FORUvNxbWFjrXLawtKMx5+Mz0PTTlGvatOohbkCuOnpV9b502Qcgd5VjZWpKWmM6hdUcQx5rRcEwrg9f7SfhfsDVD9udPw7Nqc6hod7GRmJwSXXvLKVHgYaU/dO5B3g0eUNHu9zkUZ1Ivc+z2OVIKM6hh6cjI4H583upDxh6c+yRVBV5CZ6Bdu3Z8++23FBYWsnTpUoyNjenbty9QMSpbVFRU5UVLpVLpjFavXLmSNWvWkJSURHFxMSqVinr16j1ROUpLS+nbty+enp46YUaRkZFERERoR9ehIjSppKSEoqIioqOjcXd311lIe89xeRh9+/alW7duHDt2jFOnTrF7924WLlzI6tWrtSFKBw4cYMGCBVy/fp28vDzKysq0es3Nzavk+aiy9uvXj2XLluHj40Pnzp3p2rUrPXr0eKLY9m+++YbCwkJWrFjB0aNHde41aNBA5zw6OppmzZrpjOa3aNGCgoICbt++TUhICO3btyc4OJhOnTrRsWNHXnvtNWxsbLC1tWXYsGF06tSJsLAwOnToQP/+/XFxefSD+sYbbzB16lQSEhJYt24dK1as0Cu3adMmVqxYQXx8PAUFBZSVlSGT6cZpenp66jgSMTExuLu7ax0B4KEO1f3c7+jdq0d6ejoeHh5VZJVKZZVZI7VKDdIqos+Mu4VpfHJiAWbGpjRxDmVU3SF8enrpv/7hfBTt3FrjI/Pi68hVZJVkE2Dty+sBfVEoFUTnxD46g+fE7VPJ7Pnpsvb8lY+ez6fsTWWmtBnXmlNrThO99zoikahiga8I4o7EcTPi5gvV7d3cC7mn/JGzcAL6GRzUg/Yezfjg0KeoyivDDvsGdKSWnR9Tj3xJalEm9RxqMqHhsCovFM+L6p7vy0cu8cWUyhnRgTP7/mtdu7/bT0ZSJkO/GKxzPbRzPe3/Hb0csLSx5Nfpm1Bm63donwWG6tdeBP9FW/uv9ufPkkGB3Wnn0YQJ4Qsova/dDyef1v7/Zt5tEhTJ/NZ1MfUcH28g835eOmfAwsICP78Kr23NmjWEhITw448/MmLECG18/K5du3B1ddVJJ5VWvBVt3LiRSZMmsXjxYpo1a4aVlRWLFi3i9OnTPAmjR48mOTmZM2fO6LwcFxQUMGfOHPr06VMlzb/d8cjU1JSwsDDCwsKYMWMGI0eOZNasWQwbNozExES6d+/O6NGj+eyzz7C1teX48eOMGDEClUql1xl4VFnd3d2JiYnhwIED7N+/nzFjxrBo0SKOHDmid3clf3//KnHt915ibW2r7iphYWFR5drDEIvF7N+/nxMnTrBv3z6++uorpk2bxunTp/H29mbt2rV88MEH7Nmzh02bNjF9+nT279+vs1OQPuzs7OjevTsjRoygpKSELl26kJ+vO5px8uRJBg8ezJw5c+jUqRNyuZyNGzeyePHif1Wnh3F/G9970SovL9cru2DBAp0ZL4A6gxtS/82mqMvVyCW6TotMaoVCqTvK8aSoNWrSiipGVRLzkvGRedLJqx1rrm0AoKC0EHW5GplEd4GVlcSqyojePfJU+chMdOVlksqymhiZ0Nu3G99eWcOVrIodPu4UpuBm5UqYRzvtj4fESorISFRlhFmVp9TuevMgUrlpFXllnrLKyHV1OIc447XAXXteXlbxtypRlGBuU/n8lSiKsfHUv8uK9J9yPzh6X6wowdS6csS+Rt0a9FnWm5K8EozERoiMRGwdtw2/tn4EvOL/QnVLLCRsGrUZl4Y1Xnib/xtSs9NxstGdAXSysUdRmEeJqoRMhZoydZlemdScdO25QplPWbkaG1PdHY5sTWVkV7NQ9R4Da3bl9Vo9mHh4AQm5lbvmSMQmvF13ANOOL+XU3UsAJOQm42fjycCgbtoXtHxVwQt/vpOybtOlZWVcvrq0YkF6YW4hVraVIQ6FuYU4+Tx6lH7Pd/u5cTaeIQsGIbN/+EYdroEVvyeZt9MN1q89Df8LtmbI/vxpeFZtDhXtri5XY2Oqa282pvJHtnv/gC68XrMbHx5dSIIi+aGyKYUZ5CrzcLV88tmtl3rNgJGREZ988gnTp0+nuLiYWrVqIZVKSUpKws/PT+dwd6/4kY6IiKB58+aMGTOG+vXr4+fnR3x8/BPpXbJkCZs3b2bnzp3Y2emuOg8NDSUmJqaKfj8/P4yMjAgKCiI5OZmUlBRtmlOnTj1V/WvVqqVdPHv+/HnKy8tZvHgxTZs2JSAggLt3Hx6v+aiyApiZmdGjRw9WrFhBeHg4J0+e5MqVK3rzGzRoEPv37+fixYtPVZ+goCBOnjyJRlO5I0pERARWVla4uVVszyUSiWjRogVz5szh4sWLSCQStm/frpWvX78+H3/8MSdOnKBOnTr89ttvj6V7+PDhhIeHM2TIEMRicZX7J06cwNPTk2nTptGwYUP8/f0fuTgZIDAwkOTkZNLSKhfFnT179rHK9CR8/PHHKBQKnaN2/1DUGjU385KobReolRUhoo5dIDdybz4kxydHJBJhYlTpGKs1apLyb1PTpjKWVYSIIJsAEvIS9eYRr0ikpq1u7Gst20CtvFhkhLGRsY6NQEWsp9F9I9NGxkbIPeVkRldOAWvKNWRGZ2Djq3+bSxtfGx15gMyodGx8q98e8X6MzUyQOcu0h9xVjpm1mXZRL4CqSEVGfCYO/vq3kRUbi7HzttVJoynXkHotFQf/qqFrpjJTJBYSMhMyURWq8G/r98J1p1xLQZmvxDnU5YW3+b/hZPQF2tdvqXMtLLQ1J6MuAFBaVsr52Cs6MiKRiPb1W2plAMrK1cRm36SBc+WCTBEiQp3qcC2z+gW0g4K6M6R2byaHLyQmW/dZNBYZYyKuauflmnKM7vvZN8TzLTY1xraGjfaw97DD0saCxMjK/lBZpORObApuNasPXdFoNOz5bj8xJ2/w5mcDsHG2fmQZ0hIqXtJElmKD9WtPw/+KrRmqP38anlWbA5Rp1MTmJBLq+EC7O9biWlZctWUYGNiVN2u9ykfHviQ259F2aW9mg0xiSVZx7uNUUYeXbmbgQfr168fkyZNZuXIlkyZNYtKkSUyYMIHy8nJatmyJQqEgIiICmUzG0KFD8ff356effmLv3r14e3vz888/c/bsWby9H2/R0YEDB/joo49YuXIl9vb2pKZW/HCamZkhl8uZOXMm3bt3x8PDg9deew0jIyMiIyO5evUqn376KR06dCAgIIChQ4eyaNEi8vLyHrmgNCsri379+jF8+HDq1q2LlZUV586dY+HChbz66qsA+Pn5UVpayldffUWPHj20i3IfxqPKum7dOtRqNU2aNMHc3JxffvkFMzMzbbz+g0yYMIFdu3bRvn17Zs2aRatWrbCxsSE2Npbdu3frfcm+nzFjxrBs2TLef/99xo4dS0xMDLNmzWLixIkYGRlx+vRpDh48SMeOHXF0dOT06dNkZGQQFBTEzZs3+eGHH+jZsyc1atQgJiaGGzduMGTIkIfqvEfnzp3JyMioEvZzD39/f5KSkti4cSONGjVi165dOk5IdYSFheHr68vQoUNZuHAh+fn52rUHzzKsQiqVame/7iGWVLT37sRDvBs8hJuKW8QrbtHZqx1SsZQjd04CMCp4KDnKXDbF7qxIJxLj9s9WesYiMTam1nhauVGiVmpHzAYEvEpkxjUyS7IxE5vSvEYjgmz9+eLc1zpl2J8czltBr3MrP5mbeUl0cG+DRCwh4m7FTNxbQYPJVSrYnvAXAAeTjzA59H3C3NtyJSuKRk6heFq58/P1TQCUqJXE5MTR168nqtjSf6aV/Wjq3JAtcTt1dPt09OPSjxeQe1lj7W3DzQPxqJVq3FtUhFldXH0eUxszgvpW7O7g3cGXkwuPE783Dqe6Ttw5c4fcxFyCh9TT5qkqUFGcXUxJbgkAhakVs5FSubRKfL5IJCKoc02ubL+CzNkKSwdLLm25hLm1OR4NK0O99n22H4+G7tTsVLF3elDXWkR8F4G9jx12vvZE746mrKQMvzaVO3vEhcchd5VjKjMl40YGZ346S60uQchryA2i2yfMF0tnK4O2uYWpOX6uXtpzb2d3QnxrkZ2XS3LGXeYPn4qrvTNDF44H4Lu/fmZsz2F8MXIaa/Zu5JV6LejfpjvdplfuJLZk6w+s/2gp52IjORNzifG9R2JhasbavZt0/tabY3bzcdN3icm+SXRWPP0CO2NmLOXvmxUbV3zSdBSZxTn8EFmR7vWg7gwPfo15J1aSWpiB7T8jvcVlJRSXKSkqK+ZiWhSj6w1CqVaRVphJiGMQnbxa8fXFX3R0G/L5vmdrjXs25Pimk9jWsMHayZrwX45hZWtJYNPKF8Ffpm0ksFkAjbpXLM7c8+1+rh6Npv+03kjMJBT8s75Aai7FRGpCdkoO145E49fQBzMrM9IT09m3+jCWvtaYu1oZtN4vq60Zsj83ZJsDbIndw9TGbxObc5Po7ARe8++IqbGUPYkV4c8fN3qHjOIcVl+t+I7BwMBuvFW7D5+d/pbUwkxspJXtXqJWYiqWMrR2b47ePkt2iQJXS0ferTuAOwXpnE3TP+D6MF56Z8DY2JixY8eycOFCRo8ezbx583BwcGDBggUkJCRgbW1NaGgon3zyCQDvvvsuFy9eZMCAAYhEIgYNGsSYMWPYvXv3Y+k7fvw4arWaUaNGMWrUKO31oUOHsm7dOjp16sRff/3F3Llz+eKLLzAxMaFmzZqMHDkSqJjN2L59OyNGjKBx48Z4eXmxYsUKOnfuXK1OS0tLmjRpwtKlS4mPj6e0tBR3d3fefvttbb1CQkJYsmQJX3zxBR9//DGtW7dmwYIFD30ZflRZra2t+fzzz5k4cSJqtZrg4GD+/PPPKrMh9zA1NeXgwYMsW7aMtWvX8vHHH1NeXo63tzddunRhwoQJD21bV1dX/v77byZPnkxISAi2traMGDFC+/Isk8k4evQoy5YtIy8vD09PTxYvXkyXLl1IS0vj+vXrrF+/nqysLFxcXHjvvfd49913H6rzHiKR6KEf/erZsycTJkxg7NixKJVKunXrxowZM5g9e/ZD8xWLxezYsYORI0fSqFEjfHx8WLRoET169HiuH8q7n1Op57GSWPKaf3fkUhm38m7zxbmvtQvB7Mxs0FAZfmRjKmd+i0+05929w+juHUZUdiyfnVkGVEz1jqo7FGupjKLSEpLz7/DFua+5mqW7A8S59ItYmVjQ06cLMomM2/l3WBH5PfmlFT/8tqY2aKgcFUrIS2T1tZ941acbvXy7k16UwTdXfuTuffG6q66tp7dvd0bUfgMLY3OyS3LYkfA3R+5E6Oiu0dgVZb6S2B3XUeZVfACr8YSm2pCV4uxiHYfM1s+W+m83IGZ7NDHborFwtKDh2CbI3CodxLRLqUSurZz5uvD9OQD8ewYS+GrNKm1fu0dtypRlnFx9ClWRCscARzpMba911KDiI14l+ZWhMt7NvFDmlXDp90iKc4ux9bSh/dRXdBb2KlLyuLDpIqoCFRYOFtR9NZigrkEG0+3UztXgbd4wIITwxZUfFFo6ejYA6/Zt5q1FE3Gxc8TDsTJ8NDE1mW7Th7J09CzG9R7O7cwURi6ZzL5zR7Qym4/8iYO1HXOHTsLZxoFL8VF0/uRN0nN1d2Q6lHQKa6kVw4Nfw9ZUTlzOLSaFf6FdcOhkbqcz+vmqXwckYhPmtRqvk8/aK1tZe3UbAHNOfM07IQOY0WwMMoklqUWZrLq8mZ0PfAjKkM/3PZr1bYyqRMWur/dRUliCey03Bs3ph7Gk8hUlJzWXorzKbRPP774EwM+fbNTJq8e4LoR0CEZsLObmpUTO/HEOVUkpMnsrgpoHUNLEzOD1flltzZD9uSHbHODw7dPIpVYMq93nn4+OJTHl2CJy/gl5cjS3o/y+ur/q+woSsQlzmutux77u2nbWR22nXFOOr9ydTp4tsZSYk1Wcw7m0q6y5upXS8uq/z1EdIs2D8ysCAgL/aSIiImjZsiVxcXHanY+eB4P3jHlueT8Ki/u2+33RWBlQt63Zw7/u+79KdvG/i9P+NyyZ83ihgM+DVsP17zH+InC3qf7L18+bzj4NHi30nNiTcN5gun9b/IfBdBvS1mo6Pfq7Ks+LVQt+f7TQc6LtO89nI4bH4XC/n55I/qWfGRAQ+K9z74vG/v7+xMXFMW7cOFq0aPFcHQEBAQEBAQGBlwPBGRAQ+I+Tn5/PlClTSEpKwt7eng4dOlTZhUhAQEBAQEBA4GkQnAEBgf84Q4YMeeyFzAICAgICAgICT8JLvbWogICAgICAgICAwMuM4AwICAgICAgICAgIvKQIzoCAgICAgICAgIDAS4qwtaiAgIBe2v9uuHUKHnLDbXvoYG5hMN2NXeoaTLchOZNy2WC6zz7iS+vPE3+75/+l5OqIz842mO5dvR/+QcvnSbftox4t9JwoN+DbliFtrVStNpjuxFyFwXSH/3DIYLo1+28/kbwwMyAgICAgICAgICDwkiI4AwICAgICAgICAgIvKYIzICAgICAgICAgIPCSIjgDAgICAgICAgICAi8pgjMgICAgICAgICAg8JIifIFYQOABvLy8GD9+POPHjzd0Uf5TvOrbnv4BXbE1lROvSOariz8Tk5OgV7ard1s6erbAS+YGQGxOIj9e3VKt/Pj6w+jh+worL/3Ktri9OvdecWtFF6/2yCUykgru8Ov137mZd6vacjZ0rEcfv+7Ym9qSVpTBlridXM6M0t6XSazo5/8qte1qYm5sRmxOHL/G/E5aUYbe/DQaDdd3RHPraCKlRaXY+tkRMqQelk6WD2suEg4mELfnBkpFCTJ3OXUH18XGp3JHD3Wpmqsbr3DnzG3Ky8pxrONErQ99sLSpzFej0XDw53DO7rlASWEJnrXc6Tm2G/audtXqPf3XWU7vOkduWi4Ajp6OtHu9NYGN/AEoyi/m4M+HibuQQG6GAgu5ObWa1aTDkHaYWpgaRLdNR0dMzE0M0ublYc6ILSt19/Jtz4DAf+w8N5kVF3/mejV22827ws695ZV2vvrKFh35KY3eprNXK510Z1IvM+XYl1Xya+vako4eryCXWHG74C4bYreSmJ9UbX0bOITwqk9X7ExtSS/OYGv8n1zNitbe/+GVZXrT/R63k2+zt+pcM9TzDXBg/0G2bPqd6GvRKBQKNm3dSM2gwGrrfY99e/az8qtvuHvnLh6eHoyf+AGt2lS2tUaj4Zuvv2Xblu3k5+dTr34Ipc2UmNhX2rkh6/2y2Nqumwe054buzw3R5q2CmzC53ygaBARTw86ZXrNGsPNEVXu4nzZ1m7Fk1ExqewaQnJHCp78tZ/2+LToyY3oOZXK/UTjbOhAZH837K2dwNubSQ/OtDmFmQOCRDBs2DJFIxOeff65zfceOHYhEoifKy8vLi2XLlj3D0j0969atw9ra+qnTFxcXY2FhQVxcnM41W1tb7O3tUSqVz6CUj0d4eDgikYjc3Nznkn9btyaMqvs6P0XtYNSBmcTnJvFFq8lYS630yoc41ORQ0ik+PLKA9w/PJaM4i4WtJmNvalNFtkWNBgTZ+ZJZXHWrw8ZOoQwM7M3OhN3MPr2Q5Pw7fBg6BisT/S+FfnJvRgUP4+idk8w6/QUXMi7zfsjbuFq4aGXeD3kbBzM7vrr0A7NPfUFWSTaTQsciMZLozTNu9w0SDiQQMqQerae3xVgq5uTiCNSl1W+Xd+fMba5tukJgz5q0mdUOubuck0tOoMyrtImrG66QFplKozFNaDmlFSW5xfz66WadfI5tieDkH6d59f1ujF42EhNTCeum/0Kpqqxa3TJ7GZ3e6sCYr95hzIp38Anx4te5G0m7lQ5AflY++dkFdB4ZxgffjqbvxF7Eno9j29I/DKb74toLBmvz7N9itffbuTVhdMjrrI/awTv7ZxKvSGJh6+rtvJ5DTQ4ln2JC+ALeOzSX9KIsFrWuauenUyLp88f72mPeqW+q5NXQsT79/HvxV+IePj37JckFdxhXb1S1tu4j82Jk7SEcTznFvLNfcjHjCmOCR1DDwlkrM+n4DJ1jXfRvlGvKuZCuu5WroZ7vexQXF1M/tB7jP/ygWpkHuXTxElMnf0zvPr3YtHUD7dq3Zfz7E7lxo7I/XvvjOjb8soHpsz7hl40/YWZmRua662hKyw1e75fR1gzdnxuqzS1MzYlMiOK9r6br1fMgXs7u7Pp0PYcjT1BvdCeWbV/N6omL6NiwjVamf5seLHl3JnN+WUro6C5EJkSxd8EvOFhXP1jzMARnQOCxMDU15YsvviAnJ8fQRXkmlJaW/us89u/fj6enJ35+ftprW7dupXbt2tSsWZMdO3b8ax3/FV4L6MzfN8PZe+sYt/LvsuzCOpRqJZ292uiVX3DmO/5IOEi8Ionk/BQWn/sRkciI+o61dOTsTW14v96bzD/zHWXlVV/0Onq24+jtkxy/e5q7han8FL0JlVpFK9dmevWGebTlSlY0e24dJKUwje3xu7iVl0x7j9YAOJk74GftzU/Rm7iZl0RqUTo/RW9GIjahqUuDKvlpNBri98cR2CMQl/o1kLvLCR3ZkJLcElIupFTbXnF74/Bs7YVnK09krjJChtRDLBFz61giAKVFpdw6lkidgcE4BDlg7WVD/eENSIpKJin6tlZ3xI7TtB3YmlrNauLs7US/Sb3Iz8on+sT1anUHNQ0ksLE/9q522LvZ0XFYeySmEpKvV+Tr5OXI69P7E9Q0ELsatvjW8yZs6CtcPx2LWl1uEN1pkamU36f7RbZ5aVIBquR8APoFdGbXzXD2JFbY+ZLz6yhRK+lSjZ1/duY7dsZX2vmX/9h5qJOunZeWl5GjVGiPgtKiKnmFubfl+N2TnEg5Q0pRGr/GbEFVrqJFjSZ6dbd3b8O17OvsSzpMalEaf9zcTVL+bdq5VY5S5qnydY569sHE5MSRWZKlk5ehnu979OjZnVFj3qVJs6bVyjzIrz9voHnL5gwbMRQfXx/GfvAeQbWC2PjrRqDCjn796Tfefvdt2rVvR0BgAJ9+Pg91vori6ByD1/tltDVD9+eGavM9Zw8zY90idkTs0avnQUZ1f5ObqUlM+n4e15PiWLlzHb8f3cWEPm9rZSb2fYdVuzewbu9mopNuMGr5VIqUJQzvNPCxdDyI4AwIPBYdOnTA2dmZBQsWPFTu+PHjtGrVCjMzM9zd3fnggw8oLCwEoG3btty6dYsJEyYgEomqnVWYNGkS3bt3154vW7YMkUjEnj2VD5Kfnx+rV68GoLy8nLlz5+Lm5oZUKqVevXo6somJiYhEIjZt2kSbNm0wNTXl119/5a233kKhUGjLMnv2bG2aoqIihg8fjpWVFR4eHvzwww9Vyrlz50569uypc+3HH3/kjTfe4I033uDHH3/UuafRaJg9ezYeHh5IpVJq1KjBBx9UjoR98803+Pv7Y2pqipOTE6+99pr2Xnl5OQsWLMDb2xszMzNCQkL4/ffftfVr164dADY2NohEIoYNGwbA77//TnBwMGZmZtjZ2dGhQwft3+NxMRaJCbD24kL6tcq6oOFCWhS17PwekrISqbEUYyMx+aWVukWImNr4XTbH/s2tvDtV0ohFYrys3LmWHaOjNyo7Bj+5l149vnIvou6TB7iadR1fuTcAJkYVkZGl5ZWj2xo0lJWX4W/tWyW/oowilAolDrUctNdMzE2w8bEhJ17/iF95WTmKW7k6aURGIhxqOWjT5N7KRaPW6MhYuVhh7Sgn+XoyADmpuRTkFOBb30crY2philugG0n/yDyKcnU5l8OvoiopxaOme7VyJYVKpOZSxGIjg+g2NjXG6B/dL7rNxXIJqqSCCju38eJ8WlU7r/2Edp6n0n3G6jnUZFuPr1nf+QvGhw5FJtEdCRWLxHhYuRGdXTlLoUFDdHYsPjIvvbp85V468gDXsq9XK29lYkmwXS0iUk7pXDfU8/1vuXzpMk2b6b68Nm/RjMuRFSPRd27fITMzkyb3yVhZWSFxs0SVlG/Qer+Mtmbo/tyQbf6kNAsK5cDF4zrX9p4/QrNaoQCYGJvQICCYAxeOVdZFo+HAhWNamSdFcAYEHguxWMz8+fP56quvuH1b/5ft4uPj6dy5M3379uXy5cts2rSJ48ePM3bsWAC2bduGm5sbc+fOJSUlhZQU/aN8bdq04fjx46j/+WrhkSNHsLe3Jzw8HIA7d+4QHx9P27ZtAVi+fDmLFy/myy+/5PLly3Tq1ImePXty48YNnXynTp3KuHHjiI6Opl27dixbtgyZTKYty6RJk7SyixcvpmHDhly8eJExY8YwevRoYmIqO6Xy8nL++usvXn31VZ36nzx5kv79+9O/f3+OHTvGrVuVsZBbt25l6dKlfP/999y4cYMdO3YQHBwMwLlz5/jggw+YO3cuMTEx7Nmzh9atW2vTLliwgJ9++onvvvuOa9euMWHCBN544w2OHDmCu7s7W7dWxP/GxMSQkpLC8uXLSUlJYdCgQQwfPpzo6GjCw8Pp06cPT/rRcbnUCrGRmJySPJ3rOUoFtqaP96Xgt4MHkFWco9MRDwzshlqjZlvcPr1prCQWiI3E5Kl09SpU+ciksmrKKiNPlV9FXi6pmAZOKUwjszib1/x6YG5shlgkpqtXB2xNbbCWVM1TmVcCgFRmqnNdKjOlRFGitwzKfCWacg1SmVRPmoqQFaWiBCNjI0zMdaeyLawtyM8uACA/p+JfSxvdLyJb2lhQkPNwhy71Zhpzes9nVs9P2fn1XwyeMQBHTwe9soWKIsI3HKVRl8ofkRet27ONl/bai25zI0sTygtKq7fzkse383flGUR4AADAcElEQVSDB5D5gJ2fSb3MgjM/8OGRz/nh8iZCHGryeasPMaJyMMTS5J6t69puviofuR67hIpY6bxSXfk8VT7yap6N5i6NKVGXcCFDN0TIUM/3vyUzMxO7B76qa2dvR2ZmlvZ+xTVdGbGlCeqH/b1fQL1fRlszdH9uyDZ/UpxtHUnL0V3zkJaTidxChqnEFHu5LcZiY70yzjaOT6VTWEAs8Nj07t2bevXqMWvWrCqj3lDxwjp48GDtwlt/f39WrFhBmzZt+Pbbb7G1tUUsFmNlZYWzs3OV9Pdo1aoV+fn5XLx4kQYNGnD06FEmT56sDbsJDw/H1dVVG57z5ZdfMmXKFAYOrJge++KLLzh8+DDLli1j5cqV2nzHjx9Pnz59tOdyuRyRSKS3LF27dmXMmDEATJkyhaVLl3L48GECAysWtZ06VTHi0aRJ5ajTmjVr6NKlCzY2FfGEnTp1Yu3atdoZh6SkJJydnenQoQMmJiZ4eHjQuHFj7T0LCwu6d++OlZUVnp6e1K9fHwClUsn8+fM5cOAAzZpVTKf6+Phw/Phxvv/+e9q0aYOtbcUPnqOjo3YdRHx8PGVlZfTp0wdPT08ArfPxIEqlssoah/JSNUYmYr3yT8LAwO60c2/Ch0cWUFpeEZ7lb+1FH/+OjDow81/n/ySoNeV8Hbma4bVfZ2W7hajL1URlx3A58xogIuNsCqc3Vi5Oazq++QsrW/LJZO7eSCElPpXTf51lyJzXnzovezd7xq4cRUlhCVePR/H74h28vXBYlZfykkIlP836DamFKSd3nubkztMAL1x3woF4Eg7EAy+2zZ8lgwK7086jCRPCK+0c4HDyae3/b+bdJkGRzG9dF1PPMYh8deoLK18LlyacTj1PWXn1az6ehid9vosuZdL008q/8Tfff01ow6cbzTQkhuzXXlZbe5BH9efPkqdp80McfKZleJ4IzoDAE/HFF1/wyiuv6Iyi3yMyMpLLly/z66+/aq9pNBrKy8u5efMmQUFBj6XD2tqakJAQwsPDkUgkSCQS3nnnHWbNmkVBQQFHjhyhTZuKGL+8vDzu3r1LixYtdPJo0aIFkZGROtcaNmz42PWsW7eu9v/3HIb09HTttZ07d9K9e3eMjCom19RqNevXr2f58uVamTfeeINJkyYxc+ZMjIyM6NevH8uWLcPHx4fOnTvTtWtXevTogbGxMWFhYXh6emrvde7cmd69e2Nubk5cXBxFRUWEhYXplFGlUmkdBn2EhITQvn17goOD6dSpEx07duS1117TOiv3s2DBAubMmaNzzatfXXz6h6BQ5qMuV2NjqjvSYiOVk12ieGg79gvowqDAbkw+tpAERWV4SbB9INZSGRu6LtVeExuJGRUyiL7+Hfn4xFzyVYWoy9XIHhzhkViRp9Qd3bmHQpmHTGJVRV5x3+jSrfxkZp36AjNjU4xFxuSXFjC98Yck5iVhG+yAR81XtLLlZRVx7Mq8EkytK0eqlXklyD2s9ZZBaiVFZCTSWbiqzUNeMXItlZtSXlZOaZFKO1LtXM8ZSxsLQsPq0aBjfcpKK35IC3IKkdlW1qkgpxAXXye9uu9hbCLGrkaFg+jqX4M7sXc5sfMUvT7oUVmeIiXrZ/yC1EzCm7MHoSyqLO+L1n0msfJZfZFtDlBeUIqRpUn1dm76aDvvH9CF12t248Ojunauj5TCDHKVebhaOnFdUfGCVlB6z9Z1bddKYoVCpd/W81T5yEx05WUSKxR6ng0/uQ/OFk78cG19lXsv+vnuUqMlZcOLtdcdnZ5uJNPe3p6sLN2wsazMLOzt7bT3K65l4+BQ6YiqC0qRuJgbpF8b9PeHwEPa/H/Y1gzRn+vm9eLb/GlJzU7HyUZ38MTJxh5FYR4lqhIyFWrK1GV6ZVJz0nkahDAhgSeidevWdOrUiY8//rjKvYKCAt59910uXbqkPSIjI7lx4wa+vlXjsR9G27ZtCQ8P177429raEhQUxPHjx3WcgSfBwsLi0UL/YGJionMuEokoLy/Xnv/xxx866wX27t3LnTt3GDBgAMbGxhgbGzNw4EBu3brFwYMVowPu7u7ExMTwzTffYGZmxpgxY2jdujWlpaVYWVlx4cIFNmzYgIuLCzNnziQkJITc3FwKCipCNnbt2qXTtlFRUdp1A/oQi8Xs37+f3bt3U6tWLb766isCAwO5efNmFdmPP/4YhUKhc3j1rgNAmUZNbG4i9R1rV7YHIuo71iIqK65KXvcYENCVN4JeZerxL4nN0dV5ICmCt/dP450D07VHZnE2m2P+ZsqxRQCoNWoS85OpZRugozfINoA4RaJenfGKRB15gNp2gcQrqta5uKyE/NICnMwd8JZ5cDH9CmJTYyydLLWHVQ0rpHIpGVGV07GlxaXkJORg42tbJU8AI2Mj5J7WZERXptGUa8iIztCmsfa0RiQW6eRbkltCfnYBNZtULK519HDA0saShEuV29iVFCq5HXP7oTH4+tBoNJTdtxNPSaGStdN+QWws5o1Zg7C0tsCuhq32eNG6DdXm+Sn5qBUqJB6WFXaek0joA3Ye6liLaw+x84GBXXmz1qt8dKyqnevD3swGmcSSrOJc7TW1Rk1S/m1q2vjr6A6yCSAhL1FvPvGKRGra+utcq2UbqFe+ZY2mJOYlcbvgbpV7L/r5nnNhJR6eHtrD1NS0Gg0Pp269upw+dUbn2qmTp6gbUjGQ4+rmir29PadPVY7cFhQUoLpdgMTDymD9GvBS2poh+vP7MWSbPyknoy/Qvn5LnWthoa05GVWx61ppWSnnY6/oyIhEItrXb6mVeVKEmQGBJ+bzzz+nXr162pCZe4SGhhIVFaWzu86DSCQS7VqAh9GmTRvWrFmDsbExnTt3BiochA0bNhAbG6tdLyCTyahRowYRERE6DkJERIQ2BOffluVBbty4wa1bt3RG6n/88UcGDhzItGnTdGQ/++wzfvzxR62smZkZPXr0oEePHrz33nvUrFmTK1euEBoairGxMR06dKBDhw7MmjULa2trDh06RFhYGFKplKSkpGqdIImkYqTzwfqIRCJatGhBixYtmDlzJp6enmzfvp2JEyfqyEmlUqRS3Xjr+0OEfo/dw5RGbxObc5Pr2Qn09e+IqbGUvYlHAZjS6B0yi3P48WrFPsgDA7sxtFYf5p/5ltTCTGykFTGZxWUllKiV5KkKyFMV6OgrK1eTXaLgdkEqHvIK+X23DjOy9hsk5iWRkHeLjh5tkYqlHL9bEaY1svab5Cpz+T3uTwD2J4UzpeE4Onm+QmTGNZo4h+Il82Bd1EatnoaO9cgvLSC7JAc3yxq8HtiXC+mXuZZddZcckUiEb5gfsX/FYOFkiYWDOdHbozG1NsUltHJ7u4hFx3EJdcGnfYXT69fJjwurz2PtZY2Ntw3x++NRK9V4tKwI1zIxN8GzlRdXN13BxEKCiZkxl3+9jEeQGx5BbpV/u15NOLzxGHaudtg4WXPg58NY2VkR1LymVvePU3+iVvOaNOtZYe971x4goKE/1o5ylEVKIsOvcPNyIsM+fQOoeBlfN+1nVMpS+k0egLJIqZ0VsJCbYyQ2euG6SxQl2tH9F93mJu6WSNwrRh+3xO5hauMKO4/OTuC1f+x8zz92/nGjd8gozmH1fXb+Vu0+fHZav52biqUMrd2bo7fPkl2iwNXSkXfrDuBOQTpn067gZVM5Srk/OZy3gl7nVn4yN/OS6ODeBolYQsTdipfZt4IGk6tUsD3hLwAOJh9hcuj7hLm35UpWFI2cQvG0cufn65t0bNhULKWBYwhbbuysYt/3eNHP94MochWkpKSS8c/sa2JiIgD29nbYO1SM8E+bOh1HR0fGTazYdGHwm4MYMfRt1q/9idZtWrHn771cuxrFjDkzgIrnZ/CQ11n1/Wo8PT1wdXNl5YpvEFtJMAuyMXi9X0ZbM3R//qLb/B4Wpub4uXppz72d3QnxrUV2Xi7JGXeZP3wqrvbODF04HoDv/vqZsT2H8cXIaazZu5FX6rWgf5vudJs+VJvHkq0/sP6jpZyLjeRMzCXG9x6JhakZa/fq/k0eF8EZEHhigoODGTx4MCtWrNC5PmXKFJo2bcrYsWMZOXIkFhYWREVFsX//fr7++mug4jsDR48eZeDAgUilUu1U7oO0bt2a/Px8/vrrL+33Ddq2bctrr72Gi4sLAQGVowWTJ09m1qxZ+Pr6Uq9ePdauXculS5d0wpX04eXlRUFBAQcPHiQkJARzc3PMzc0fWf+dO3fSoUMHrWxGRgZ//vknf/zxB3Xq1NGRHTJkCL179yY7O5s//vgDtVpNkyZNMDc355dffsHMzAxPT0/++usvEhISaN26NTY2Nvz999+Ul5cTGBiIlZUVkyZNYsKECZSXl9OyZUsUCgURERHIZDKGDh2Kp6cnIpGIv/76i65du2JmZsa1a9c4ePAgHTt2xNHRkdOnT5ORkfHY4Vr3E377NHKpFcNq9cHGVE68IompxxeR88/0rqO5nc7C5B4+ryARmzC7me6+4eujtvNT1PbH1nsm7QJWEkt6+XZDLrUiKf8OSy58o11UZmdqg4ZKvXGKm3x/ZR19/LrT1687aUUZfBW5ijuFlYvVraVyBgX2QSaxIleZx4mUM/yRUP2Wb35d/ClTlhG5/mLFB7D87Wg2sTni+5ylwvRCVPkq7blrYzeU+Uqu74hGqVAic5fTdEJzTOWVo6B1BgWDCM5+c5ry0nIc6zjy+ocDdHS36tcCVUkpO1b8SUlBCZ61PRg27w1MJJVdd3ZKNkV5lVvZFeYW8vuX28nPLsDUQoqztxPDPn0Dv9CKl+a78Skkx1TscrJkxFc6+iatG4eNk7VBdIct7Ii5vcULb3NJmKf2/uF7dl67zz8fJUpiyjFdOy+/z95e9a2w8znNde183bXtrI/aTrmmHF+5O508W2IpMSerOIdzaVdZc3Wrzg4oAOfSL2JlYkFPny7IJDJu599hReT35JdWvFzaPmDrCXmJrL72E6/6dKOXb3fSizL45sqP3C3Ufels5BSKCBFn06ofMTTU863Vf/gIM6fN0p5P+XAqAKPGvMvosaMASE1J1YZlAtSrX48FC+fz9YqVfLXsazw8PVj21RL8/SsHo94aMYzi4mLmzvqU/Px86ofWw35YICITI4PX+2W0NUP354Zq84YBIYQvrvxg2NLRsyvy2beZtxZNxMXOEQ9HV+39xNRkuk0fytLRsxjXezi3M1MYuWQy+84d0cpsPvInDtZ2zB06CWcbBy7FR9H5kzdJz83UW/dHIdI86dYiAi8dw4YNIzc3V2ff/MTERAIDA1GpVDqd5dmzZ5k2bRonT55Eo9Hg6+vLgAED+OSTT4CKhbfvvvsuMTExKJXKh+5sU69ePdLS0rS7DmVnZ2Nvb8+AAQPYsGGDVq68vJx58+axatUq0tPTqVWrFp9//rl2RiExMRFvb28uXrxIvXr1dHSMHj2aLVu2kJWVxaxZs5g9e7beLxDXq1ePXr16MXv2bFq1asXQoUMZOXIkULHz0Keffkp6enqV8CKVSoWTkxNz5szBw8ODzz//nOjoaNRqNcHBwXz66ae0b9+e48ePM336dC5fvkxJSQn+/v5MmzaN/v37AxWhFitWrODbb78lISEBa2trQkND+eSTT7S7Ds2bN49vvvmGtLQ0hgwZwpQpU5gwYQIXLlwgLy8PT09P3n//fe3uTo+i/e9DHkvueXBvZsAQOJg/fjjZs6axS91HC/0Pcibl8qOFnhNn71YNnXlR+NvpD3t6EcRnV/8RsOfNrt7fGUx3t+2jDKa73IBvW4a0tdKnmIF/ViTmPnw9wPMk/IdDBtOt2a9/18fqEJwBAYEnIDMzExcXF27fvo2T09MvEPr/gOAMvHgEZ+DFIzgDLx7BGXjxCM7Ai+f/kzMgLCAWEHgCsrOzWbJkyf+8IyAgICAgICDwciCsGRAQeAICAgJ01isICAgICAgICPx/RpgZEBAQEBAQEBAQEHhJEZwBAQEBAQEBAQEBgZcUwRkQEBAQEBAQEBAQeEkRnAEBAQEBAQEBAQGBlxWNgICAwDOmpKREM2vWLE1JSYmgW9At6BZ0C7oF3YLu/7Bu4TsDAgICz5y8vDzkcjkKhQKZTCboFnQLugXdgm5Bt6D7P6pbCBMSEBAQEBAQEBAQeEkRnAEBAQEBAQEBAQGBlxTBGRAQEBAQEBAQEBB4SRGcAQEBgWeOVCpl1qxZSKVSQbegW9At6BZ0C7oF3f9h3cICYgEBAQEBAQEBAYGXFGFmQEBAQEBAQEBAQOAlRXAGBAQEBAQEBAQEBF5SBGdAQEBAQEBAQEBA4CVFcAYEBAQEBAQEBAQEXlKMDV0AAQGB///cvHmTY8eOcevWLYqKinBwcKB+/fo0a9YMU1PT56r7/9g776imsu/tPwnSpCuignQsoIhgHQsWsCti7w2so4hiwy62sYsdK0VHsXfHhoq9oBQVEWmCig0EpUjd7x+8uT8i4PjVnFxG72etrEXOzcpzEpKTU/Z+duvWreHq6oq+fftCVVWVqdbX8Pm6r1y5grZt2zLVKAtfX1/0798fFStW5EV/z5498PHxQXx8PG7fvg1jY2N4e3vD1NQUPXr0YKZ77tw5qKuro2XLlgCAzZs3Y8eOHbCyssLmzZuho6PDTJvPz1p5IDk5GW5ubggODkZBQQFatGiB9evXw8zMjJlmTk4O7t69W+I9NzU1Zab5u2NiYgIXFxeMGDECRkZGvPQhNzcX7969Q2FhoVQ7y/5kZ2eDiLgx9cWLFzh27BisrKzQoUMHZroSBDchAQGBH+bvv//G+vXrERISgqpVq0JfXx+qqqpITU1FbGwsVFRUMHjwYMycORPGxsZM+jB58mTs27cPOTk56NevH1xdXdGsWTMmWhLKw+tWVlZGjRo1MHLkSAwfPhyGhoZMdEqjatWqyM7ORt++feHq6ormzZvLTXvr1q2YP38+Jk+ejKVLl+Lx48cwMzODn58f/P39ceXKFWba1tbWWLFiBbp06YJHjx6hcePG8PDwwJUrV1CnTh34+vrKXJPvz1phYSGCg4NLXYg4OjrK7XPXuXNnNG3aFP369UNubi42bdqEx48f486dOzLXunnzJtavX49Tp04hLy8PWlpa3Huek5MDMzMzjBkzBuPGjYOGhobM9QEgMzMTy5cvR1BQUKkT07i4OJnqeXh4fPdj165dK1Pt4nh7e8PPzw+PHz9G27Zt4erqip49e8rFYvP58+dwcXHBrVu3pNqJCCKRCAUFBcy0O3TogF69emHcuHFIS0tDnTp1oKioiA8fPmDt2rUYP348M20AAAkICAj8AA0aNKAmTZrQ5s2bKTExscT1L1++0JUrV2js2LGkq6tLBw8eZNaXvLw8OnLkCDk5OZGioiJZWlrSqlWr6M2bNzLXKi+v+/3797R27VqysbGhChUqUIcOHejAgQOUk5PDRK84eXl5dPToUe79rl27Ni1fvpySk5OZa1taWtKxY8eIiEhdXZ1iY2OJiOjRo0dUuXJlptpqamoUHx9PREQLFiyg3r17ExHRgwcPqGrVqjLX4/OzlpWVRYsXLyZ9fX1SUVGhZs2aUa9evWjw4MHUuXNnMjQ0JAUFBercuTPdvn1bZroSJk2aRBkZGdx9CwsLysrK4u5HRESQtra2zHW7d+9OBgYGNH36dLp27ZqUJhFRbGws+fn5UceOHalatWp04cIFmfeBiGjAgAFUvXp1mjFjBq1bt468vb2lbrKmTZs233Vr27atzLVL48GDB+Tm5ka6urqko6NDEyZMoAcPHjDVbN68Odnb29PZs2cpNDSUwsLCpG4sqVy5Mj1+/JiIiHbs2EH169engoICOnjwINWpU4epNhGRsBgQEBD4Ic6dO/fdj/3w4QOFhIQw7M3/8fbtW1q8eDGpqKiQoqIi9ejRg4KCgmT2/OXxdT948IAmTpxIlStXpsqVK5ObmxvzHy8Jb968odWrV5O1tTUpKipS9+7d6fjx41RQUMBET0VFhRISEohIejEQHR1NKioqTDQl6Ojo0JMnT4iIqEWLFrRt2zYiIoqPjydVVVWZ6/H5WatRowb17duXzpw5Q7m5uaU+JiEhgZYtW0bGxsa0fft2mWkTEa1cuZJq165NJ06cICKiOXPmkLW1Nc2cOZM8PDzIxMSEJkyYIFNNIiIfH58yX+/XPHnyhC5duiTzPhARaWlp0Y0bN5g893+J3Nxc8vb2JmVlZRKLxWRjY0O7du2iwsJCmWtVrFiRnj59KvPn/R5UVVXpxYsXRETUt29fWrhwIRERJSYmMhlbvkZYDAgICPwy3L17l8aNG0fa2tpkZGRE8+fPJ1dXV1JVVaWpU6fy3T2mvHr1ihYsWEDKysqkpqZGCgoK1LJlS263iSV37tyhMWPGkLKyMpmYmJCWlhaZmJjQlStXZK5laWlJx48fJyLpxcCGDRvI1tZW5nrF6d69O3Xs2JEWLVpEioqK9PLlSyIiOn/+PNWsWZOptryJjIz87sfm5uZSTEyMzPsQFxdHnTp1op49e9LLly/p5MmT5OHhQe7u7nTw4EEmE8LvJT8/n+nzm5iY/E//g1+N3NxcOnDgAHXq1IkUFBSoRYsWtHv3blq0aBFVrVqVBg4cKHPNRo0a0fXr12X+vN+DtbU1rV+/nhITE0lTU5Nu3bpFREQhISFMTh2/RlgMCAgIyJTCwkIKCgqi06dPU2pqKnO9t2/f0urVq6lu3bqkpKREvXv3pn/++UdqonD9+nVSU1OTubavr2+p7Xl5eeTp6Slzva/Jzc2lQ4cOUefOnalChQrUrFkz2rFjB2VkZFB8fDwNHjyYLC0tmWi/efOGVq1aRVZWVqSiokIDBgygixcvEhFRRkYGzZgxg4yMjGSuu2PHDjIwMKDAwEBSU1Oj/fv305IlS7i/WfLixQvq2rUr1a9fn3bu3Mm1T548mdzc3Jhojh8/XircTXIasWrVKkpLS2OiWd7Yu3cvmZub04YNG3hdABARPXv2jKZPn07VqlVjqrNnzx7q06cPZWZmMtUpi/v379P06dOpf//+1LNnT6kbS4qfclapUoWmTp1aYrf+0aNHTE4Bg4KC6I8//qArV67Qhw8fKD09XerGkkOHDpGioiKJxWJq3749175s2TLq1KkTU20iYTEgICDwE3z8+JGGDRtG9erVo1GjRlF6ejq1aNGCRCIRiUQiqlq1KoWHhzPtg6KiItWpU4dWrlxJ7969K/Ux6enp1KZNG5lra2hoUJ8+faQWPVFRUWRnZ0fGxsYy1yuO5AezUqVK5O7uTo8ePSrxmOTkZBKJRDLX7tatGykqKlLdunVp3bp1lJKSUuIxb9++ZaJNVDQ5tLCw4D5nBgYGUpPzX4lu3bqRmpoazZo1i9LS0rjFnYaGBncqworo6GgaMGBAqROhtLQ0GjhwIPM+fPjwgYiIUlNTaeTIkdS0aVPmY8rXZGZm0u7du6lly5akoKBATZs2pZUrVzLVbNCgAWloaJC6ujrVq1ePbG1tpW4s2b9/PykqKlK3bt1ISUmJunXrRrVq1SItLS0aMWIEU22xWEwdO3akgwcPlhmulZGRwaQfkvFELBZL3SRtrElOTqaHDx9KhVjevXuXoqKimGsLbkICAgI/zKhRo3Dt2jUMHz4cp06dglgsBhHB29sbYrEYM2bMgLq6Ok6dOsWsD9evX0erVq2YPf+3iI2NxZAhQ5CUlARfX19ER0djxowZcHZ2xpYtW6ClpcVM28HBAaNGjUKvXr3KdNrIz8/HzZs30bp1a5lqu7q6YtSoUfjjjz/KfAwRITExkZmbEgBkZWUhIyMDenp6zDS+JjY2Fr6+voiNjcX69euhp6eHf/75B0ZGRqhbty4TzTt37mDu3Ll4+PAhlJSUkJSUhEqVKiEiIoKpzeWYMWOgra2NlStXlnp95syZ+PTpE7Zu3Spz7aCgIAwaNAjv37+Hvr4+Dh06hD/++ANXrlzBxIkT0bVrV3h5eTG1E75z5w527tyJQ4cOwcjICE+fPsWVK1fkMt54eXl98/qCBQuYadevXx9jx47FhAkToKGhgfDwcJiammLs2LGoXr36v/btZ3jx4gXTMeNbBAcHf/O6rMfR4ri4uGD9+vUl3KkyMzPh5uaG3bt3M9MGILgJCQgI/Dj6+vp09epVIiJ6+fIliUQiqTjxu3fvMo93bNu2LX38+LFEe3p6ulycLwoKCsjNzY3EYjEpKirSvn37mGsSEQUHB1NeXl6J9ry8PAoODmaq7e/vT1++fCnRnpOTQ/7+/ky1+fx/X716lVRVVcnR0ZGUlJS4XfG//vqLcxZiyaVLl6hZs2ZkaWlJioqK1KFDB6ahG7Vq1aJ79+6VeT0kJIRq1arFRLt27dq0evVqys7OpmPHjlGTJk24a1++fKHZs2cz0169ejVZWVmRgYEBTZs2jUvGr1ChApdA/itTsWJFzjWrUqVKFBERQURFeSSsw6NMTU2506DifPz4kUxNTZlq84lYLKa3b9+WaH///j0pKCiw12e71BAQEPiVefv2LWrVqgUAMDAwgIqKipTvuJGREd6/f8+0D8HBwcjNzS3R/uXLF1y/fp2pNgCcOXMGgYGB+OOPP6CtrY1du3bh9evXzHXbtm2L1NTUEu3p6enMi5GNHDkS6enpJdo/f/6MkSNHMtW+evUqb/9vT09PLFmyBBcvXoSSkhLX3q5dOyZ+91+TkZGBjIwMqKqqQiQSQUNDA1paWsxOoBITE7956qKrq4ukpCQm2snJyejatStUVFTQqVMnqXFEWVkZS5cuxdGjR5loz5w5E87Oznjx4gVWrVoFGxsbJjrlFR0dHXz+/BlA0bj++PFjAEBaWhqysrKYaickJJTq55+Tk4NXr17JXC8iIoKr4RAREfHNGws+ffqE9PR0EBE+f/6MT58+cbePHz/i7Nmzcjn5FCoQCwgI/DCFhYVQUFDg7isoKEAkEnH3i/8taySDMxEhMjISb9684a4VFBTg3LlzMDAwYKYPAGPHjoW/vz+WLl0KDw8PvH37Fi4uLrC2tsbWrVvRr18/Ztr0/wvhfE1KSgrU1NSY6X5L++XLl8wmpsV/jPn6fz969Aj79u0r0a6np4cPHz4w0w0KCsKcOXOQkJAAsVjMvc8rV65kWoFXS0sLsbGxZYZtxMTEQFNTk4m2k5MT+vTpAycnJ9y4cQNdunQp8RhWYVmLFy+Gr68v9uzZg4EDB2Lo0KGoV68eE63iVKpUCdHR0dDV1YWOjs43x8/SNgJkhb29PS5evAhra2v07dsX7u7uuHz5Mi5evAgHBwcmmidPnuT+Pn/+vNQ4UlBQgKCgIJiYmMhct0GDBnjz5g309PTQoEEDiEQiUCnR86yKjmlra0MkEkEkEnEba1/rsgzLkiAsBgQEBH6KnTt3Ql1dHUBRjLqfnx90dXUBgNtdYoFk4BaJRGjXrl2J66qqqti4cSMzfaCoUundu3e5ncNq1arh7Nmz2Lx5M1xcXJgsBnr16gWg6EdixIgRUvkCBQUFiIiIYFYR2NbWlnvPHRwcUKHC//2EFBQUID4+Hp06dWKiXR7+39ra2khOTi4Rpx8aGspsIeLg4IDQ0FBMmzYNkyZNQuPGjSEWy+dQ397eHhs3biz1/QaADRs2MIuf37VrF7Zt24aoqCgMGTIELi4uTHRKY9asWZg1axaCg4Oxe/duNG3aFBYWFiAifPz4kZnuunXruJhxb29vZjr/xqZNm/DlyxcAwJw5c6CoqIhbt26hd+/emDt3LhNNZ2dnAEXj2vDhw6WuKSoqwsTEBGvWrJG5bnx8PKpUqcL9LW+uXLkCIkK7du1w5MgRVKpUibumpKQEY2Nj6OvrM++HkEAsICDww5iYmHzX7j+LQfbFixcgIpiZmeHevXvcgA4UDaJ6enpSpxYsyMnJKTN599mzZ6hdu7bMNSVhOP7+/ujXr59UAqWSkhJMTEwwevRobkEmSyQ7VF5eXpg6dSq3CCyu3bt3b6kQGllRHv7f06ZNw927d3Ho0CHUqlULDx8+xNu3bzFs2DAMGzaMSVKnp6cnZs6cCR0dHQDAnj17MHToUGzduhVDhgwpkXAoS0JDQ/HHH3+gW7dumDFjBvd5joqKwsqVK3HmzBncunULdnZ2zPpQHvj8+TP27duH3bt348GDB2jSpAn69OkDDw8Pvrv2y2Fqaor79+8zGb/KMy9evICRkRHT0/RvISwGBAQEBP6DeHl5Ydq0acxDgkrD398f/fv3h4qKity1+SQ3NxcTJkyAn58fCgoKUKFCBRQUFGDQoEHw8/Njvhjhg9OnT8PFxQUpKSlS7ZUrV8bOnTvh5OTEU8/44dGjR9i1axf27duHd+/eMdP59OlTqe0ikQjKyspMFtwSFBQUkJycXCJWPSUlBXp6ekzCZcoDxUOViiMSiaCiogILCwum7l3Xr1/Htm3bEBcXh0OHDsHAwAB79uyBqakpWrZsyUwXEBYDAgIC/0FOnjyJzp07Q1FRscwBXALrycrhw4dx8OBBJCYmlkhsffjwIVPt35nIyMhS33N5TE4TExPx+PFjZGRkwNbWFjVr1mSuySfZ2dk4d+4cYmJiQESoVasWOnTogIoVK/LdNd7Iy8uDoqIis+cXi8Xf3CWuUaMGRowYgQULFsg8bEwsFnNx9MV5/fo1zM3NkZ2dLVO9DRs2YMyYMVBRUcGGDRu++dhJkybJVLs4kvf862mxpE0kEqFly5Y4fvw4d1InK44cOYKhQ4di8ODB2LNnDyIjI2FmZoZNmzbh7NmzOHv2rEz1vkZYDAgICPwQgYGBGDBgwHc9NikpCYmJiWjRooVMtIv/WH3rh5BV0peEDRs2YM6cORgxYgS2b9+OkSNHIjY2Fvfv38eECROwdOlSmerZ2dkhKCgIOjo6XPx+Wch6IVJekhvj4uLQs2dPPHr0SOqHW9KfX3XXUkA+8DmuFScgIIAbW5o0aQIAuHfvHvz9/TF37ly8f/8eq1evxvTp0zF79myZaEom4lOmTMHixYulwgALCgpw7do1JCQkIDQ0VCZ6EkxNTRESEoLKlSt/c+ddJBIhLi5OptrFkSTqL126VOo9nzdvHubOnQstLS2MHTsWTZs2xa5du2SqbWtriylTpmDYsGFcbQczMzOEhoaic+fOUoYJLBASiAUEBH6IrVu3wsvLCyNHjkT37t1haWkpdT09PR03b97E3r17cfHiRZkOnhIruK//ljdbtmzB9u3bMXDgQPj5+WHGjBkwMzPD/PnzmUyIe/ToweUoSBLu5EXx5MZ169bxFtvq7u4OU1NTBAUFwdTUFPfu3UNKSgqmTp2K1atXy1zvf4kLX7t2rcz1+aK8TIrlDZ/jWnH8/f2xZs0aKROC7t27w9raGtu2bUNQUBCMjIywdOlSmS0G1q1bB6DILczHx0cq7E2SE+Tj4yMTreIUzynjI4lXgru7O7Zv3y5lwODg4AAVFRWMGTMGT548gbe3N5Nk9mfPnsHe3r5Eu5aWFtLS0mSu9zXCyYCAgMAPc/LkSWzcuBGXL1+GmpoaqlatChUVFXz8+BFv3ryBrq4uRowYgSlTpqBq1ap8d1fmVKxYEU+fPoWxsTH09PRw8eJF2NjY4Pnz52jWrFmJOGuBn0dXVxeXL19G/fr1oaWlhXv37qF27dq4fPkypk6dKvNdy++t2SASiXD58mWZavNJ69at8e7du/9pUswyROvBgwd4+vQpAMDKyopp0nJ5GNdUVVURERFRIgTt+fPnsLGxQVZWFuLj41G3bl2Ze/+3bdsWR48elXkoTHlHVVUV9+/fL2Ej++jRIzRp0gTZ2dl48eIFLC0tZf6em5mZYfv27XB0dJQ6GQgICMDy5csRGRkpU72vEU4GBAQEfhgnJyc4OTnhw4cPuHHjBl68eIHs7Gzo6urC1tYWtra2TGwQ/y2utDgsY0yrVauG1NRUGBsbw8jICHfu3IGNjQ3i4+NL9ar+VUhMTPzmdSMjI2baBQUF3AmFrq4uXr9+jdq1a8PY2BjPnj2Tud6VK1dk/pw/Q25uLt69e1fiREzW73lwcDA3KZ41a9Y3J8WPHz9mNil+9+4dBgwYgKtXr0JbWxtAUfGrtm3bIjAwUMpVSlbwNa4Vx9DQELt27cLy5cul2nft2sUVdkxJSWEyYZf3Z768nL41bNgQ06dPR0BAAPe5ev/+PWbMmIHGjRsDKFqMFS+sKStGjx4Nd3d37N69GyKRCK9fv8bt27cxbdo0zJs3T+Z6XyMsBgQEBH4aXV1duYatSI6z/w2RSMR0MdCuXTucPHkStra2GDlyJKZMmYLDhw8jJCSEqwfAin9LMGQZO/9vlrIstevVq4fw8HCYmpqiadOmWLlyJZSUlLB9+3amBbj45vnz53BxccGtW7ek2iWJjSze8/IwKXZzc8Pnz5/x5MkT7nQiMjISw4cPx6RJk7B//35m2vIe14qzevVq9O3bF//88w83EQ0JCUFUVBQOHz4MALh//z769+8vEz0PDw8sXrwYampq/zo5l/WE/HtP81iHJu7cuRPOzs6oUaMGN+FPSkqCmZkZTpw4AaCoCjiLWguenp4oLCyEg4MDsrKyYG9vD2VlZUybNg1ubm4y1/saIUxIQEBA4AcpLCxEYWEhV3wrMDAQt27dQs2aNTF27Fim9n+SHycJeXl5CA0Nhb+/P7y8vODq6spMOzw8vFTttWvXYunSpUwXQufPn0dmZiZ69eqFmJgYdOvWDdHR0ahcuTICAwOZVUiVEBISUqZ71NGjR5nptmjRAhUqVICnpyeqV69eYmIkKXz3q6GlpYVLly5xE2IJ9+7dQ4cOHeQST80XCQkJ2LZtG3fiVbt2bYwdO5ZJJd62bdvi2LFj0NbW/mZo3K8WDvc1hYWFuHDhAqKjowEUveft27eXW6G/3NxcxMTEICMjA1ZWVlJJ3CwRFgMCAgICP0hiYiIMDQ1LTMyICElJSUzDZcpi3759OHDgQInFgjw4c+YMVq1ahatXr8pVNzU19V8djmRBYGAghg0bho4dO+LChQvo0KEDoqOj8fbtW/Ts2RO+vr7MtNXU1PDgwQPUqVOHmUZ5RENDA9evX0eDBg2k2kNDQ9G6desy/fj/y+Tl5aFTp07w8fH55W1rywt5eXlQVVVFWFhYiZwBPvj06RMuX76M2rVrl8jXYYEQJiQgIPCfg88j7eKYmpqWWpwnNTUVpqamvNhcNmvWDGPGjJG7LlC0i3b//n2561aqVAnJyclYunQpNm3axExn2bJlWLduHSZMmAANDQ2sX78epqamGDt2LKpXr85MFyhKmv3w4QNTjfJIu3bt4O7ujv3790NfXx8A8OrVK0yZMoX5KRBfKCoqIiIigu9uACgKkwHAJE5eQq9eveDn5wdNTc1/PVVkdfqmqKgIIyMj3qyJ+/XrB3t7e0ycOBHZ2dlo3Lgxl3sWGBiI3r17M9WXz7mHgICAgAwJDQ1FXl4e93dZt7CwMKb9kMRrf01GRgYv1Xmzs7OxYcMGGBgYMNX59OmT1C09PR1RUVGYO3cu053MJ0+eYNOmTdi+fTsXHvLhwwdMnjwZZmZmzBMfY2Nj0bVrVwBFVouZmZkQiUSYMmUKtm/fzlR7xYoVmDFjBq5evYqUlJQS/4NflU2bNuHTp08wMTGBubk5zM3NYWpqik+fPmHjxo18d48ZQ4YMYWZb+m/k5+dj3rx50NLSgomJCUxMTKClpYW5c+dy464s0dLS4sZRLS2tb95YMmfOHMyePZtpnZSyuHbtGlq1agUAOHbsGAoLC5GWloYNGzZgyZIlzPWFkwEBAQGZkZubi/j4eJibm3Nx9CwoPunjw+1FchohEokwb948qUqsBQUFuHv3bomwBlnzdVgMEeHz58+oWLEi9u7dy1RbW1u71NAoQ0NDBAYGMtE8efIk+vTpg/z8fADAypUrsWPHDvTr1w8NGzbEsWPH0KlTJybaEnR0dPD582cAgIGBAR4/fgxra2ukpaXJ3GrwaxwdHQGgxG44ywTi8oChoSEePnyIS5cuISoqCgBgaWnJvR/yQF7jWnHy8/Oxe/duXLp0CQ0bNoSamprUdZYnnm5ubjh69ChWrlyJP/74AwBw+/ZtLFy4ECkpKdi6datM9YqH17EMtfs3Nm3ahJiYGOjr68PY2LjEe86yonx6ejoqVaoEADh37hx69+6NihUromvXrpg+fTozXQnCYkBAQOCnycrKgpubG/z9/QEA0dHRMDMzg5ubGwwMDODp6SmXfsjjSBv4P/cLIsKjR4+kEoWVlJRgY2ODadOmMe3D14W/xGIxqlSpgqZNmzL3B/96ASbRtrCwYDZZWrJkCSZMmIDFixdj586d8PDwwKRJk3D27NkSyaWssLe3x8WLF2FtbY2+ffvC3d0dly9fxsWLF5mHrJQHi1M+JsVA0aK7ffv2aN++vdw0AX7HtcePH3O1FCTJrBJY58bs27cPgYGB6Ny5M9dWv359GBoaYuDAgTJfDJTGu3fvpBKnvw7FZAFfzlFA0W/W7du3UalSJZw7d47bVPn48aN8TplJQEBA4CeZNGkSNWzYkK5fv05qamoUGxtLRETHjx+nBg0aMNXOy8ujuXPnkqamJonFYhKLxaSpqUlz5syh3NxcptojRoyg9PR0phoCRWhqatLz58+JiCg/P58UFBTo4sWLcu1DSkoKvXr1ioiICgoK6K+//qLu3buTh4cHpaamyrUv8iQzM5NcXFxIQUGBFBQUuO/3xIkT6a+//pK53vr16yk7O5v7+1s3lvA5rvFJlSpVKDIyskR7ZGQk6erqMtVOT0+nIUOGUIUKFUgkEpFIJKIKFSrQ4MGDKS0tjak2n2zevJkqVKhA2traZGNjQwUFBUREtGHDBmrTpg1zfcFNSEBA4KcxNjbGgQMH0KxZM6nqiTExMbCzs2Ma0zx+/HgcPXoUixYtKnGk7ezsLJddLD74XxIM69evL1PtkydPfvdjZVWVViwW482bN9wOYfHP2e9EVlZWqbamsv4fF8fd3R03b96Et7c3OnXqhIiICM57feHChTKv+mxqaoqQkBBUrlwZpqamZT5OJBIhLi5OptrF4XNc45NFixYhKioKvr6+UFZWBgDk5OTA1dUVNWvWxIIFC5hp9+/fH6Ghodi4caPUeO7u7o4GDRowC0MsD4SEhCApKQnt27fnLEXPnDkDbW1ttGjRgqm2sBgQEBD4aSpWrIjHjx/DzMxM6kczPDwc9vb2SE9PZ6atpaVV4kgbAM6ePYuBAwcy1eaTfys6BrCLJ5dof/3z8XWbLLXFYjH8/f25JMKBAwfC29u7ROVbWS0+ipOfn4+CggJuYgQAb9++hY+PDzIzM+Hk5ISWLVvKXLc479+/x8iRI/HPP/+Uep1lzsDvOinmc1wD+Ktp0bNnTwQFBUFZWZmrXxEeHo7c3NwS4XCy7oeamhrOnz9f4vt0/fp1dOrUCZmZmTLVK05BQQHWrVtX5nsuz8TigoICPHr0CMbGxszDPgHBTUhAQEAGNGrUCGfOnOHuSyapO3fu5HZ3WKGsrFxqER5TU1OmRb/45ujRozA1NcWWLVs496QtW7bA3NwcR44cQVxcHOLj45nsnF64cAENGjTAP//8g7S0NKSlpeGff/6BnZ0dzp8/zxVjk/UEdfjw4XB2doazszOys7MxduxY7r6zszN69uwpUz0Jo0ePlqpk/fnzZzRu3BibN2/G+fPn0bZtW5w9e5aJtoTJkycjLS0Nd+/ehaqqKs6dOwd/f3/UrFnzfzqp+RHev39fasy2xE2JJYsWLSo1OTs7OxuLFi1iqs3nuBYYGIjmzZvj6dOnOHbsGPLy8vDkyRNcvnyZuauOtrY2evfujW7dusHQ0BCGhobo1q0bevXqxdzdp3LlyqU+r5aWFvNJsZeXF9auXYv+/fsjPT0dHh4e6NWrF8RiMRYuXMhUe/LkyZx7VEFBAVq3bg07OzsYGhrKp24L80AkAQGBX57r16+Turo6jRs3jlRUVMjd3Z3at29PampqFBISwlTby8uLBg4cSF++fOHavnz5QoMHD6aFCxcy1eaTxo0b05kzZ0q0nzlzhuzs7Jhq161bl65fv16i/dq1a1SnTh2m2nxQs2ZNOn/+PHd/06ZNpK+vz8Uwz5gxg3lcb7Vq1eju3btERKShoUHPnj0jIqITJ05QixYtmGq3atWKNmzYQERE6urqFBcXR0RFOQMdO3Zkqi0Wi+nt27cl2j98+EBisZipNp/jmrW1NW3atImIit7z2NhYKiwspNGjR9P8+fOZavPJtm3byNHRkZKTk7m25ORk6tChA/n4+DDVNjMzo9OnTxNR0XseExNDREV5KwMHDmSqbWBgQPfv3yciomPHjpG+vj49e/aM5s6dS82bN2eqTUQkuAkJCAj8NC1btkR4eDj++usvWFtb48KFC7Czs8Pt27dhbW0tc72vC9NcunQJNWrU+NcjbVmSl5eHsWPHYt68ed+Ma2bFo0ePStU1NTVFZGQkU+3Y2Fhoa2uXaNfS0kJCQgJTbT549eqVVP2EoKAg9O7dm9vBHD58OHNLxMzMTG53XkdHB+/fv0etWrVgbW3N1PIQKCq21rlzZ0RGRiI/Px/r169HZGQkbt26heDgYKbaVEYtj/DwcM6KkRXyHteK862aFu3atYOXlxdTfXlia2sr9T9+/vw5jIyMuAruiYmJUFZWxvv37zF27Fhm/Xjz5g33f1VXV+fCwLp164Z58+Yx0wWK6qVUq1YNQFGIa9++fVGrVi24uLhg/fr1TLUBwVpUQEDgJyk+Kd6xY4dcNL8+Rv66OiNra1GgqGLlkSNHmP9IlIWlpSX++usv7Ny5kwuHys3NxV9//cW8fH3jxo3h4eGBPXv2cDH7b9++xfTp09GkSROm2nygoqKC7Oxs7v6dO3ewatUqqesZGRlM+1C7dm08e/YMJiYmsLGxwbZt22BiYgIfHx/m1Y/5mBRL6miIRCLUqlVLarJYUFCAjIwMjBs3jok2wM+4Vhw+a1oAwOHDh8uMnZf14pNPS8/i1KhRA8nJyTAyMoK5uTn3Ob9//75UvhALqlatisjISFSvXh3nzp3jjC+ysrKgoKDAVBuAECYkICDw82hqanKhA78Tw4YNo7Vr1/KifffuXdLT06MqVaqQg4MDOTg4UJUqVUhPT48LJ2HF8+fPqV69eqSkpETm5uZkbm5OSkpKVLduXc7+81eiXbt25OnpSURFoVBisZhev37NXb9w4QKZm5sz7cOePXvI19eXiIhCQkJIV1eXxGIxqaioUGBgIDPd3NxcGjlypNy/335+fuTr60sikYjWr19Pfn5+3G3fvn1069Yt5n3gc1wbOHAgrVmzhoiIFi1aRFWqVKFRo0aRsbEx9ezZk6n2+vXrSV1dnSZOnEhKSko0duxYcnR0JC0tLZo9ezZTbT6ZOXMmLV26lIiIAgMDqUKFCmRhYUFKSko0c+ZMptoLFiwgLS0tqlOnDhkZGXFhr7t27aJmzZox1SYSrEUFBARkwPDhw9GgQQNMmTKF767IlSVLlmDNmjVwcHAotUpo8aRTFmRmZuLvv/+Wqsw6aNCgEv1gARHh4sWLJarCsk4o5YPg4GB07twZ1atXR3JyMgYOHMgl+wHAn3/+iczMTK44lTzIyspCVFQUjIyMoKury1RLS0sLYWFhvITDBQcHo3nz5lBUVJS7Np/jWmpqKr58+QJ9fX0UFhZi5cqVuHXrFmrWrIm5c+cyTaatU6cOFixYgIEDB0q5KM2fPx+pqanYtGkTM+3yxO3bt3H79m3UrFkT3bt3Z653+PBhJCUloW/fvqhRowYAwN/fHzo6Okxc0oojLAYEBAR+Gr4nxfI80i4Onx7oAvLl6dOnuHDhAqpVq4a+fftCLP4/M77t27ejSZMmaNCgAX8dZEh5Wex/+fKlxPdbU1OTmR7f4xpfVKxYEU+fPoWxsTH09PRw8eJF2NjY4Pnz52jWrBlSUlKYaZcne8/yQFpaGvbu3YuJEycy1REWAwICAj8Nn5PiDRs2YM6cORgxYgS2b9+OkSNHIjY2Fvfv38eECROwdOlSZtp88Oeff2LlypVcUZr9+/fDycmJm6ikpaVh0KBBTKwuu3Tpgv3793M5G8uXL8e4ceO4ZOKUlBS0atWKaQKzmZkZ7t+/j8qVK0u1p6Wlwc7O7pddgLm4uHzz+u7du5lp8zkpzsrKwowZM3Dw4MFSJ6Es6yv8rot9MzMzHDlyBLa2tmjUqBFGjx6NsWPH4sKFCxgwYADTCfn8+fOxc+dOTJ06FXPnzsWcOXOQkJCA48ePY/78+Uw+a9euXfuux9nb28tcuyyCgoKwa9cuHDt2DBUrVmS6AAOExYCAgMB/nPJwpJ2bm4v4+HiYm5ujQgW2vgwKCgpITk7mnGU0NTURFhbGVeJ9+/Yt9PX1mUyS+NSW8HUlYglv376FkZERcnJymGnzydc1FPLy8vD48WOkpaWhXbt2TItQ8TkpnjBhAq5cuYLFixdj6NCh2Lx5M169eoVt27Zh+fLlGDx4MDNtPvjeZFGW37FRo0bB0NAQCxYswObNmzF9+nS0aNECISEh6NWrl1SInKwxNzfHhg0b0LVrV2hoaCAsLIxru3PnDvbt2ydzzeIFHMuaErMo3vg1SUlJ8PX1ha+vLxITEzFgwAAMHToUDg4OzMPkBDchAQGB/zSJiYlo3rw5AEBVVZVz4Bg6dCiaNWvGdDGQlZUFNzc3LlY8OjoaZmZmcHNzg4GBATw9PWWu+fWPlTz3c/jULl5Y6/z581KOUgUFBQgKCiq1+NyvwrFjx0q0FRYWYvz48TA3N2eqHR8fz/T5v8WpU6cQEBCANm3aYOTIkWjVqhUsLCxgbGyMv//++5dbDBARjI2NMXz4cNja2vLSh+3bt6OwsBBA0WKscuXKuHXrFpycnJhaewL82Hvq6OhAQ0MDI0aMwNChQ5nn4BQnLy8Px48fx86dO7kqy6tWrcLAgQMxZ84cWFlZyaUfwmJAQEBAJrx8+RInT54sNc5z7dq1zHSrVauG1NRUGBsbw8jICHfu3IGNjQ3i4+OZT1ZnzZqF8PBwXL16FZ06deLaHR0dsXDhQiaLgd8Vif2gSCTC8OHDpa4pKirCxMQEa9as4aFn/CEWi+Hh4YE2bdpgxowZfHeHCampqdzJk6amJhei0rJlS4wfP565vrzHtXv37mHXrl1Yv349TE1N4eLigsGDBzOvvlscsVgslRMzYMAADBgwQC7afNh7Jicn49ixY9i9ezdWrlyJLl26wNXVFZ06dWJuiGBgYIA6depgyJAhCAwM5P7PAwcOZKr7NcJiQEBA4KcJCgqCk5MTzMzMEBUVhXr16iEhIQFEBDs7O6ba7dq1w8mTJ2Fra4uRI0diypQpOHz4MHekzZLjx4/jwIEDaNasmdSPRt26dREbG8tUmw8kvu9ft8kDyU6lqakp7t+/L9fdu/JMbGws8vPzmevwtdg3MzNDfHw8jIyMUKdOHRw8eBBNmjTBqVOnSi18J0v4GNcaNWqERo0aYd26dTh8+DB8fX0xc+ZMdO/eHa6urmjfvj0T3eL4+vpCXV0dffv2lWo/dOgQsrKySizGZUnPnj0RFBSEpk2bws3NDUOGDMGuXbuQmJjILIFdSUkJ/fv3R//+/ZGYmAg/Pz9MnDgROTk5GD58OLy8vJiFf+bn53PjqlzqCZSBkDMgICDw0zRp0gSdO3eGl5cXF7evp6eHwYMHo1OnTkx38AoLC1FYWMgN1oGBgZwF39ixY7mCXCyoWLEiHj9+DDMzM6l8hfDwcNjb23NH3LJELBZjzJgxqFixIgBg8+bNGDJkCBc2k5WVhR07djCJbxWLxejcuTO3Q3fq1Cm0a9eOSyjNycnBuXPnmMfWfk1aWhrziWFxHjx4gKdPnwIArKysmC94AcDDw0PqPhEhOTkZZ86cwfDhw5mGw/3bpPjy5cvMtNetWwcFBQVMmjQJly5dQvfu3UFEyMvLw9q1a+Hu7s5Mm89xrTjx8fFwdXVFcHAw3r9/z7zycq1atbBt2za0bdtWqj04OBhjxozBs2fPmOoXR972nhLk9Z5/+fIFR44cwa5du3Dnzh107twZQ4YMQf/+/REWFia3MCFhMSAgIPDTFE/00tHRwY0bN1C3bl2Eh4ejR48eSEhI4LuLTLC3t0ffvn3h5uYGDQ0NREREwNTUFG5ubnj+/DnOnTsnc802bdp81278lStXZK49YsSI79L29fWVubaEFStWwMTEBP379wcA9O3bF0eOHEH16tVx9uxZ2NjYMNN+9+4dBgwYgKtXr3KLj7S0NLRt2xaBgYGoUqWKzDW3bNmCP//8s8TETCwWo0qVKmjXrh1cXFyYJq6Xl0kxALx48QIPHjyAhYUF6tevz1SL73Ht5cuX8PPzg5+fH7KysjBs2DAsWbKEuUmBiooKoqKiSuTgJCQkwNLSUqoa969ETk4Ojhw5gt27d+P27dvo2rUrXFxcpEJAWRIbGwtfX1/4+/vj1atXGDhwIEaMGIF27dqxPzVgXtZMQEDgl6dq1aoUGRlJRESWlpZ04sQJIiIKCwsjNTU1meuFh4dTQUEB9/e3biy5fv06qaur07hx40hFRYXc3d2pffv2pKamRiEhIUy1f1dMTEzo5s2bRFRU+VdbW5vOnz9Prq6u1L59e6ba/fr1o0aNGnGfdSKiJ0+eUKNGjWjAgAFMNHV0dKhDhw708uVLJs//Pairq1NMTAwREWlra9Pjx4+JqOj7bWxszEw3NzeX2rVrR9HR0cw0voW8xzUiopycHAoMDKT27duTiooK9ezZk06dOkX5+flM9ErD0NCQe63FOX78OBkYGMhc78SJE5Sbm8v9/a0bC+7evUvjxo0jbW1tatCgAa1fv55SUlKYaH0PBQUFdPbsWerduzcpKSlR5cqVmWsKOQMCAgI/TbNmzXDjxg1YWlqiS5cumDp1Kh49eoSjR4+iWbNmMtdr0KABZy/ZoEEDiESiUpOFWdvBtWzZEmFhYVi+fDmsra25ZLfbt29zjhi/EkZGRnByckKPHj3Qtm1b5juUpfHmzRsYGhoCAE6fPo1+/fqhQ4cOMDExQdOmTZlqnzt3DpcuXYKlpSXXZmVlhc2bN6NDhw5MNB8/fozRo0fD2toaGzZswJAhQ5jofAs1NTUuT6B69eqIjY1F3bp1AQAfPnxgpquoqIiIiAhmz/9vyHtcA4reXw0NDQwfPhxbtmzhLHQzMzOlHsey2NrAgQMxadIkaGhocN76wcHBcHd3Z5JI7OzszI3nEqOA0mA1njdr1gxGRkaYNGkSGjZsCAC4ceNGicexqAIcFxfHJchLkIRjdu7cGe/fv8eePXtkrvs1QpiQgIDATxMXF4eMjAzUr18fmZmZmDp1Khe3v3btWhgbG8tU78WLFzAyMoJIJMKLFy+++VhZa//OBAcH4+TJkzh58iTev3+Pjh07wsnJCV27dpVbzL6+vj4OHz6M5s2bo3bt2liyZAn69u2LZ8+eoXHjxvj06RMzbQ0NDVy/fr1EpeHQ0FC0bt2aqbafnx88PDzQtm1bzJkzp8RCjGXIjLOzM7p27YrRo0dj2rRpOHHiBEaMGIGjR49CR0cHly5dYqY9ZcoUKCsrY/ny5cw0ykLe4xoAKRef0kLyiIj5Jkdubi6GDh2KQ4cOcZ+zwsJCDBs2DD4+PkzzsPig+HteFqzec3V1dZiYmHCbLKw3NMpCWAwICAj8krx79w47d+7E7NmzmWl8XYRLQkpKCvT09OSeSCtPnjx5gpMnT+LEiRMICwtD8+bN4eTkxCWasmLixIk4ffo0atasidDQUCQkJEBdXR2BgYFYuXIlHj58yEy7R48eSEtLw/79+6Gvrw8AePXqFWf9WFotAFly6dIldOrUCUTETQrlMTnkY1Iswc3NDQEBAahZs2ap1Y9ZOhnxQXBw8Hc9rnXr1ox7Ajx//hxhYWFQVVWFtbU1rxsrL1++xKJFi7B9+3be+sCCL1++4OLFizhx4gROnz4NkUiEbt26wcnJCe3bt4eKiopc+iEsBgQEBGRGbm4u3r17x9lASjAyMpJ7X8LDw2FnZ8dLNdzXr1/D3Nz8l020+5rk5GScOnUKp06dQlBQEMzMzLBixQp07dpV5lp5eXlYv349kpKSMGLECK4w07p166ChoYFRo0bJXFNCUlISnJyc8OTJEy5UKSkpCfXq1cPJkydRo0YNZtpr167FvHnz0LdvX8ybN6/EycCvegL2deJ0cUQiEVMnIwnlaVz7XZHHeM43RITbt29zp6+JiYlwdHSEk5MTunfvzsSgQIKwGBAQEPhpoqOj4erqilu3bkm1y2PXsixY/nhs2LABQFEIw+LFi6Gurs5dKygowLVr15CQkIDQ0FCZa5d3MjMzceHCBWhoaMDR0ZHv7sgcIsKlS5cQFRUFALC0tGT6OuPi4jB8+HA8f/4c27ZtQ48ePZhp/Ru/26S4PI5rvyu/w2Lga54/f86dvt69exdr167FhAkTmGgJiwEBAYGfpkWLFqhQoQI8PT1RvXr1ErGuLO0ey4Llj4epqSmAotyFGjVqSNm+KSkpwcTEBIsWLWIe/5mWloZdu3Zxnvd169aFi4sLV3OAFQ8fPoSioiKXJH3ixAn4+vrCysoKCxcuZB5TvGfPHmzbtg1xcXG4ffs2jI2N4e3tDVNTU6aT5YCAAPTv379EJdTc3FwEBgZi2LBhMtdUV1dHp06d4OPjw1uhtd91Ulwex7Xfld9xMVCclJQUpKamombNmkyeX1gMCAgI/DRqamp48OAB6tSpw3dXOFj9eJw8eRKdOnWCkpIS2rZtyyVRypuQkBB07NgRqqqqaNKkCQDg/v37yM7O5lyNWNG4cWN4enqid+/eiIuLQ926ddGzZ0/cv38fXbt2hbe3NzPtrVu3Yv78+Zg8eTKWLl3KFX3z8/ODv78/k/oKEvjIEdm7dy8vDkLF+V0nxeVxXPtd+R0WA8+fP8eVK1dKnL6JRCLMmzePqbawGBAQEPhpGjdujHXr1qFly5Zy0/y6IuvXvH//Hvv27ZP5j4eCggLevHmDKlWqlDk5lAetWrWChYUFduzYwcWP5+fnY9SoUYiLi8O1a9eYaWtpaeHhw4cwNzfHihUrcPnyZZw/fx43b97EgAEDkJSUxEzbysoKy5Ytg7Ozs1TV58ePH6NNmzZMrS7FYjHevn1bInY3PDwcbdu2RWpqqkz1MjMzSyTMyvLx38vvOinmY1z7XenVq9c3r6elpSE4OPiXXQzs2LED48ePh66uLqpVqya14BaJREyNEQBAqDMgICDwQxS3UVyxYgVmzJiBZcuWwdraGoqKilKPZeGJ/T3x+BKPbFlSpUoV3LlzB927d+fCJPggJCREaiEAABUqVMCMGTPQqFEjptpExO1cXbp0Cd26dQMAGBoaMp2MA0B8fDyXNFwcZWXlEl7sssLW1hYikQgikQgODg5S73lBQQHi4+OZVCm1sLCAu7s7hg8fjurVq5f6GEkOw9q1a2Fvb49Zs2bJvB9WVlbM/6/lBb7HtW/16/Lly6hdu7ZUnQtWpKWl4d69e6XmiLAIh9PU1PzmWKqlpcVEtzhJSUkQiUScEcC9e/ewb98+WFlZYcyYMUy1lyxZgqVLl2LmzJlMdcpCWAwICAj8ENra2lKDNxHBwcFB6jEsY4pZhoN8i3HjxqFHjx7c5LBatWplPpblLpampiYSExNL7NYmJSVBQ0ODmS4ANGrUCEuWLIGjoyOCg4OxdetWAEUT9apVqzLVNjU1RVhYWAn3nHPnzjGbJEkKIYWFhaFjx45SCeOSHJHevXvLXPfq1auYPXs2Fi5cCBsbGzRq1Aj6+vpQUVHBx48fERkZidu3b6NChQqYNWsWxo4dKzPt8jIpvnbtGpo3b17CPSk/Px+3bt2S+YKf73FNQr9+/WBvb4+JEyciOzsbjRo1QkJCAogIgYGBTD5vEk6dOoXBgwcjIyOjxCRdJBIxmZT7+fnJ/Dn/VwYNGoQxY8Zg6NChePPmDdq3b4+6devi77//xps3bzB//nxm2h8/fkTfvn2ZPf+/IYQJCQgI/BDf64cNyMcTW55ERUUhJiYGTk5O8PX1LbPgFstk1kmTJuHYsWNYvXo1mjdvDgC4efMmpk+fjt69ezON24+IiMDgwYORmJgIDw8PLFiwAECRJ3xKSgr27dvHTHvnzp1YuHAh1qxZA1dXV+zcuROxsbH466+/sHPnTiYVUiX4+/ujf//+cvP+lpCYmIhDhw7h+vXrePHiBbKzs6GrqwtbW1t07NgRnTt3lkpilwVisbjEpPjrnVt5TIrlnadRXsa1atWq4fz587CxscG+ffuwYMEChIeHw9/fH9u3b2fqVFarVi106dIFy5YtQ8WKFZnpFKc8VDfX0dHBnTt3ULt2bWzYsAEHDhzAzZs3ceHCBYwbNw5xcXHMtF1dXdG4cWOMGzeOmca3EBYDAgICAj+Il5cXpk+fLrcfzOLk5uZi+vTp8PHxQX5+PgBAUVER48ePx/Lly0s43siDL1++QEFBocTOsaz5+++/sXDhQsTGxgIoqkrs5eUFV1dXprq/E+VlUlxWnkZ0dDQaNWrEtOozn6iqqiI6OhqGhoYYNmwY9PX1sXz5ciQmJsLKygoZGRnMtNXU1PDo0SOmxQO/pjxUN1dXV8fjx4+5isAtWrTAzJkzkZiYiNq1a8u8bozEohooyvdZu3YtunbtWurp26RJk2Sq/TXCYkBAQOCH+fDhAzIzM6VCNp48eYLVq1cjMzMTzs7OGDRoEI89/PXJysriJsXm5uZyW5ikpaXh8OHDiI2NxfTp01GpUiU8fPgQVatWhYGBARPN/Px87Nu3Dx07dkTVqlWRlZWFjIwMXhK4BdgiSSg9ceIEOnXqJLW4LSgoQEREBGrXro1z587JXLs8jGu1atXCkiVL0LVrV5iamiIwMBDt2rVDeHg4HBwcmOZw9OrVCwMGDEC/fv2YaXwLvqqbN23aFG3btkXXrl3RoUMH3LlzBzY2Nrhz5w769OmDly9fylRPYlH9b4hEIqanEoCQMyAgIPATuLm5QV9fH2vWrAEAvHv3Dq1atYK+vj7Mzc0xYsQIFBQUYOjQoTz3lB2HDx/GwYMHkZiYiNzcXKlrLB0gXFxcsH79emhoaHB+/0DRDpObmxt2797NTDsiIgIODg7Q1tZGQkICRo8ejUqVKuHo0aNITExEQEAAE90KFSpg3LhxXF2FihUr8nIq87vA56RYUiuDiKChoQFVVVXumpKSEpo1a4bRo0cz0S4P49rkyZMxePBgqKurw9jYGG3atAFQlENR/PvOgq5du2L69OmIjIwsdZfaycmJqX7dunVRt25dzJo1S6q6+ezZs5lWN1+xYgV69uyJVatWYfjw4Zxl7smTJzn7ZlkSHx8v8+f8YUhAQEDgBzExMaGrV69y91etWkXm5uaUl5fH3W/atClf3WPO+vXrSV1dnSZOnEhKSko0duxYcnR0JC0tLZo9ezZTbbFYTG/fvi3R/v79e1JQUGCq7eDgQNOnTyciInV1dYqNjSUiops3b5KxsTFT7datW9OxY8eYaggUMWDAAPLw8ODuv337lnR0dKhu3brk5OREioqKFBAQwLQPCxcupIyMDKYaX1NexrX79+/T0aNH6fPnz1zb6dOn6caNG0x1RSJRmTexWMxU+1tkZGTQ0aNH6eLFi8w08vPzKTU1VaotPj6+1LFWlnh5eVFmZmaJ9qysLPLy8mKqTUQkLAYEBAR+GBUVFUpISODud+7cmZskEhE9e/aMKlWqxLwfHz9+pNWrV5Orqyu5urrS2rVrKS0tjblu7dq1ad++fUQkPSmeN28eTZgwgYlmeno6paWlkUgkopiYGEpPT+duqamp5O/vT9WrV2eiLUFTU5NiYmKISPp1JyQkkLKyMlPtAwcOkJmZGW3cuJFu3bpF4eHhUjeW8P2DLW/Ky6SYqGghcu3aNbp27RrziVl5GdeKk5+fT6GhoSUmqr8aDx48oIiICO7+8ePHqUePHjRr1izKyclhqp2VlSX1/U5ISKB169bRuXPnmOoSlb258+HDB7kswITFgICAwA+jp6dHYWFh3P3KlSvT4cOHufvR0dGkpqbGtA/379+nSpUqkYGBAfXs2ZN69uxJNWrUoMqVK9ODBw+YaquqqnKThipVqnDvRXR0NLPJgmR3rqybgoICLVmyhIm2hCpVqtDDhw+JSHoxcOHCBapRowZT7bJ2K+Wxa8n3D7a8KQ+T4k+fPtGQIUOoQoUK3P+7QoUKNHjwYGYL/vIwrrm7u9POnTuJqGgh0KJFCxKJRKSmpkZXrlxhqs0njRo14t7r2NhYUlFRoYEDB5KFhQW5u7sz1W7fvj1t3bqViIo2mKpWrUo1atQgFRUV2rJlC1NtkUhE7969K9EeFBREurq6TLWJiIScAQEBgR+mWbNm2LBhA3bs2IGjR4/i8+fPaNeuHXdd4obBkilTpsDJyanUSryTJ09mWom3WrVqSE1NhbGxMYyMjLiEs/j4eBAjb4YrV66AiNCuXTscOXIElSpV4q4pKSnB2NgY+vr6TLQlODk5YdGiRTh48CCAogS3xMREzJw5k6n/OcBvnC2VUWQuPDxc6v/AiuvXr2Pbtm2IjY3F4cOHYWBggD179sDU1JRJlVxNTU2kpaVxOQP37t2TcmwSiUTIycmRuW5xRo0ahdDQUJw+fRp//PEHAOD27dtwd3fH2LFjERgYKHPN8jCuHT58GEOGDAFQ5PsfHx+PqKgo7NmzB3PmzMHNmzdlqrdhwwaMGTMGKioqUi43pcHS2SY6OhoNGjQAABw6dAj29vbYt28fV92cpWXyw4cPsW7dOgBF73/VqlURGhqKI0eOYP78+Rg/frzMNXV0dLiaNbVq1ZIaXwoKCpCRkSEfu1Hmyw0BAYFflvDwcNLV1SUlJSUSi8U0d+5cqetDhgyhsWPHMu2DiooKPX36tET7kydPSFVVlam2q6srLVy4kIiINm3aRKqqquTo6Eja2trk4uLCVDshIYEKCwuZapRFWloa9zoVFBTI0NCQFBUVyd7eXu7x3fJAW1ubdHR0SCwWc39LbpqamiQWi+nPP/9k2ofDhw+TqqoqjRo1ipSVlbnTmI0bN1Lnzp2ZaDo5OZGLiwsVFBTQoUOHSElJSSpM5fTp01SnTh0m2hIqVqxI169fL9F+7do1qlixIhPN8jCuKSsrU1JSEhERjR49mtsVj4uLIw0NDZnrmZiY0IcPH7i/y7qZmprKXLs4GhoaFB0dTUREjo6O5O3tTUREL168IBUVFabaqqqq9OLFCyIi6tu3Lze2JyYmMvst8fPzI19fXxKJRLR+/Xry8/Pjbvv27aNbt24x0f0a4WRAQEDgh6lfvz6ePn2Kmzdvolq1amjatKnU9QEDBsDKyoppH/isxLt9+3YUFhYCACZMmIDKlSvj1q1bcHJykmk12NL4ugKvPNHS0sLFixdx48YNREREICMjA3Z2dnB0dJSL/p49e+Dj44P4+Hjcvn0bxsbG8Pb2hqmpKZNCb97e3iAiuLi4wMvLi3O6Af6vArFk15oVS5YsgY+PD4YNGya1G96iRQssWbKEiebixYvh4OCAvXv3Ij8/H7Nnz4aOjg53PTAwkHlBwcqVK0u93xK0tLSk+iJLysO4VrVqVURGRqJ69eo4d+4cV+U7KytL5gXmAOkTNz5P3/isbm5hYYHjx4+jZ8+eOH/+PKZMmQKgyE2KVZXt4cOHIz8/HyKRCO3atWN+4lQmcllyCAgICDDCzc2NatSoQYGBgZSYmEiJiYm0f/9+qlGjBvMYUwH5s2XLFtLV1aUlS5aQqqoqt0Pu6+tLbdq0Yap99epVys3NZapRFqqqqhQfH09E0nkasbGxTJO2379/T8ePH6c7d+6UuHb69GmKi4tjpk1EtG3bNnJ0dKTk5GSuLTk5mTp06EA+Pj5MtflkwYIFpKWlRXXq1CEjIyP68uULERHt2rWLmjVrJrd+3Lhxg9OWB+Hh4VSvXj3S1NTkduaJiCZOnEgDBw5kqn3o0CFSVFQksVhMjo6OXPuyZcuoU6dOTLWL55/xgVB0TEBA4D+NvCvxJiYmwsjI6Lsf/+rVK2ZFuORJeYkptrKywrJly+Ds7AwNDQ2Eh4fDzMwMjx8/Rps2bWRejOnTp0/cruC/VbtltXsIAGZmZti+fTscHR2lXndAQACWL1+OyMhIZtryxtbWVip2+vnz58jJyeG+d4mJiVBWVkbNmjWZ1vLgm8OHDyMpKQl9+/ZFjRo1AAD+/v7Q1tZmcgJWGpqamggLC5NrNeLSkFd18zdv3iA5ORk2NjYQi8UAinJlNDU1S5w+y5I2bdpg8uTJcHZ2ZqbxLYTFgICAwC+BvCrxVq1aFc7Ozhg1ahQaN25c6mPS09Nx8OBBrF+/HmPGjGFeSl4emJqaIiQkBJUrV/5m5UzW1TJVVVURFRUFY2NjqUnx8+fPUb9+fWRnZ8tUT0FBAcnJydDT04NYLC41gZj+f2JxQUGBTLWL89dff2Hv3r3YvXs32rdvj7Nnz+LFixeYMmUK5s2bBzc3N2ba8sbLy+u7H7tgwQKGPREo/h2TF3xUN/8aSbVhySKMNQcPHsSsWbMwZcoUNGzYEGpqalLX69evz1RfyBkQEBD4TyPvSryRkZFYunQp2rdvDxUVFTRs2BD6+vpQUVHBx48fERkZiSdPnsDOzg4rV65Ely5dZKovYcGCBXBxcZFb7kB5iSk2NTVFWFhYidd97tw5WFpaylzv8uXLnFPQlStXZP7834unpycKCwvh4OCArKws2NvbQ1lZGdOmTfulFgKAMMGXEBwcjNWrV3MVt62srDB9+nS0atWK556xg6/q5gBQWFiIJUuWYM2aNcjIyABQtBiaOnUq5syZw50UsGDAgAEApE9VRSKRXDYaAAg5AwICAj9HXl4e+fv705s3b3jR56sSb1ZWFh06dIjc3d3J2dmZOnbsSIMHD6bVq1fTo0ePmOlKsLGxIQUFBWrXrh39/fffco3r5bP41o4dO8jAwIACAwNJTU2N9u/fT0uWLOH+ljU9e/ak9PR0IiLy9/eX6/ssIT8/n4KDg+njx4+Uk5NDT548obt370pVpv2V+fjxI+3YsYM8PT0pJSWFiIqKU718+ZKZJt/j2p49e6hChQrUr18/Wr9+Pa1fv5769etHioqK9Pfff8utH3///bdcHcL4rG7u6elJVapUoS1btnBFDDdv3kxVqlRhXlE+ISHhmzfWCIsBAQGBn4aP5KfyUImXbx4+fEhubm6kq6tL2traNG7cOLp37x5zXb6Lb+3du5csLCy4IlQGBgZcgSZZo6ioSK9fvyaisl+3PFBWVmaerFsafE+Kw8PDqUqVKmRhYUEVKlTgJodz5syhoUOHMtXmM6mzTp06tHbt2hLta9asYW7nyid8VjevXr06nThxokT78ePHSV9fn6k23whhQgICAj9NkyZNSg3dYIm2trZUsZavEYlE/1Ps8X8RW1tb2NraYs2aNTh16hR8fX3RokUL1KlTB66urhgxYkSptow/C/FcfGvw4MEYPHgwsrKykJGRAT09PWZaderUwaxZs9C2bVsQEQ4ePFhmovCwYcOY9aNevXqIi4v7Zr4GCypUqIBx48ZxoSryxsPDAyNGjMDKlSulrIK7dOmCQYMGMdXmY1yTEBcXh+7du5dod3JywuzZs2Wu16tXr+9+7NGjR2WuL0FZWbnURP3o6GhUqVKFmS4ApKamlpokXKdOHaSmpjLVBoDY2Fh4e3tLhYW5u7vD3NycubawGBAQEPhp/vzzT3h4eCApKUluyU/loRJveYGIkJeXh9zcXBARdHR0sGnTJsybNw87duxA//79ZaJTHqpltmvXDkePHoW2tjYqVqzIJYp/+vQJzs7OuHz5skz1fHx84OHhgTNnzkAkEmHu3LmlLoREIhHTxcCSJUswbdo0LF68uNTvGEsnIz4nxffv38e2bdtKtBsYGODNmzdMtfkY1yQYGhoiKCgIFhYWUu2XLl1i4kVffNOAiHDs2DFoaWmhUaNGAIAHDx4gLS3tf1o0/Ah8Vje3sbHBpk2bSrilbdq0CTY2Nky1z58/DycnJzRo0AAtWrQAANy8eRN169bFqVOn0L59e6b6gpuQgIDAT1NaYpW8kp9evHgBIyOjUidovzoPHjyAr68v9u/fD2VlZQwbNgyjRo3iJhAbN27EkiVL8PbtW5no+fv7c8W3vL29eSm+JRaL8ebNmxKnAe/evYOBgQHy8vLkri0Pin/Hin/W5fEd49PpRE9PD+fPn4etra2Us83Fixfh4uKCpKQkZtp8jmtbt27F5MmT4eLigubNmwMomhz6+flh/fr1TIsazpw5E6mpqfDx8eEKnBUUFODPP/+EpqYmVq1axUw7PT0dffr0QUhICD5//gx9fX28efMGf/zxB86ePVvisydLgoOD0bVrVxgZGXHj2O3bt5GUlISzZ88yTdy2tbVFx44dsXz5cql2T09PXLhwgbmFrrAYEBAQ+GlevHjxzet8Vsv9VbG2tkZUVBQ6dOiA0aNHo3v37iUqk3748AF6enpclWRZERwcjObNmzP3/C5OREQEAKBBgwZSDj9A0UTl3Llz2LZtGxISEpj1gc+FZ3Bw8Devs6wEzOekeNSoUUhJScHBgwdRqVIlREREQEFBAc7OzrC3t4e3tzczbb7HtWPHjmHNmjVc2IilpSWmT5/OvMZAlSpVcOPGDdSuXVuq/dmzZ2jevDlSUlKY6gPgrbr569evsXnzZkRFRQEoes///PNP5qfMKioqePToEWrWrCnVHh0djfr16+PLly9M9YXFgICAgMB/kMWLF8PFxUVuvtt8F98q7vFf2s+WqqoqNm7cCBcXF5lrFyctLQ27du2Siut1dXVlkptRXuBzUsznTjFf5OfnY9myZXBxcZGbz31xdHR04OfnV2LRceLECYwYMQIfP36Ue59Yk5eXh06dOsHHx6fEhFweGBoaYu3atejbt69U+8GDBzFt2jQkJiYy1RdyBgQEBGTCnj174OPjg/j4eNy+fRvGxsbw9vaGqamp3Kpl8gFfr1uSG/A12dnZWLVqFebPny9TPR0dHa74liR5u7Q+sdopjo+PBxHBzMwM9+7dk0omVFJSgp6eXomTEVkTEhKCjh07QlVVFU2aNAEArFu3DsuWLcOFCxdgZ2fHVB8oKq6XmJiI3NxcqXaWoTp8nuxpaWnh4sWLvO0U8/H9rlChAlauXMk0B+VbjBw5Eq6uroiNjeU+53fv3sXy5csxcuRImeuVh+rmioqK3OkjH4wePRpjxoxBXFycVFjYihUr4OHhwb4DcvUuEhAQ+CXZsmUL6erq0pIlS0hVVZWzg/P19aU2bdrw3Dt28Pm65W3vefXqVcrLy+P+/tbtV6Vly5Y0YsQI7n0gKrLeHD58OLVq1Yqp9rt376hr164kFotLvbEmICCAmjdvTtWrV+fsNtetW0fHjx9nrs0XfH6/nZycyM/Pj6lGWRQUFNCKFStIX1+fs+/V19enFStWUH5+vsz1TExM6MOHD9zfZd1MTU1lrl2cyZMn08yZM5lqlEVhYSGtXbuWDAwMpCyTvb29qbCwkLm+ECYkICDw01hZWWHZsmVwdnaWSvJ7/Pgx2rRpgw8fPjDTlncl3uLw+brFYjHevn1bwm7v8uXL6N+/P96/f89Mm2+eP3+OK1eu4N27dyXyIWR9IlIcVVVVhIaGlrAfjIyMRKNGjZCVlcVMe/DgwXjx4gW8vb3Rpk0bHDt2DG/fvuUqpnbt2pWZ9tatWzF//nxMnjwZS5cuxePHj2FmZgY/Pz/4+/szq8xcWFgIPz8/HD16FAkJCRCJRDA1NUWfPn0wdOhQ5rkbfH6/fXx84OXlhcGDB5eatO3k5MRMuziSkECWblXlBTc3NwQEBKBmzZqlvudr166VSz8+f/4MAFJWuqwRwoQEBAR+mvj4eNja2pZoV1ZWRmZmJlPtEydOYOnSpWjdujVcXV3Ru3dvKCsrM9WUwMfr5sve8385QmcZsrJjxw6MHz8eurq6qFatmtTrF4lETBcDmpqaSExMLLEYSEpKYv7DffnyZZw4cQKNGjWCWCyGsbEx2rdvD01NTfz1119MFwMbN27Ejh074OzsLOV20qhRI0ybNo2JJhHByckJZ8+ehY2NDaytrUFEePr0KUaMGIGjR4/i+PHjTLQl8Dmu/fnnnwBKn4CyTtoujrwXAYsWLcK0adM4y2AJrMIfi/P48WMu1C86OlrqGuuF5+7du9G2bVuYmprKdREgQVgMCAgI/DSmpqal+pCfO3cOlpaWTLXDwsIQGhoKX19fuLu7Y8KECRgwYABcXFzQuHFjptp8vG5vb2/O3tPLy0tu9p4NGjTgHGS+BeuJypIlS7B06VLMnDmTmUZZ9O/fH66urli9erVUXO/06dMxcOBAptqZmZmcpamOjg7ev3+PWrVqwdramrntIB+TYj8/P1y7dg1BQUFo27at1LXLly/D2dkZAQEBTOPq+RzXZO0A9m/Y2dkhKCgIOjo6sLW1/ebkl+XnzcvLC+PGjSuxGMjKyoKXlxfTxQCrE67v4a+//sLo0aNhYGCA1q1bo3Xr1mjTpk2JOhOsEBYDAgICP42HhwcmTJiAL1++gIhw79497N+/H3/99Rd27tzJXJ+vSrx8vO7hw4cDKJqoyNPeMz4+Xi46/8bHjx9LOG7Ii9WrV3PFxfLz8wEUJR6OHz++hD+4rKlduzaePXsGExMT2NjYYNu2bTAxMYGPjw+qV6/OVJuPSfH+/fsxe/bsEgsBoKjwnKenJ/7++2+miwG+xzV50qNHD+5E1dnZmbd+EM/Vzfni+fPnePXqFa5evYpr165h9erVGDt2LKpXr442bdpg7969bDvAPCtBQEDgt2Dv3r1kYWEhlfy0c+dOufYhJyeHAgMDqUOHDlShQgWyt7cnCwsL0tDQoMDAQCaa8nzd6enpUn9/6/ar4uLiQlu3bpW7bn5+PgUHB1NqaiplZmZSREQERUREUGZmplz09+zZQ76+vkREFBISQrq6uiQWi0lFRYXZZ1vCjh07yMDAgAIDA0lNTY32799PS5Ys4f5mQdWqVSk0NLTM6w8fPqSqVasy0S6OvMe1rKwsOnXqFHff09OTpkyZwt2mTZtG2dnZzPT5Qltbm3R0dEgsFnN/S26ampokFovpzz//ZKL9+vVrmj17Nne/RYsWZGtry90aNWpEL1++ZKJdGpmZmXTu3DkaPnw4VahQgRQUFJhrCgnEAgICP01OTg7y8/OhpqaGrKwsZGRkyLVKq7wr8ZaGPF63goICZ+9Z3He/OMTI3vPkyZPo3LkzFBUVcfLkyW8+lmVy419//YW1a9eia9eusLa2LnEywsp6ECgqDPT06VOYmpoy0/hesrKyEBUVBSMjI+jq6jLX+/vvv7Fw4ULExsYCAPT19eHl5QVXV1cmekpKSnjx4kWZpx6vX7+GqakpcnJymOgD/IxrPj4+OHPmDE6dOgWgKIm0bt26UFVVBQBERUVhxowZmDJlCtN+yBs+q5vPmzcPKSkp2LJlC4Ci99zFxYU7ifjnn3/QsmVLrF69mok+AFy4cAFXr17F1atXERoaCktLSy5UyN7evlQbaZnCfLkhICDwy/Lu3Tvq1KkTVahQgcRiMTVt2pRiYmLk2od69epRhQoVqEuXLnTs2LFSre/ev39PIpFI5tpt27aljx8/lmhPT0+ntm3bylyPT3tPkUjEWZlKdklLu7G2ueTTerBhw4Z06dIlphrlkS9fvlBGRgYRFe1almZpK2vEYjG9e/euzOtv3rxh9lnjc1xr2bIlnTx5kruvrq7OWZoSFZ0QNWvWjGkf8vPzadWqVdS4cWOqWrWq1C69jo4OU+2rV69Sbm4uU42vadCgAV27do27//V7fu7cObKysmLaB5FIRHp6erRixYpSf1NYI5wMCAgI/DAuLi74559/MGnSJKioqGDbtm2oXr26XBOx5F2JtzhisRhv3rwpsVv47t07GBgYIC8vT+59EmDHuXPnMGvWLCxevLhU60GWzisFBQXw8/NDUFBQqZaqly9flrnm+/fvMWzYMFy6dAmFhYVo3Lgx/v77b5ibm8tc62vEYjE6d+5cpjNYTk4Ozp07xyRZnc9xrXr16rh9+zZMTEwAAFWqVMH9+/e5+9HR0WjcuDHS09OZ9WH+/PnYuXMnpk6dirlz52LOnDlISEjA8ePHMX/+fJmfvvFd3VxHRwePHj3iqj336tULW7duRdWqVQEACQkJsLKyYmod7O3tjWvXruHatWtQVlbmTgXatGmDWrVqMdOVICwGBAQEfhhDQ0Ps3LkTHTt2BFCUBGVpaYnMzEy52XvyYUUnsdls0KABLl++LJXYVlBQgHPnzmHbtm1ISEhgovs9sLT3/F0Ri8Xc38VDtIhh5WUJEydOhJ+fH7p27Yrq1auXCBFbt26dzDX5nBR/b6VbX19fmWvzOa6pqqoiLCwMtWvXLvV6VFQUGjRogC9fvjDrg7m5OTZs2ICuXbtCQ0MDYWFhXNudO3ewb98+merxGf4IAOrq6rh+/XqpjlkAEBoailatWiEjI0Pm2qXx6NEjBAcH4/Llyzh9+jT09PTw8uVLppqCm5CAgMAP8/r1a9jY2HD3a9asCWVlZSQnJ3M7Wazhw4pOYrMpEonQrl27EtdVVVWxceNGZrr/tocjDx/yoKAgrFu3Dk+fPgUAWFpaYvLkyXB0dGSi5+Hh8V2PY1kYiE/rwcDAQBw8eBBdunSRm+bFixfh5+fHTYq7desGS0tL5OTkMJ8Us5jkfy98jms1atTA48ePy1wMREREcDvYrHjz5g2sra0BFE2UJacQ3bp1w7x582SuV3xDhY/vWO3atXHr1q0yFwPXr1+Xy+48ESE0NBRXr17FlStXcOPGDRQWFpYoLMkCYTEgICDwUygoKJS4L88DR+LBii4+Ph5EBDMzM9y7d09qsFZSUoKenl6J90VWuuWBLVu2wN3dHX369IG7uzsA4M6dO+jSpQvWrVuHCRMmyFwzNDT0Xx/DsjAQEUFfXx+5ubmoXbs2KlSQ78+nkpKS3DzHJZSHxT5f8DWudenSBfPnz0fXrl2hoqIidS07OxteXl5MC8wBRQuS5ORkGBkZwdzcHBcuXICdnR3u37/PZBHYunXrUv+WFwMGDMD8+fPRqlWrEieq4eHhWLRoEfO6Jt27d8fNmzfx6dMn2NjYoE2bNhg9ejTs7e2hra3NVBsQwoQEBAR+ArFYDC0tLalJWFpaGjQ1NaVCKlJTU2WuLanEm56eDk1NzTIr8W7evFnm2r87NWrUgKenJyZOnCjVvnnzZixbtgyvXr3iqWdsiI+Ph5OTEyIjIwEUvf4jR46gUaNGcuvDmjVrEBcXh02bNjGvhipBQUEBb968kVrsampqIjw8vFw4KrGCz3Ht7du3aNCgAZSUlDBx4kRuR/rZs2fYtGkT8vPzERoaysWzs8DT0xOampqYPXs2Dhw4gCFDhsDExASJiYmYMmWKzGtq8B3+mJeXB0dHR9y6dQvt27fnTmWePXuGixcv4o8//kBQUBDTmi7Tp09H69at0apVKyY1cf4NYTEgICDww/j7+3/X4ySFsmStTTxZ0X1NZGQkEhMTkZubK9Uua4vN8mLvqa6ujrCwsBI71c+fP4etra3cYmvlRZ8+ffDkyRPMnz8fKioqWL16Nb58+YIHDx4w1e3Vq5fUfUk4Rd26dUtMTI4ePSpzfT4nxXzC57gGFC0+x48fj4sXL3KnESKRCO3bt8eWLVtgZmbGRLcs7ty5g1u3bqFmzZro3r27zJ9fkifAZ/hjbm4u1q5di8DAQERHRwMoOgkbOHAgpkyZIrccOL4QFgMCAgL/aYKDg+Vaibc4cXFx6NmzJx49eiT1YyaZPMn6h6u4e1HxydjXsM4ZGDRoEGxtbTF9+nSp9tWrVyMkJASBgYHMtPmgWrVqOHz4MFq2bAkASE5ORo0aNfDp06cSjkKy5HuTaAE2MfZ8T4p/d1JTUxETEwMAsLCwkEsF3gMHDuDkyZPIzc2Fg4MDxo0bx1zzxYsX3/3Yr6tgC8gGYTEgICDwn4NvKzoJ3bt3h4KCAnbu3AlTU1Pcu3cPKSkpmDp1KlavXo1WrVox05Y3GzZs4P7+9OkTVq9ejRYtWnCnL3fu3MHNmzc5O8JfCbFYjOTkZKnQDHV1dTx69OiXDpcR+L3YunUrJkyYgJo1a0JVVRWPHj2Ch4cHVq1axXfXBBgjLAYEBAT+c/BtRSdBV1cXly9fRv369aGlpYV79+6hdu3auHz5MqZOnfpdSa//Fb530isSiRAXF8e4N/JFQUEB0dHRUrHzNWrUwI0bN6QSaVkuPL8mODgYmZmZ+OOPP9hXJxX4Lahbty769euHBQsWAAD27t2LsWPHIjMzk6lueQl//J0RFgMCAgL/OYKDg9GiRQtUqFABwcHB33wsS3cKHR0dPHz4EKampjA3N8fOnTvRtm1bxMbGwtrammmRGkD+9p7lgcTERBgaGpZYABIRkpKSYGRkJHPN0hacxV2sWC48V6xYgYyMDCxevJjT6ty5My5cuAAA0NPTQ1BQEOrWrStzbYHfC1VVVTx9+pRb4BYWFkJVVRUJCQmoXr06M93yEv74OyNYiwoICPzn4NuKTkK9evU4Z5WmTZti5cqVUFJSwvbt25kn+fFh71keMDU15U6FipOamgpTU1MmkwU+6wscOHBAytbw8OHDuHbtGq5fvw5LS0sMGzYMXl5eOHjwIG99FPg1yMnJkcqBEYvFUFJSQnZ2NlPd4tW0v66s/btQ/LS7OCkpKdDT02O+CBJOBgQEBGRGbm4u4uPjYW5uztSHnW8rOgnnz59HZmYmevXqhZiYGHTr1g3R0dGoXLkyDhw4UGpBMlnBt73ny5cvcfLkyVJdlFgW/hKLxXj79m2JQjwvXryAlZUV85AGeaOjo4Nbt27B0tISQFFScUFBAQICAgAULQD79u2LpKQkPrv5SyOvcY1vxGIxxowZI1XAcfPmzRgyZIiUWxvL73d5oqCgAI8ePYKxsTHzULzipyPFef36NczNzZkvyH7dT7WAgIDcyMrKgpubG+c+Eh0dDTMzM7i5ucHAwACenp4y1SsvlXgllVmBIrePqKgopKamcjUQWJKWloZOnTqVaO/QoQPzAjlBQUFwcnKCmZkZoqKiUK9ePSQkJICIYGdnx0RTUoFYJBJh3rx5UhOWgoIC3L17Fw0aNGCizSf5+flStoa3b9/G5MmTufv6+vr48OGDXPryu0yKJch7XCtOWbHzIpEIKioqsLCwkHnyur29PZ49eybV1rx5c6kcIHnUuOAr/HHy5MmwtraGq6srCgoK0Lp1a9y6dQsVK1bE6dOn0aZNG5lrSowZRCIRdu7cCXV1de5aQUEBrl27hjp16shc92t+/W+zgIAAc2bNmoXw8HBcvXpVaoLq6OiIhQsXyvxHszxU4s3Ly4OqqirCwsJQr149rl0e9n9AUSLdsWPHSth7njhxAt26dWOqPWvWLEybNg1eXl7Q0NDAkSNHoKenh8GDB5e6QJEFkmRsIsKjR4+gpKTEXVNSUoKNjQ2mTZvGRJtPzM3Nce3aNZiZmSExMRHR0dGwt7fnrr98+RKVK1dm2gc+J8V8Iu9xrTjOzs6lbnhI2kQiEVq2bInjx4/LbNf66tWrMnmen4HP8MfDhw9jyJAhAIBTp04hPj4eUVFR2LNnD+bMmYObN2/KXHPdunUAisY1Hx8fqcrXkno5Pj4+MtctAQkICAj8JEZGRnT79m0iIlJXV6fY2FgiInr+/DlpaGjw2TWmmJqaUlhYmNz01q9fz90WL15MWlpa1KVLF1q8eDEtXryYunbtStra2rR48WKm/VBXV6eYmBgiItLW1qbHjx8TEVFYWBgZGxsz1R4xYgSlp6cz1ShPbN++ndTU1MjFxYWsrKyoefPmUtcXL15M3bp1Y9qHSZMmUcOGDen69eukpqbGfb+PHz9ODRo0YKrNJ3yOa5cuXaKmTZvSpUuX6NOnT/Tp0ye6dOkS/fHHH3TmzBm6ceMG1a1bl1xcXGSm2apVK1q9ejVFR0fL7Dn/VwwMDGjjxo0l2jdt2kT6+vpMtZWVlSkpKYmIiEaPHk3u7u5ERBQXF8f8/92mTRtKTU1lqvEthJMBAQGBn+b9+/clYh0BIDMzk8mxcnmxopszZw5mz56NPXv2yOVEQLKLJEFHRweRkZGIjIzk2rS1tbF7926mXv9qampcnkD16tURGxvLudmwDlmRFNeKiYlBbGws7O3toaqqKuXu8ysxevRoKCgo4NSpU7C3t+dsHyW8fv0aLi4uTPtw/PhxHDhwAM2aNZN6j+vWrYvY2Fim2nwi73GtOO7u7ti+fTuaN2/OtTk4OEBFRQVjxozBkydP4O3tLdP/vaurK06ePImFCxeiRo0acHJygpOTE5o3by637xaf4Y9Vq1ZFZGQkqlevjnPnzmHr1q0Aik7Giu/Ys0BiUsBXKJ6wGBAQEPhpGjVqhDNnzsDNzQ3A/8WV7ty5kytKJUucnZ25ZCtnZ+cyH8c6Z2DTpk2IiYmBvr4+jI2NS1SjffjwoUz1ykN4FAA0a9YMN27cgKWlJbp06YKpU6fi0aNHOHr0KJo1a8ZUOzU1FX379sWVK1cgEonw/PlzmJmZwdXVFTo6OlizZg1T/eJ8+vQJly9fRu3atbkEXxa4uLiUOenbsmULM10JfE6K+UTe41pxYmNjS61boampycXw16xZU6aL7+HDh2P48OHIyclBUFAQTpw4gb59+6KgoABdu3aFk5MTOnbsCFVVVZlpfg2f4Y8jR45Ev379UL16dYhEIi5H4e7du8zj9rOzszFx4kTeQvGExYCAgMBPs2zZMnTu3BmRkZHIz8/H+vXrERkZiVu3bv1rHYAfobxY0X1rIfIrs3btWmRkZAAAvLy8kJGRgQMHDqBmzZrMnUYmT54MRUVFJCYmSk3A+/fvDw8PD6aLgX79+sHe3h4TJ05EdnY2GjVqxCVOBwYGonfv3sy0+YTPSTGfyHtcK07Dhg0xffp0BAQEcM5Z79+/x4wZM9C4cWMAwPPnz2FoaChzbWVlZXTp0gVdunTBtm3bcPfuXZw8eRLz5s3DoEGD0K5dO8yaNQstWrSQiV7x6uZWVlZYunQprl69Wmp1c5YsXLgQ9erVQ1JSEvr27csl7isoKDCfjHt6evKWnwII1qICAgIyIjY2FsuXL0d4eDgyMjJgZ2eHmTNnwtramu+u/bLwZe/JJ9WqVcP58+dhY2MDDQ0NhIeHw8zMDHFxcahfvz63SGGtvW/fPixYsADh4eHw9/fH9u3bf6mK08W5ceMGOnfujCFDhsDPzw9jx46VmhQ3bNiQ7y4yg69x7dmzZ+jRowfi4+O5CX9SUhLMzMxw4sQJ1KpVC8ePH8fnz58xdOhQpn0pTlxcHE6cOAFDQ0P06dNHJs9ZHqubf/nyBSoqKnLRAgBjY2MuFK/4uBYTEwM7Ozt8+vSJqb5wMiAgICATzM3NsWPHDl60f8dKvHzYe5YHMjMzpWxFJaSmpkpZcLIgPT2dyw05d+4cevfujYoVK6Jr164lwhp+JVq2bImwsDAsX74c1tbWuHDhAuzs7HD79u1ffrHP17hWu3ZtREZG4sKFC4iOjuba2rdvz1XpZXUyaWZmhvv375dwqUpLS4Ojo6PMJ+TlJfyxoKAAy5Ytg4+PD96+fcuF6sybNw8mJiZwdXVlps13KJ6wGBAQEPhpEhMTv3ndyMiImfbvWolX3vaelSpVQnR0NHR1df+1jkJqaqrM9SW0atUKAQEBWLx4MYCi3cLCwkKsXLkSbdu2ZaYLAIaGhrh9+zYqVaqEc+fOITAwEADw8eNHue4i8gGfi32+4HNcA4oKUXXq1ImZXW9ZJCQklJprlZOTw7yYIZ8sXboU/v7+WLlyJUaPHs2116tXD97e3kwXA3yH4gmLAQEBgZ/GxMTkm5NDlkm8y5Ytw7p166Qq8U6aNAktWrTAsmXLftnFwNOnT7F//34AQIUKFZCdnQ11dXUsWrQIPXr0wPjx42Wqt27dOmhoaAAAvL29Zfrc/wsrV66Eg4MDQkJCkJubixkzZuDJkydITU1l4gNenMmTJ2Pw4MFQV1eHsbExV4To2rVrTHfIy6ppIS/4nhTzBZ/jGlB0+hcUFIR3796VyI3avXu3zPWKO7OdP39equpwQUEBgoKCYGJiInPdr+Er/DEgIADbt2+Hg4MDxo0bx7Xb2NggKiqKmS7Ab34KICwGBAQEZMDXsdJ5eXkIDQ3F2rVrsXTpUqbafFrR8Ym87T2HDx9e6t/FycrKQlhYmMy1i1OvXj1ER0dj06ZN0NDQQEZGBnr16oUJEyagevXqTLX//PNPNGnSBElJSVLhGmZmZliyZAkzXUVFRRgZGTGffJYF35NivuBzXPPy8sKiRYvQqFEjzt2GNZKwI5FIVOI7rqioCBMTE+ZuXXyGP7569QoWFhYl2gsLC5GXl8dUm/dQPN4qHAgICPzynD59mlq3bs1UY+DAgbRy5coS7atWraL+/fsz1fby8qLMzMwS7VlZWeTl5cVUu0ePHrR9+3YiIpo6dSpZWFjQkiVLyM7OjhwcHJhql0VYWBiJxWJetPkgPz+fQkND5VIsaOfOndSlSxdKSUlhrvU1YWFhUrf79+/T9u3bqU6dOnTkyBG594dv5DGuVatWjQICAphqlIWJiQm9f/+eF+3GjRvT/Pnziej/Cr19/vyZnJycaMuWLUy17ezsaM+ePVLaREXjfMuWLZlq843gJiQgIMCMmJgY2NjYIDMzU6bPW9yK7tOnT1i9ejVatGhRqhUdy+JbCgoKSE5OLpH4lZKSAj09PaY7pnFxccjIyED9+vWRmZmJqVOn4tatW5y9p7GxMTPtsggPD4ednR3zneK0tDTcu3ev1PCJYcOGMdOdPHkyrK2t4erqioKCArRu3Rq3bt1CxYoVcfr0aS5siAW2traIiYlBXl6eXGpafA9nzpzBqlWrcPXqVblr8wmrca04lStXxr1792Bubs5MozyioaGBsLAwmJubQ0dHBzdu3EDdunURHh6OHj16ICEhgZn2iRMnMHz4cMyaNQuLFi2Cl5cXnj17hoCAAJw+fRrt27dnps03QpiQgIDAT/O17RkRITk5GQsXLkTNmjVlrldeKvFSGVVvw8PDmVckNjMz4/5WU1ODj48PU73ywqlTpzB48GBkZGRAU1NT6v0XiURMFwOHDx/GkCFDuH7Ex8cjKioKe/bswZw5c5jmLJTHmha1a9fG/fv3+e4GM+Q9rhVn1KhR2LdvH+bNm8dUR8KGDRswZswYqKioSG22lMakSZOY9YPP6uY9evTAqVOnsGjRIqipqWH+/Pmws7PDqVOnmC0ExGLxv4aAiUQi5OfnM9HnNISTAQEBgZ+ltAGNiGBoaIjAwMBfrjCRxE0nPT29xIS0oKAAGRkZGDduHDZv3sxjL+WPPE4GatWqhS5dumDZsmWlWoyyREVFBTExMahRowbGjBmDihUrwtvbG/Hx8bCxsWHuBc4X35oUR0VFMc8T4Qs+xzV3d3cEBASgfv36qF+/PhQVFaWuyzqR1tTUFCEhIahcufI3ff9Ze/07Ozuja9euGD16NKZNm4YTJ05gxIgROHr0KHR0dHDp0iVm2nxw4sSJMq/dvn0bGzZsQGFhIb58+cK0H8LJgICAwE9z5coVqftisRhVqlSBhYUFKlT49YYZb29vEBFcXFzg5eUl5bqhpKQEExMTJhMFvu09i7uNlIY8/MJfvXqFSZMmyX0hAABVq1ZFZGQkqlevjnPnzmHr1q0AihKnFRQUmOunpaXh8OHDiI2NxfTp01GpUiU8fPgQVatWhYGBATNdbW3tb06Kf1X4HNciIiLQoEEDAMDjx4+lrrFIJg4LC+PGMT59//msbs4HPXr0KNH27NkzeHp6cqegixYtYt6PX+9XWkBAQO60bt2aV315W9FJnDZMTU3RokULuS14+Lb3/J5QFdauJx07dkRISIhUmJS8GDlyJPr168e5u0iK2t29exd16tRhqh0REQFHR0doaWkhISEBo0ePRqVKlXD06FEkJiYiICCAmfbvttiXwOe49vV7zppKlSpx+U/t2rXD0aNHoa2tLdc+APIPf/y3TZXisKyfAgCvX7/GggUL4O/vj44dO8rVSvjX/RYLCAgw5d92iYvj5OTErB98WtFpaGjg6dOnnPXbiRMn4OvrCysrKyxcuBBKSkoy1ePb3vPrZF0+kFT7jYyMhLW1dYnwCZaftYULF6JevXpISkpC3759uYrHCgoK8PT0ZKYLAB4eHhgxYgRWrlzJLQgBoEuXLhg0aBBTbb4X+/KkvIxr8kZdXZ0zPrh69SpzK83yAp81UySkp6dj2bJl2LhxIxo0aICgoCC0atVKrn0QcgYEBAR+CInH+r8hEomYxpA3adIEnTt35irxhoeHS1XilXXxreI0btwYnp6e6N27N+Li4mBlZYVevXrh/v376Nq1Ky8/NPJy9OGLb33uWH/W+ERLSwsPHz6Eubk59zk3MzPDixcvULt2bZnHFP+uk2I+x7VevXrBz88Pmpqa6NWr1zcfe/ToUZlq9+7dGzdv3oSlpSWCg4PRvHnzMjczLl++LFNtvsMf+WTlypVYsWIFqlWrhmXLlpUaNiQPhJMBAQGBH6I87BID8q/EW5zo6GgurvfQoUNo3bo19u3bh5s3b2LAgAHlYtfpV4Pvz11wcDBWr16Np0+fAgCsrKwwffp05jt5ysrKpSYoR0dHo0qVKjLX+173ol9tAcbn50tLS4ubCH9tTMCavXv3wt/fH7GxsQgODkbdunXllpfDd/hjaXz58qVEyKmmpqbMdTw9PaGqqgoLCwv4+/vD39+/1MfJevH3NcJiQEBA4D8Nn1Z0RMRNHi5duoRu3boBAAwNDZlrC8ifvXv3YuTIkejVqxdnr3jz5k04ODjAz8+PabiOk5MTFi1ahIMHDwIomoQnJiZi5syZ6N27t8z1+F50/Y74+vpyf/v5+clVW1VVFePGjQMAhISEYMWKFXLLGeA7/FFCZmYmZs6ciYMHDyIlJaXEdRaL3mHDhsl10VcWQpiQgICATMjMzERwcHCpSbwsfan5tKJr164dDA0N4ejoCFdXV0RGRsLCwgLBwcEYPnw40wI5ZfGrhwnxiaWlJcaMGYMpU6ZIta9duxY7duzgTgtYkJ6ejj59+iAkJASfP3+Gvr4+3rx5gz/++ANnz54tUYRMQDbwNa6VlcT76dMnODs7yzxUpywkU0S+J6zyGNcmTJiAK1euYPHixRg6dCg2b96MV69eYdu2bVi+fDkGDx7MTJtvhMWAgIDATxMaGoouXbogKysLmZmZqFSpEj58+ICKFStCT0+PqS81n5V4IyIiMHjwYCQmJsLDwwMLFiwAALi5uSElJQX79u2Tueb32Ht6eHgIiwEGKCsr48mTJ7CwsJBqj4mJQb169Zh7gQNFJxHh4eHIyMiAnZ0d52jEGr4mxXzC57gmFovx5s2bEtXN3717BwMDA+YJvgEBAVi1ahWeP38OoKi+x/Tp0zF06FCmumUhj8WAkZERAgIC0KZNG2hqauLhw4ewsLDAnj17sH//fpw9e5aZNt8IYUICAgI/zZQpU9C9e3f4+PhAS0sLd+7cgaKiIoYMGQJ3d3em2nxW4q1fvz4ePXpUon3VqlXMfOfLg72nmZkZ7t+/j8qVK0u1p6Wlwc7OjukkiU8MDQ0RFBRUYjFw6dIlGBoaMtM9cOAATp48idzcXDg4OODPP/9kplUa/zYp/lUXA3yMaxEREdzfkZGRePPmDXe/oKAA586dY1pTAig66Zo3bx4mTpyIFi1aAABu3LiBcePG4cOHDyVOxn4VUlNTud8TTU1NLlm5ZcuWTHPPygUkICAg8JNoaWlRVFQU93dkZCQREd25c4dq167NZ9eY8/HjR9qxYwd5enpSSkoKERE9ePCAXr58yXPP2CESiejt27cl2t+8eUNKSko89Eg+bNmyhZSUlGjcuHEUEBBAAQEBNHbsWFJWViYfHx9mmiKRiGrVqkU2NjYkFotp2rRpTLTKonXr1jR69GgqKCggdXV1io2NpcTERLK3t6cjR47ItS/yhI9xTSQSkVgsJrFYTCKRqMStYsWKtGvXLibaEkxMTMjf379Eu5+fH5mYmDDVLouwsDASi8VMNaytrenq1atEROTg4EBTp04lIqL169eTgYEBU22+EU4GBAQEfhpFRUXOkk9PTw+JiYmwtLSElpYWkpKSZK5XXqzoIiIi4ODgAG1tbbkXguKD4iFK58+fl6q8XFBQgKCgIJiYmDDtg5+fH0aMGFGiPT8/H/PmzcNff/3FTHv8+PGoVq0a1qxZwyXyWlpa4sCBA8wsATdt2oQFCxZwIWh79+7F2LFjsWrVKiZ6pREWFoZt27ZBLBZDQUEBOTk5MDMzw8qVKzF8+PB/tcH8ryLvcQ0oCvMjIpiZmeHevXtSTlFKSkrQ09NjXu06OTkZzZs3L9HevHlzJCcnM9EsD9XNR44cifDwcLRu3Rqenp7o3r07Nm3ahLy8vF+y+nFxhMWAgIDAT2Nra4v79++jZs2aaN26NebPn48PHz5gz549TCoolhcrOg8PD4wcOZKXQlB8IAlREolEJVw/FBUVYWJigjVr1jDtw6RJk3DmzBls374dOjo6AIBnz55h0KBBSElJYbYYyM/Px7Jly+Di4oIbN24w0SiNuLg4qfd60KBBcHV1RXJyMqpXry6XPvAxKS4PyHtcA8DlOPHp5mRhYYGDBw9i9uzZUu0HDhxAzZo1mWiWh/DH4uFPjo6OePr0KZc3UL9+fabafCMkEAsICPwwBQUFUFBQ4BxO2rZti3fv3mHYsGFcEu/u3bthY2Mj975JrOhK2+GSFfIuBFVeMDU1xf3796Grqyt37djYWAwZMgRJSUnw9fVFdHQ0ZsyYAWdnZ2zZskXqtELWqKur4/Hjx8xPP4ojFovx9u1bqR3i4p81edChQweMGDECgwYNwujRoxEREYFJkyZhz549+PjxI+7evSuXfsiL8jSuRUZGlpq0zbLQ25EjR9C/f384OjpyOQM3b95EUFAQDh48iJ49ezLTFuAH4WRAQEDghzEwMMCIESPg4uKCRo0aASjaOTx37hzPPQOeP3+OVq1aMXWfkHchqPKCPI7sy8Lc3Bw3b97E5MmT0alTJygoKMDf3x8DBw5kru3g4IDg4GC5LgYAYN68eVIFoHJzc7F06VKphQ+LMAbJpHjZsmX4/PkzAGDp0qUYNmwYxo8fz02KfzXKw7gWFxeHnj174tGjRxCJRCUsPlmOa71798a9e/ewdu1aHD9+HEBRONy9e/dga2vLTJcvbt++jZSUFK5ODFDkprRgwQJkZmbC2dkZGzduhLKyMo+9ZItwMiAgIPDDLF68GP7+/oiPj0fz5s3h6uqKfv36ya1y5beQhxXdqFGjkJKSgoMHD6JSpUqIiIiAgoICnJ2dYW9vX26qabIgKCgIQUFBePfuXYmQBtYTxFOnTsHV1RW1atVCdHQ06tevj4CAAOjr6zPV9fHxgZeXFwYPHoyGDRuW8PZnsVvbpk2bfw2PEIlETHznq1Wrxk2Ka9WqJfPnL6+Uh3Gte/fuUFBQwM6dO2Fqaop79+4hJSUFU6dOxerVq5lVvM7Ly8PYsWMxb948mJqaMtEob3Tu3Blt2rTBzJkzAQCPHj2CnZ0dRowYAUtLS6xatQpjx47FwoUL+e0oS/jMXhYQEPg1uHLlCg0bNozU1NRIU1OTRo0aRXfu3OG1T/Jwn0hLSyNHR0fS1tYmBQUFMjQ0JEVFRbK3t6eMjAym2qampvThw4cS7R8/fiRTU1Om2gsXLiSxWExNmjShHj16kLOzs9SNJWPGjCFlZWVavXo1FRYWUnJyMnXu3JkqVapEBw4cYKpdmruL5Mb6s8YHixYtInNzcxKLxdSyZUvy9fWlzMxMvrslN/gc1ypXrkzh4eFERKSpqcm5GgUFBVGDBg2YamtqalJcXBxTjfJEtWrV6P79+9z92bNnU4sWLbj7Bw8eJEtLSz66JjeExYCAgIDM+Pz5M+3YsYNatGhBIpGIrKysaM2aNbz0RR6LAQk3btygzZs304oVK+jixYty0eTT3rNatWoUEBDAVKMs6tatS2FhYSXaN23aRGpqajz06NenPC725Qkf45q2tjY3ITczM6PLly8TEVFMTAypqqoy1R42bBitXbuWqUZ5QllZmRITE7n7LVq0oCVLlnD34+PjSV1dnY+uyQ0hTEhAQIAJZ86cwbBhw5CWlsYkVIfvSrx5eXlQVVVFWFgYM2eR0pC8bmdnZ/j7+5dq73nx4kU8e/aMWR8qV66Me/fuwdzcnJlGWeTk5JQZu/vs2TPUrl1bzj36fcjIyEBgYCD8/Pxw69YtWFpawtXVFR4eHnx3TW6wHtcktGrVClOnToWzszMGDRqEjx8/Yu7cudi+fTsePHiAx48fM9NesmQJ1qxZAwcHh1LD4X61InPGxsbYs2cP7O3tkZubC21tbZw6dQoODg4AisKGWrduzdSmmm+ExYCAgIDMyMrKwsGDB+Hr64sbN27A3NwcLi4u8PT0lLmWxOrwW4hEIqY/2GZmZjh27Jhc3ZIkr7t4UqGE4vaexZPhZM3MmTOhrq6OefPmMdMoT2RnZyMoKIh7T2fNmoWcnBzuuoKCAhYvXgwVFRW+uih35DUpLg/Ic1yTcP78eWRmZqJXr16IiYlBt27dEB0djcqVK+PAgQNo164dM+1v5QqIRCKmFcb5qG4+fvx4hIeHY8WKFTh+/Dj8/f3x+vVrKCkpAQD+/vtveHt74/79+zLXLi8IiwEBAYGf5tatW9i9ezcOHTqE/Px89OnTB66urrC3t+e7a0zZtWsXjh49ij179qBSpUpy1ebT3tPd3R0BAQGoX78+6tevD0VFRanrrAv0HD58GAcPHizVcvHhw4cy1/Px8cGZM2dw6tQpAEXWnnXr1oWqqioAICoqCjNmzJDyKf8V4WNSzCflbVxLTU391yKL/3XEYjHevHkDPT09qfa3b9/CyMhIahEuKz58+IBevXrhxo0bUFdXh7+/v5R9qoODA5o1a4alS5fKXLu8ICwGBAQEfpiVK1dyXu+NGjWCq6srBg4cKFWA61fG1tYWMTExyMvLg7GxcYnjdBYT0/JA27Zty7zGytlGwoYNGzBnzhyMGDEC27dvx8iRIxEbG4v79+9jwoQJTH6wW7VqhRkzZqB79+4ASvr87927F5s3b8bt27dlri0hMTERhoaGJSaCRISkpCQYGRkx0y5vk2LW8D2u8RWCWBr0laUpK8pD+GN6ejrU1dVLVHhOTU2Furo6d1LwKyIsBgQEBH6YKlWqYMiQIXB1deX9R4sPvLy8vnl9wYIFTPX5tPfkizp16mDBggXc5EwyKZ8/fz5SU1OxadMmmWtWr14dt2/f5uoLVKlSBffv3+fuR0dHo3HjxkhPT5e5tgQFBQUkJyeX2DFNSUmBnp4ek1AdvifFfFEexjU+QhCLs2vXLqxbtw7Pnz8HANSsWROTJ0/GqFGjmOiVh/DH3xmh6JiAgMAP8/r16xIhIr8TrCf738LLywuLFi1Co0aNUL16dV5CB2JiYhAbGwt7e3uoqqqCiJj3IzExkasqraqqyhXDGjp0KJo1a8ZkMZCWliYVnvD+/Xup64WFhUzCF4pT1nubkZHBLFdh1apVGDJkCA4dOvRbLfbLw7g2Z84czJ49m5cQxPnz52Pt2rVwc3PDH3/8AaCoMNeUKVOQmJiIRYsWyVxTspnBZ/jj74ywGBAQEPhh+P7BLA+kpaXh8OHDiI2NxfTp01GpUiU8fPgQVatWhYGBATNdHx8f+Pn5YejQocw0yiIlJQX9+vXDlStXIBKJ8Pz5c5iZmcHV1RU6OjpYs2YNM+1q1aohNTUVxsbGMDIywp07d2BjY4P4+PgSO4qyokaNGnj8+HGZTkURERGoUaMGE22JU49IJCpRibigoAB3795FgwYNmGiXh0kxH5SH17xp0ybExMRAX19f7iGIW7duxY4dO6Sqejs5OaF+/fpwc3NjshiQwGd1898ZYTEgICAg8INERETA0dERWlpaSEhIwOjRo1GpUiUcPXoUiYmJCAgIYKadm5vL7ZDLmylTpkBRURGJiYmwtLTk2vv37w8PDw+mi4F27drh5MmTsLW1xciRIzFlyhQcPnwYISEh6NWrFxPNLl26YP78+ejatWuJXfjs7Gx4eXmha9euTLRDQ0MBFJ0MPHr0SCpuWUlJCTY2Npg2bRoT7fIwKf5dcXZ25k07Ly8PjRo1KtHesGFD5OfnM9f/HcMf+UbIGRAQEPhPw4cVnQRHR0fY2dlh5cqVUvHrt27dwqBBg5CQkMBMm097z2rVquH8+fOwsbGRet1xcXGoX78+MjIymGkXFhaisLAQFSoU7WUFBgbi1q1bqFmzJsaOHcskye/t27do0KABlJSUMHHiRNSqVQtAUV2DTZs2IT8/H6GhoahatarMtSWMHDkS69evh6amJjMNAQEAcHNzg6KiYglXsGnTpiE7OxubN29mpv1v4Y/Hjh1jpv07I5wMCAgI/KdJSEgoNXkyJycHr169Yqp9//59bNu2rUS7gYEB3rx5w1T7y5cv2L59Oy5duiR3e8/MzEypcBUJqampZRYEkxUvX76EoaEhd3/AgAEYMGAAU1edqlWr4tatWxg/fjw8PT2lHFbat2+PLVu2MF0IAICvry/T5xcof/AVgggUJRBfuHABzZo1AwDcvXsXiYmJGDZsmFSROVmPM/IOf/y34pXFcXJyYtgTfhEWAwICAj8NH04nxQfx8+fPl2pFJ3F7YYWysjI+ffpUoj06OhpVqlRhqh0REcHFin9djZR1Em+rVq0QEBCAxYsXc3qFhYVYuXLlN21HZYGpqWmpn7XU1FSYmpoyK4BlamqKc+fOITU1FTExMQAACwsLpsmdvXr1gp+fHzQ1Nf81BOro0aPM+vG7wse4JoHPEMTHjx/Dzs4OABAbGwsA0NXVha6urtRYw2KckXf449fhWF+7GRV/jb9ycT1hMSAgIPDTlBVtmJOTw8ybWTKIi0QiDB8+XOpacSs6ljg5OWHRokU4ePAg15fExETMnDkTvXv3Zqp95coVps//LVauXAkHBweEhIQgNzcXM2bMwJMnT5CamoqbN28y1ebDVac4lSpVQpMmTZjrAICWlhb3WjU1NXkrNsXnpJhP+BjXJHh4eGDEiBFcCKKELl26YNCgQUy1+RxbRo0ahX379skt/LF4TsKlS5cwc+ZMLFu2TMpFae7cuVi2bJlc+sMXwmJAQEDgh9mwYQOAoknwzp07oa6uzl0rKCjAtWvXUKdOHSba5cGKbs2aNejTpw/09PSQnZ2N1q1b482bN/jjjz/kVq2SD3vPevXqITo6Gps2bYKGhgYyMjLQq1cvTJgwAdWrV2eiyaerDl/07NmTW+D4+fnx1g8+J8V8wOe4JoHPEEQ+4TP8cfLkyfDx8UHLli25to4dO6JixYoYM2YMnj59ykybb4TFgICAwA+zbt06AEWTBR8fH6nKjUpKSjAxMYGPjw/TPvBpRaelpYWLFy/i5s2bCA8PR0ZGBuzs7ODo6Mhcmy97z7y8PHTq1Ak+Pj6YM2cOE43S4NNVhy969uyJN2/eoEqVKmXuzrOkPEyK+aA8jGt8hiDyCZ/hj7GxsdDW1i7RLgnV+pUR3IQEBAR+mrZt2+Lo0aPQ0dHhRZ8vK7qAgAD079+/RNJsbm4uAgMDMWzYMGbaw4YNw7t377Bz505YWlpyjj7nz5+Hh4cHnjx5wky7SpUqnIOPvPmdXHWqVauGHTt2oHv37hCLxXj79q1cJ4KmpqYAgBcvXqBGjRqlTooXLVqEpk2byq1P8oTPcW3UqFFISUnBwYMHUalSJUREREBBQQHOzs6wt7eHt7e33Pv0q2Nvbw8VFRXs2bOHMwR4+/Ythg0bhi9fviA4OJjnHrJDWAwICAjIjNzcXMTHx8Pc3JyzfmQNn1Z0fMZS82nvOWXKFCgrK2P58uXMNL6H/fv3w8nJqURBpl+FhQsXYtGiRd+1I8rys8b3Yp9v+BjX0tPT0adPH4SEhODz58/Q19fnQhDPnj37y37mJfAR/hgTE4OePXsiOjqacyxLSkpCzZo1cfz4cVhYWDDV5xMhTEhAQOCnyc7OxsSJE+Hv7w+g6CjbzMwMbm5uMDAwgKenJzNtPivxlvUD9fLlSyl3Ixbwae+Zn5+P3bt349KlS2jYsGGJiQnLuN7ijB07Fk2bNoWZmZlc9OTNwoULMWDAAMTExMDJyQm+vr6lhjGwRpJQysekmE/4HNckIYg3btxARESEXEMQ+YTP6uYWFhaIiIjAxYsXERUVBQCwtLSEo6Mjb8n78uLX/zYLCAgwx9PTE+Hh4bh69So6derEtTs6OmLhwoVMfzT5qMRra2sLkUgEkUgEBwcHqYlRQUEB4uPjpd4HFvBp71ncejA6Olrqmjx/NH+Hg+06deqgTp06WLBgAfr27VvqApA1fE6K+YTPcU1Cy5YtpRJa5UFZ3vsikQgqKiqwsLDgQshkDZ/VzYGi19ihQwfY29tDWVn5l18ESBAWAwICAj/N8ePHceDAATRr1kxq8Kxbty7nU80KeVvRAf9naxoWFoaOHTtKJVZKYqlZW4vyZe9ZUFAALy8vWFtb/7ZhI3ywYMECAMD79+/x7NkzAEDt2rXlkkNQHibFfMDnuAYU5UKtW7eOc7GxtLTE5MmTmZ8OODs7l/DbB/7Pg18kEqFly5Y4fvy4zMeACxcu4Pz586hRo4ZUe82aNfHixQuZan1NYWEhli5dCh8fH7x9+5Zb9M6bNw8mJiZwdXVlqs8nwmJAQEDgp3n//n2pLieZmZnMd1b4sKKTTMxMTEzQv39/ufjbfw0f9p5AUZ5Ehw4d8PTpU94XA//88w/zSqzlhaysLEycOBF79uzh8gMUFBQwbNgwbNy4kemJAd+TYr7gc1zbsmUL3N3d0adPH7i7uwMA7ty5gy5dumDdunWYMGECM+2LFy9izpw5WLp0KVdT4969e5g3bx7mzp0LLS0tjB07FtOmTcOuXbtkqs1n+OOSJUvg7++PlStXYvTo0Vx7vXr14O3t/UsvBkACAgICP0mrVq1ow4YNRESkrq5OcXFxREQ0ceJE6tixI1PtNm3alHlr27YtU20JOTk5lJSURC9evJC6sSI3N5fatWtH0dHRzDS+RcOGDenSpUu8aBMR5eXl0cWLF8nHx4c+ffpERESvXr2iz58/89Yn1owZM4bMzMzo7NmzlJ6eTunp6XTmzBkyNzencePGMdVWVVWl2NhYIir6fkv+DgsLI01NTabafMLnuGZgYEAbN24s0b5p0ybS19dnql23bl26efNmifYbN26QlZUVERFdvHiRDA0NZa7duXNnmjt3LhH933teUFBAffv2pd69e8tcrzjm5ubcuFb8c/706VPS1tZmqs03wmJAQEDgp7l+/Tqpq6vTuHHjSEVFhdzd3al9+/akpqZGISEhfHePGdHR0dSyZUsSi8VSN5FIRGKxmKm2rq4ub4uBf/75hxo0aECnTp2i169fc5NTyY0lCQkJVKdOHapYsSIpKChwP9iTJk2isWPHMtXmk8qVK9OVK1dKtF++fJl0dXWZavM5KeYTPsc1NTU1ev78eYn26OhoUlNTY6qtoqJCjx49KtEeERFBKioqRFT0PVRVVZW59qNHj0hPT486depESkpK1KdPH7K0tKSqVatSTEyMzPWKo6KiQgkJCUQkvRh48uQJ8/ecb8R8n0wICAj892nZsiXCwsKQn58Pa2trXLhwAXp6erh9+zYaNmwolz7ExMTg/PnzyM7OBiCf5NIRI0ZALBbj9OnTePDgAR4+fIiHDx8iNDQUDx8+ZKo9ZMgQmR/Rfy9dunRBeHg4nJycUKNGDejo6EBHRwfa2trMQ4fc3d3RqFEjfPz4Eaqqqlx7z549ERQUxFSbT7Kysjjv8+Lo6ekhKyuLqfayZcswe/ZsjB8/Hvn5+Vi/fj06dOgAX19fuVXa5gM+xzUnJ6dSbZFPnDiBbt26MdVu2LAhpk+fjvfv33Nt79+/x4wZM9C4cWMAwPPnzzn7TVkiCX9s2bIlevTogczMTPTq1QuhoaEwNzeXuV5xrKyscP369RLthw8fhq2tLVNtvhHqDAgICPynKcuKzsXFhbkVnZqaGh48eMBLFVY3NzcEBASgZs2acrf3/LfiO61bt2amXblyZdy6dQu1a9eWqq+QkJAAKysr5hNjvnBwcEDlypUREBDA5ahkZ2dj+PDhSE1NxaVLl5jqx8bGYvny5VKVtmfOnAlra2umur8rS5YswerVq9GiRQv88ccfAIpyBm7evImpU6dKFd2bNGmSTLWfPXuGHj16ID4+Xspv38zMDCdOnECtWrVw/PhxfP78WaaWzsWrm/NR0PDEiRMYPnw4Zs2ahUWLFsHLywvPnj1DQEAATp8+jfbt28u9T/JCWAwICAj8p+GzEm/jxo2xbt06uVv/AfimfahIJMLly5fl2Bv5oaOjg5s3b8LKykpqMXDjxg307t0bb9++5buLTHj06BE6deqEnJwc2NjYAADCw8OhoqKC8+fPo27dujz3UECWfK91p0gkQlxcnMz1CwsLceHCBc46uHbt2mjfvj3EYrYBJXxWNweA69evY9GiRVKL3vnz56NDhw689EdeCIsBAQGBH0YsFv+rq4ZIJEJ+fj6zPvBZiffy5cuYO3culi1bBmtr6xJORsV372RJQUEBbt68yZu957Vr17553d7enpl2//79oaWlhe3bt0NDQwMRERGoUqUKevToASMjI/j6+jLT5pusrCz8/fffUgWRBg8eLBUuJfDzlIdx7XelvFQ3/90QFgMCAgI/zIkTJ8q8dvv2bWzYsAGFhYX48uULsz5oaGjg4cOHqFmzptRiICQkBB07dkRKSgozbcku2dcTB/r/XtwSC0gWqKio4OnTp8yK/3yL0nYHi78HLF93UlISOnXqBCLC8+fP0ahRIzx//hy6urq4du1aqVaQ/3Xy8vJQp04dnD59WqoQE2t+10lxeRjXJHz48AEAoKury1yrOEFBQQgKCsK7d+9QWFgodW337t3MdPkMf3RxcUHr1q0xfPhwqfZPnz5h8uTJTF833wh1BgQEBH6YHj16lGh79uwZPD09cerUKQwePBiLFi1i2gc+K/FeuXKF6fN/i3r16iEuLo6XxcDHjx+l7ufl5SE0NBTz5s1jnlBqaGiI8PBwHDhwgDvKd3V1/aV3yBUVFeUy8fya0hJYJRSfFP9q8D2upaWlYc6cOThw4AD3XdPR0cGAAQOwZMkSaGtrM9MGAC8vLyxatAiNGjVC9erV5VqFl8/q5n5+fjhw4AAePHgAb29vbtMjOzsb/v7+v/RiQLAWFRAQkAmvXr2iUaNGkaKiInXr1q1UazoW8GlFxyd82nuWxdWrV8nOzo7Z8+fm5pKZmRlFRkYy0yivLF26lIYPH055eXm89iMqKoqcnZ1JQUGBhg0bxlkx/qrIe1xLSUmhWrVqkZqaGo0ZM4bWrVtH69ato9GjR5OamhrVqVOHUlNTmfahWrVqFBAQwFSjNPLz8yk4OJj56ysLkUhEV65cIXNzc3J0dOT68ebNG+ZW0XwjhAkJCAj8FOnp6Vi2bBk2btyIBg0aYMWKFWjVqpXc+7Bp0yappC9WlXgjIiJQr149iMViREREfPOx9evXl7m+hOKhOsV3zEgOIUplERUVhUaNGjHN0zAwMMClS5fkGi5THpBYp6qrq8Pa2rpE+MTRo0eZ6r9+/RoLFiyAv78/OnbsiL/++gv16tVjqsknfI1rkydPRlDQ/2vvzoOiutL3gT8NCmJEFhE0gNiIowJjxBgNasWgLNE4hKBT4yRxLTUaVBQ1LuiYr4lGiYqiUMEal5gZHTPGbUYLlEYSRQkqKiGi0iwixnYDJDiICPf3hyU/O4CJLbcPffv5VFFl39vleZJK6H7vOec9GqSkpDRoJavT6RAcHIxhw4YhNjZWtgwdOnRAZmam7K08GyN6+aNOp4OlpSVGjRqF69ev4+DBg3B0dMTLL78s5HeqsXCZEBEZLCYmBqtXr0anTp2wa9euRqfX5fR0K7ro6GijjNmnTx/odDo4OzujT58+UKlUjZ5pIPcXcpFLlH5dBEmShBs3bmDVqlXo06ePrGNHRERg9erV+Pvf/45WrcznI8ze3h6jRo0y+ri//lKs0WiMXuwbm8jfa/v370diYmKjZ0p06tQJMTExmDZtmqzFwOTJk7Fz504sXbpUtjGaInL545OHKh06dEBKSgqmTZsGf39/fPHFF0bPYmycGSAig1lYWMDGxgaBgYGwtLRs8n1yPrU0diu6q1evokuXLlCpVLh69eoz3+vh4WGUTMb2ZGPprz8+Xn/9dWzdulXWcxdEPyE3J09/KV65cqXRi31RRP5es7a2Rn5+Ptzc3Bq9X1JSAi8vL1n3kERGRmLHjh3o3bs3evfu3aBLmpybeJOSkrBo0SJ8+umnjW4glqtDG/D/ZwaebkKwbt06LFiwAHV1dZwZICJqzLhx44y6uawxT07iNVYruqe/4Iv8si+yvWdhYaHeawsLC3Ts2LH+MCw5iXpCLkpdXR2++OILHDx4EA8fPsSwYcOwbNkyo2yWXrhwIWxsbODl5YWvvvoKX331VaPvU1oBJvL3mpOTE4qKiposBgoLC+Ho6Chrhuzs7PoZvpycHL17cv97GTFiBIDHJzAbe/njsWPHGvy7jYqKQu/evZGeni7buC0BZwaIyKSJbEUnksj2nmQ8n376KT755BMEBgbCxsYGycnJ+Otf/2qUziYTJkz4XV/+lHy2g7FNmjQJ+fn5OHr0KKysrPTuVVdXIyQkBJ6enortbCPydHNzxmKAiEyauZ7Ee+/ePb3Xv27vOWzYsGYfMzU1FTNmzEBGRkaD6fp79+5h4MCB+PLLL2VZUy7yCblI3bt3x7x58/Dhhx8CAFJSUvD222+jqqpK9tNgyfhKSkrQr18/WFtbIyIiAj179oQkScjNzUVCQgKqq6tx5swZuLu7i46qCFFRUfj000/x0ksvISoq6pnvVeqDJYDFABGZMNEn8bZE3333HaKionD27Nlm/7tDQ0MREBCAOXPmNHo/Li4Ox44de2Z/ekOJfEIukrW1NbRard6XvzZt2kCr1Ta5lIRMW2FhIT766CMcOXKkfl+OSqVCUFAQNm3aBC8vr2YfMzw8HNu3b0f79u0RHh7+zPfKuSzM2MsfAwICsG/fPtjb25vtgyWAxQARmTiRrehaIjnbe3p4eCApKanJtp6XLl1CcHAwiouLm31sc31CbmlpCZ1Oh44dO9Zfs7W1RXZ2Nv+bV7iysjLk5eUBALy8vGTdKzBx4kTExcXB1tb2N5eHybksjMsfxWAxQEQmrV+/fli9erUsy2J+y7Vr16BSqeqf0GZmZmLnzp3w9vbG1KlTZR37We09Hz16hBMnTjT7mG3atEFOTk6TTya1Wi3++Mc/oqqqqtnHNtcn5BYWFhg+fDisra3rr/3nP//B0KFD9fbHKG0TL5knEcsfid2EiMjEffbZZ5g3b56QVnTvvfcepk6dirFjx0Kn0yEoKAg+Pj745z//CZ1Oh7/97W+yjd3UGQdP2nvKwdXV9ZnFQHZ2tiwHvQHAo0ePGnQrat26NWpqamQZr6UYP358g2sffPCBgCRkLoYOHYq9e/fC3t5e73pFRQXCwsJkXS5jZ2fX4FpQUBCsrKxkWf74W0uinqbkgpszA0Rk0kSexOvg4ICMjAz06NEDcXFx2L17N9LT03HkyBFMmzYNBQUFso396zMOjNHec+bMmUhLS8Pp06cbjFNVVYX+/fsjICAAcXFxzT42n5ATGUdj/fYB4NatW3B1dRVSgMu1/HHixIm/+71K7prFmQEiMmkiT+Ktqamp/3KakpKC0NBQAEDPnj1x48YNWccWccbBkiVLsHfvXvzhD3/AjBkz0KNHDwCPP6jj4+NRW1sr20nQfEJOJK+nlx5evHgROp2u/nVtbS2SkpLg6upqtAyA/KebK/kL/vPgzAARkYEGDBiAgIAAvP322wgODkZGRgZeeeUVZGRkYPTo0SgpKWn2MUW29wQez0hMnz4dycnJep1OQkJCEB8fz02tRCbqycniABosPwQAGxsbbNy4EZMmTZI9g4jTzc0ZiwEiMmkiT+JNS0vDu+++i4qKCowfP75+rf7ixYtx6dIlWZasiGzv+bSysjJotVpIkoTu3buztSuRibt69SokSYKnpycyMzP1OlhZWVnB2dkZlpaWsmd4mjFPNweAPXv24JtvvkFxcTEePnyody8rK8soGURgMUBEJk10K7ra2lpUVFTofRkuKipC27ZtG6y5bQ4i23sSESlVXFwcoqOjMWHCBGzevBkTJ05Efn4+Tp8+jYiICKxYsUJ0RNkotzkzEZmFsrIyvZ9bt24hKSkJr732Go4cOSL7+JaWlg2einft2lWWQgAAbt68idatWzd5v1WrVrh9+7YsYxOR+bh48SKSkpJw8OBBvR85pKamwtvbGxUVFQ3u3bt3Dz4+Pjh+/LgsYz+RkJCAzZs3Y+PGjbCyssLHH3+Mo0ePYtasWQ1anioNNxATkUkzdiu6p6nV6mceziNHNyGR7T1JnKa+hKlUKrRp0wZeXl7cr0HNoqCgAO+++y5+/PFHvfX7T37XyTHbun79ekyZMqXRVtB2dnb48MMPsW7dOtn2QgFAcXExBg4cCODx/ohffvkFADB27Fi8/vrr2LRpk2xji8ZigIgUycXFBZcvX5Z1jNmzZ+u9fnJATlJSEubPny/LmCNGjMDSpUvx1ltvNdrec9myZRg5cqQsY5M4YWFhjW6sfHJNpVJh8ODB2L9/P/dv0AuJjIyEWq2GRqOBWq1GZmYm7t69i7lz52LNmjWyjHnhwgWsXr26yfvBwcGyjf1Ep06dUFpaCg8PD3Tp0qW+IURhYWGjG6qVhHsGiMikiTiJ97fEx8fjzJkzsrStu3nzJvr27QtLS8sm23tmZWXBxcWl2ccmcTQaDaKjo7FixQr0798fwOMTr5cuXYolS5bUPz0dMGAAtmzZIjgtmTInJyekpqaid+/esLOzQ2ZmJnr06IHU1FTMnTsX586da/YxRZ5u/sTkyZPh7u6OZcuWIT4+HvPnz8egQYNw5swZhIeHK/v/K4mIyISpVCrJwsJCUqlUej/+/v5Sbm6ukEz5+fmSra2tbH9/UVGRNHz4cL1/bgsLC2n48OFSQUGBbOOSOD4+PlJ6enqD6ydOnJC8vb0lSZKko0ePSu7u7saORgpjb29f/3vE09NTSk1NlSRJkrRarWRjYyPLmJ6entK+ffuavP/tt99KarValrGfqK2tlWpqaupf79q1S5o5c6YUFxcnVVdXyzq2aFwmREQmrbCwUO+1sVvRNWbPnj1wdHSU7e/38PDA4cOH2d7TjOTn5ze6nrp9+/b1e1O6d++OO3fuGDsaKYyvry8uXLgAtVqNAQMGICYmBlZWVti8eTM8PT1lGbMlLH+0sLDQ6043ZswYjBkzRtYxWwouEyIiMpCfn5/eBmJJkqDT6XD79m0kJCRg6tSpAtORkgwePBi2trbYsWNHff/327dvY9y4cbh//z6+//57pKSkICIiQva9MqRsycnJuH//PsLDw6HVajFy5EhcuXIFHTp0wO7duzF06NBmH7OlLH88fvw4EhMTkZ+fjz179sDV1RVff/011Go1Bg8eLOvYInFmgIhMkuiTeIHHmzqf9mRW4s033+RJmdSstmzZgnfeeQdubm5wd3cHAFy7dg2enp44cOAAAKCyshJLliwRGZMUICQkpP7PXl5euHTpEkpLS+Hg4PDM7mkvwsXFBSdPnsT06dOxaNGiRk83l7sQ+PbbbzF27Fi8//77OHfuHKqrqwE8/jxZuXIlDh8+LOv4InFmgIhMUks5iZfIWOrq6nDkyBFcuXIFANCjRw8EBQU1evAekSFqampgY2OD8+fPw9fXV0gGUcsf/fz8MGfOHIwbNw62tra4cOECPD09ce7cOQwfPhw6nc4oOURgMUBEJqmlnMRbW1uL/fv3Izc3FwDg4+OD0NBQWFpayjouEZEcPD09sW/fPrzyyiuioxhV27ZtcfHiRXTt2lWvGCgoKIC3tzcePHggOqJsuEyIiExSSziJV6vVYsSIEbh+/Xr9GtfPP/8c7u7uOHToELp16ybr+GReNBoNNBoNbt26hbq6Or17W7duFZSKlCY6OhqLFy/G119/LWsjhJamU6dO0Gq16Nq1q971EydOyLZxuqVgMUBEJqklnMQ7a9YsdOvWDRkZGfUfmnfv3sUHH3yAWbNm4dChQ7KOT+bj//7v/7B8+XL069cPnTt3lm3tNtGmTZug1Wrx8ssvw8PDAy+99JLe/aysLEHJ5DVlyhRERkZi69atUKlU+Pnnn3Hq1CnMmzcPS5cuFR1PViwGiMgktYRWdN99951eIQAAHTp0wKpVqzBo0CBZxybz8uWXX2L79u0YO3as6CikcL9ujGAuFi5ciLq6OgwbNgz/+9//8MYbb8Da2hrz5s3DzJkzRceTFfcMEJFJagmt6BwdHfHf//4XAwcO1Luenp6OP/3pTygtLZVtbDIvHTp0QGZmJpeeEcns4cOH0Gq1qKyshLe3N9q1a4eqqirY2NiIjiYbFgNEZLKuXr2K6dOnIzk5udFWdGq1Wtbxx40bh6ysLGzZsgX9+/cHAPzwww+YMmUKXn31VWzfvl3W8cl8LFiwAO3atVP8cgVqGcrLy7Fnzx7k5+dj/vz5cHR0rH+44urqKjqe0VRXVyM+Ph4xMTGK7ibEZUJEZLJEn8QbFxeH8ePHw9/fv34z86NHjxAaGooNGzYYJQOZhwcPHmDz5s1ISUlB7969G2yeX7dunaBkpDTZ2dkIDAyEnZ0dioqKMGXKFDg6OmLv3r0oLi7Gjh07REdsVtXV1fjkk09w9OhRWFlZ4eOPP0ZYWBi2bduG6OhoWFpaNtnCWik4M0BE9ILy8vJw6dIlAECvXr2a3NRMZKiAgIAm76lUKqSmphoxDSlZYGAg+vbti5iYGL0WmydPnsR7772HoqIi0RGb1YIFC5CYmIjAwECcPHkSt2/fxsSJE5GRkYHFixfjz3/+s+JbRXNmgIjoBXXv3h3du3cXHYMU7NixY6IjkJk4ffo0EhMTG1x3dXVV5FKZf//739ixYwdCQ0ORk5OD3r1749GjR7hw4YLZdO1iMUBEZKBJkyY98z57vxORqbG2tkZFRUWD61euXEHHjh0FJJJXSUkJXn31VQCAr68vrK2tMWfOHLMpBAAWA0REBisrK9N7XVNTg5ycHJSXl2Po0KGCUpFShIeHY/v27Wjfvj3Cw8Of+d69e/caKRUpXWhoKJYvX45vvvkGwONlaMXFxViwYAFGjRolOF3zq62thZWVVf3rVq1aoV27dgITGR+LASIiA+3bt6/Btbq6OkyfPp0tIOmF2dnZ1T+dbN++vVk9qSRx1q5di9GjR8PZ2RlVVVUYMmQIdDod/P39sWLFCtHxmp0kSZgwYQKsra0BPN6sP23atAaHrSm54OYGYiKiZnb58mW8+eabuHHjhugoREQGOXHiBLKzs1FZWYm+ffsiMDBQdCRZTJw48Xe9b9u2bTInEYfFABFRMzt8+DDGjx+P27dvi45CCjF06FDs3bsX9vb2etcrKioQFhbGbkJEZDAuEyIiMlBUVJTea0mScOPGDRw6dAjjx48XlIqUKC0tDQ8fPmxw/cGDBzh+/LiARKRkGo0GsbGxyM3NBfC4ZfLs2bMVOztg7lgMEBEZ6Ny5c3qvLSws0LFjR6xdu/Y3Ow0R/R7Z2dn1f7548aJea8fa2lokJSWZ1YmwJL+EhARERkZi9OjRiIyMBABkZGRgxIgRiI2NRUREhOCE1Ny4TIiIiKiFsrCwqN843NjHtY2NDTZu3Mjik5qNm5sbFi5ciBkzZuhdj4+Px8qVK3H9+nVByUguLAaIiIhaqKtXr0KSJHh6eiIzM1Ovz7uVlRWcnZ0VfzoqGVe7du1w/vz5Biep5+Xlwc/PD5WVlYKSkVy4TIiIyEA3b97EvHnzoNFocOvWrQZPbmtrawUlI6Xw8PAA8LhlLZExhIaGYt++fZg/f77e9QMHDmDkyJGCUpGcWAwQERlowoQJKC4uxtKlS9G5c2f2gSfZXbx4EcXFxQ02E4eGhgpKRErj7e2NFStWIC0tDf7+/gAe7xlIT0/H3LlzERcXV//eWbNmiYpJzYjLhIiIDGRra4vjx4+jT58+oqOQwhUUFODdd9/Fjz/+CJVKVT8L9aQA5SwUNRe1Wv273qdSqVBQUCBzGjIGzgwQERnI3d290U2dRM0tMjISarUaGo0GarUamZmZuHv3LubOnYs1a9aIjkcKUlhYKDoCGZmF6ABERKZq/fr1WLhwIYqKikRHIYU7deoUli9fDicnJ1hYWMDCwgKDBw/G559/zqUaJIs7d+7gzp07omOQEbAYICIy0F/+8hekpaWhW7dusLW1haOjo94PUXOpra2Fra0tAMDJyQk///wzgMcbjC9fviwyGilIeXk5IiIi4OTkBBcXF7i4uMDJyQkzZsxAeXm56HgkEy4TIiIy0Pr160VHIDPh6+uLCxcuQK1WY8CAAYiJiYGVlRU2b94MT09P0fFIAUpLS+Hv74/r16/j/fffR69evQA83rS+fft2aDQanDx5Eg4ODoKTUnPjBmIiIqIWLjk5Gffv30d4eDi0Wi1GjhyJK1euoEOHDti9ezeGDh0qOiKZuNmzZ0Oj0SAlJQUuLi5693Q6HYKDgzFs2DDExsYKSkhyYTFARPQcKioq0L59+/o/P8uT9xHJobS0FA4ODmxpS82ia9euSExMREhISKP3k5KSMG3aNO6RUiAWA0REz8HS0hI3btyAs7MzLCwsGv0iJkkSVCoV2z1Ss6ipqYGNjQ3Onz8PX19f0XFIoaytrZGfnw83N7dG75eUlMDLywsPHjwwcjKSG/cMEBE9h9TU1PrNwceOHROchsxB69at0aVLFxaXJCsnJycUFRU1WQwUFhayMYJCcWaAiMhAxcXFcHd3bzA7IEkSrl27hi5dughKRkqzZcsW7N27F19//TW/kJEsJk2ahPz8fBw9ehRWVlZ696qrqxESEgJPT09s3bpVUEKSC4sBIiIDPb1k6Gl3796Fs7Mzn+RSs/Hz84NWq0VNTQ08PDzw0ksv6d3PysoSlIyUoqSkBP369YO1tTUiIiLQs2dPSJKE3NxcJCQkoLq6GmfOnIG7u7voqNTMuEyIiMhAT/YG/FplZSXatGkjIBEpVVhYmOgIpHBubm44deoUPvroIyxatKj+dHWVSoWgoCBs2rSJhYBCcWaAiOg5RUVFAQA2bNiAKVOmoG3btvX3amtr8cMPP8DS0hLp6emiIhIRGaysrAx5eXkAAC8vLy5NUzjODBARPadz584BeDwz8OOPP+qtr7WyssIrr7yCefPmiYpHClVeXo49e/YgPz8f8+fPh6OjI7KysuDi4gJXV1fR8UhBHBwc0L9/f9ExyEg4M0BEZKCJEydiw4YNPE+AZJednY3AwEDY2dmhqKgIly9fhqenJ5YsWYLi4mLs2LFDdEQiMlEWogMQEZmqbdu2sRAgo4iKisKECROQl5entx9lxIgR+P777wUmIyJTx2VCREQGun//PlatWgWNRoNbt26hrq5O735BQYGgZKQ0p0+fRmJiYoPrrq6u0Ol0AhIRkVKwGCAiMtDkyZPx3XffYezYsejcuXOjnYWImoO1tTUqKioaXL9y5Qo6duwoIBERKQX3DBARGcje3h6HDh3CoEGDREchhZs8eTLu3r2Lb775Bo6OjsjOzoalpSXCwsLwxhtvYP369aIjEpGJ4p4BIiIDOTg4sOUeGcXatWtRWVkJZ2dnVFVVYciQIfDy8oKtrS1WrFghOh4RmTDODBARGegf//gHDhw4gK+++krvrAEiuZw4cQLZ2dmorKxE3759ERgYKDoSEZk4FgNERAby8/NDfn4+JElC165d0bp1a737WVlZgpIRERH9PtxATERkoLCwMNERyIxoNBrExsYiNzcXANCrVy/Mnj2bswNE9EI4M0BERNTCJSQkIDIyEqNHj4a/vz8AICMjA3v27EFsbCwiIiIEJyQiU8VigIjoBZ09e7b+aa2Pjw/8/PwEJyKlcXNzw8KFCzFjxgy96/Hx8Vi5ciWuX78uKBkRmToWA0REBrp16xbGjBmDtLQ02NvbAwDKy8sREBCAf/3rX+z/Ts2mXbt2OH/+PLy8vPSu5+Xlwc/PD5WVlYKSEZGpY2tRIiIDzZw5E7/88gt++uknlJaWorS0FDk5OaioqMCsWbNExyMFCQ0Nxb59+xpcP3DgAEaOHCkgEREpBWcGiIgMZGdnh5SUFLz22mt61zMzMxEcHIzy8nIxwUhxPvvsM6xZswaDBg3S2zOQnp6OuXPnon379vXvZSFKRM+DxQARkYFsbW1x/Phx9OnTR+/6uXPnMGTIEFRUVIgJRoqjVqt/1/tUKhUKCgpkTkNESsJigIjIQO+88w7Ky8uxa9cuvPzyywCA69ev4/3334eDg0OjyzqIiIhaEhYDREQGunbtGkJDQ/HTTz/B3d29/pqvry8OHjwINzc3wQlJae7cuQMAcHJyEpyEiJSCxQAR0QuQJAkpKSm4dOkSgMcHQfEQKGpO5eXliI6Oxu7du1FWVgYAcHBwwJgxY/DZZ5/Vd7IiIjIEiwEiIqIWqrS0FP7+/vXLz3r16gUAuHjxInbu3Al3d3ecPHkSDg4OgpMSkalia1EioueUmpoKb2/vRjcI37t3Dz4+Pjh+/LiAZKQ0y5cvh5WVFfLz85GYmIjZs2dj9uzZ2Lx5M7RaLVq3bo3ly5eLjklEJozFABHRc1q/fj2mTJmi187xCTs7O3z44YdYt26dgGSkNPv378eaNWvg4uLS4F6nTp0QExPDjepE9EJYDBARPacLFy7grbfeavJ+cHAwzp49a8REpFQ3btyAj49Pk/d9fX2h0+mMmIiIlIbFABHRc7p58yZat27d5P1WrVrh9u3bRkxESuXk5ISioqIm7xcWFsLR0dF4gYhIcVgMEBE9J1dXV+Tk5DR5Pzs7G507dzZiIlKqkJAQREdH4+HDhw3uVVdXY+nSpc+cpSIi+i3sJkRE9JxmzpyJtLQ0nD59Gm3atNG7V1VVhf79+yMgIABxcXGCEpJSlJSUoF+/frC2tkZERAR69uwJSZKQm5uLhIQEVFdX48yZM/XnXBARPS8WA0REz+nmzZvo27cvLC0tMWPGDPTo0QMAcOnSJcTHx6O2thZZWVmNbvokel6FhYX46KOPcOTIETz5yFapVAgKCsKmTZvg5eUlOCERmTIWA0REBrh69SqmT5+O5ORkvS9oISEhiI+Ph1qtFpyQlKasrAx5eXkAAC8vL+4VIKJmwWKAiOgFlJWVQavVQpIkdO/enYc/ERGRSWExQERERERkpthNiIiIiIjITLEYICIiIiIyUywGiIiIiIjMFIsBIiIiIiIzxWKAiIiIiMhMsRggIiIiIjJTLAaIiIiIiMwUiwEiIiIiIjP1/wDufbIdwLeAH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914" y="2147013"/>
            <a:ext cx="5203319" cy="44628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2566" y="5390049"/>
            <a:ext cx="4810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→ </a:t>
            </a:r>
            <a:r>
              <a:rPr lang="ko-KR" altLang="en-US" sz="1500" dirty="0"/>
              <a:t>데이터 </a:t>
            </a:r>
            <a:r>
              <a:rPr lang="ko-KR" altLang="en-US" sz="1500" dirty="0" err="1"/>
              <a:t>분균형과</a:t>
            </a:r>
            <a:r>
              <a:rPr lang="ko-KR" altLang="en-US" sz="1500" dirty="0"/>
              <a:t> 다중공선성을 해결하는 것이 중요</a:t>
            </a:r>
            <a:r>
              <a:rPr lang="en-US" altLang="ko-KR" sz="1500" dirty="0"/>
              <a:t>!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215535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D3A16-8A73-F293-FCC6-A361510D8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BF5B6F4-C2AA-0A2D-68E9-0D823341E365}"/>
              </a:ext>
            </a:extLst>
          </p:cNvPr>
          <p:cNvSpPr/>
          <p:nvPr/>
        </p:nvSpPr>
        <p:spPr>
          <a:xfrm>
            <a:off x="4278835" y="1007125"/>
            <a:ext cx="36343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데이터 </a:t>
            </a:r>
            <a:r>
              <a:rPr lang="ko-KR" altLang="en-US" sz="4400" b="1" spc="-150" dirty="0" err="1">
                <a:solidFill>
                  <a:srgbClr val="37654A"/>
                </a:solidFill>
                <a:latin typeface="+mn-ea"/>
              </a:rPr>
              <a:t>전처리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C24D04-CB4A-4EA0-73CE-247AC62CC99B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3.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E411F591-3140-74F2-0AF5-220995D4AF2B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3B193EC-61F5-54D6-E1A4-21054EC587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2FF6030-7FD4-BEEA-B8A2-38C6963138B7}"/>
              </a:ext>
            </a:extLst>
          </p:cNvPr>
          <p:cNvSpPr/>
          <p:nvPr/>
        </p:nvSpPr>
        <p:spPr>
          <a:xfrm>
            <a:off x="3829995" y="3012845"/>
            <a:ext cx="530915" cy="851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ko-KR" altLang="en-US" sz="2400" spc="-150" dirty="0"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19586" y="1933485"/>
            <a:ext cx="3552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다중공선성</a:t>
            </a:r>
            <a:r>
              <a:rPr lang="ko-KR" altLang="en-US" dirty="0"/>
              <a:t> 해결을 위한 전처리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6095998" y="2590800"/>
            <a:ext cx="0" cy="388620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43050" y="2735846"/>
            <a:ext cx="3048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상관계수가 </a:t>
            </a:r>
            <a:r>
              <a:rPr lang="en-US" altLang="ko-KR" sz="1500" dirty="0"/>
              <a:t>0.9</a:t>
            </a:r>
            <a:r>
              <a:rPr lang="ko-KR" altLang="en-US" sz="1500" dirty="0"/>
              <a:t>이상인 컬럼 제거</a:t>
            </a:r>
            <a:endParaRPr lang="en-US" altLang="ko-KR" sz="1500" dirty="0"/>
          </a:p>
          <a:p>
            <a:r>
              <a:rPr lang="en-US" altLang="ko-KR" sz="1500" dirty="0"/>
              <a:t>VIF </a:t>
            </a:r>
            <a:r>
              <a:rPr lang="ko-KR" altLang="en-US" sz="1500" dirty="0"/>
              <a:t>계산 후 </a:t>
            </a:r>
            <a:r>
              <a:rPr lang="en-US" altLang="ko-KR" sz="1500" dirty="0"/>
              <a:t>10</a:t>
            </a:r>
            <a:r>
              <a:rPr lang="ko-KR" altLang="en-US" sz="1500" dirty="0"/>
              <a:t>이상인 컬럼 제거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91" y="3591227"/>
            <a:ext cx="2805718" cy="21237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68520" y="2851262"/>
            <a:ext cx="375190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Standard Scaler</a:t>
            </a:r>
            <a:r>
              <a:rPr lang="ko-KR" altLang="en-US" sz="1500" dirty="0"/>
              <a:t>로 스케일링 후 </a:t>
            </a:r>
            <a:r>
              <a:rPr lang="en-US" altLang="ko-KR" sz="1500" dirty="0"/>
              <a:t>PCA </a:t>
            </a:r>
            <a:r>
              <a:rPr lang="ko-KR" altLang="en-US" sz="1500" dirty="0"/>
              <a:t>적용</a:t>
            </a:r>
            <a:endParaRPr lang="en-US" altLang="ko-KR" sz="1500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7050" y="3591227"/>
            <a:ext cx="2857498" cy="21382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5784644"/>
            <a:ext cx="1562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상관계수를 통한 전처리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098" y="5784644"/>
            <a:ext cx="12754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VIF</a:t>
            </a:r>
            <a:r>
              <a:rPr lang="ko-KR" altLang="en-US" sz="1000" dirty="0"/>
              <a:t>를 통한 전처리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259" y="3834808"/>
            <a:ext cx="2224933" cy="869115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259" y="5138054"/>
            <a:ext cx="3343742" cy="3715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79462" y="4259621"/>
            <a:ext cx="26812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→ </a:t>
            </a:r>
            <a:r>
              <a:rPr lang="en-US" altLang="ko-KR" sz="1500" dirty="0"/>
              <a:t>PCA</a:t>
            </a:r>
            <a:r>
              <a:rPr lang="ko-KR" altLang="en-US" sz="1500" dirty="0"/>
              <a:t>는 설명력 </a:t>
            </a:r>
            <a:r>
              <a:rPr lang="en-US" altLang="ko-KR" sz="1500" dirty="0"/>
              <a:t>95%</a:t>
            </a:r>
            <a:r>
              <a:rPr lang="ko-KR" altLang="en-US" sz="1500" dirty="0"/>
              <a:t>유지</a:t>
            </a:r>
          </a:p>
        </p:txBody>
      </p:sp>
    </p:spTree>
    <p:extLst>
      <p:ext uri="{BB962C8B-B14F-4D97-AF65-F5344CB8AC3E}">
        <p14:creationId xmlns:p14="http://schemas.microsoft.com/office/powerpoint/2010/main" val="3072658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D3A16-8A73-F293-FCC6-A361510D8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BF5B6F4-C2AA-0A2D-68E9-0D823341E365}"/>
              </a:ext>
            </a:extLst>
          </p:cNvPr>
          <p:cNvSpPr/>
          <p:nvPr/>
        </p:nvSpPr>
        <p:spPr>
          <a:xfrm>
            <a:off x="4278835" y="1007125"/>
            <a:ext cx="36343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-150" normalizeH="0" baseline="0" noProof="0" dirty="0">
                <a:ln>
                  <a:noFill/>
                </a:ln>
                <a:solidFill>
                  <a:srgbClr val="37654A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 </a:t>
            </a:r>
            <a:r>
              <a:rPr kumimoji="0" lang="ko-KR" altLang="en-US" sz="4400" b="1" i="0" u="none" strike="noStrike" kern="1200" cap="none" spc="-150" normalizeH="0" baseline="0" noProof="0" dirty="0" err="1">
                <a:ln>
                  <a:noFill/>
                </a:ln>
                <a:solidFill>
                  <a:srgbClr val="37654A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전처리</a:t>
            </a:r>
            <a:endParaRPr kumimoji="0" lang="en-US" altLang="ko-KR" sz="4400" b="1" i="0" u="none" strike="noStrike" kern="1200" cap="none" spc="-150" normalizeH="0" baseline="0" noProof="0" dirty="0">
              <a:ln>
                <a:noFill/>
              </a:ln>
              <a:solidFill>
                <a:srgbClr val="37654A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C24D04-CB4A-4EA0-73CE-247AC62CC99B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3.</a:t>
            </a:r>
            <a:r>
              <a:rPr kumimoji="0" lang="ko-KR" altLang="en-US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Track</a:t>
            </a:r>
            <a:endParaRPr kumimoji="0" lang="ko-KR" altLang="en-US" sz="1400" b="1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E411F591-3140-74F2-0AF5-220995D4AF2B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3B193EC-61F5-54D6-E1A4-21054EC587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2FF6030-7FD4-BEEA-B8A2-38C6963138B7}"/>
              </a:ext>
            </a:extLst>
          </p:cNvPr>
          <p:cNvSpPr/>
          <p:nvPr/>
        </p:nvSpPr>
        <p:spPr>
          <a:xfrm>
            <a:off x="3829995" y="3012845"/>
            <a:ext cx="530915" cy="851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2400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19586" y="1933485"/>
            <a:ext cx="3719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데이터 불균형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해결을 위한 전처리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6095998" y="2590800"/>
            <a:ext cx="0" cy="388620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97185" y="2985098"/>
            <a:ext cx="472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일부 모델에서 데이터 불균형 문제를 해소하기 위해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SMOTE</a:t>
            </a:r>
            <a:r>
              <a:rPr lang="ko-KR" altLang="en-US" sz="1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사용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44826" y="2985392"/>
            <a:ext cx="375190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추가적으로 </a:t>
            </a:r>
            <a:r>
              <a:rPr lang="ko-KR" altLang="en-US" sz="1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특성 값이 하나인 컬럼 제거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143" y="4076002"/>
            <a:ext cx="2314898" cy="72400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7079" y="3438827"/>
            <a:ext cx="2981763" cy="296959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67992" y="4003504"/>
            <a:ext cx="3982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train, </a:t>
            </a:r>
            <a:r>
              <a:rPr lang="en-US" altLang="ko-KR" dirty="0" err="1"/>
              <a:t>val</a:t>
            </a:r>
            <a:r>
              <a:rPr lang="en-US" altLang="ko-KR" dirty="0"/>
              <a:t>, test </a:t>
            </a:r>
            <a:r>
              <a:rPr lang="ko-KR" altLang="en-US" dirty="0"/>
              <a:t>데이터셋으로 분할 후</a:t>
            </a:r>
            <a:endParaRPr lang="en-US" altLang="ko-KR" dirty="0"/>
          </a:p>
          <a:p>
            <a:pPr algn="ctr"/>
            <a:r>
              <a:rPr lang="en-US" altLang="ko-KR" dirty="0"/>
              <a:t>Train</a:t>
            </a:r>
            <a:r>
              <a:rPr lang="ko-KR" altLang="en-US" dirty="0"/>
              <a:t>셋에 </a:t>
            </a:r>
            <a:r>
              <a:rPr lang="en-US" altLang="ko-KR" dirty="0"/>
              <a:t>SMOTE</a:t>
            </a:r>
            <a:r>
              <a:rPr lang="ko-KR" altLang="en-US" dirty="0"/>
              <a:t>기법 사용</a:t>
            </a:r>
            <a:endParaRPr lang="en-US" altLang="ko-KR" dirty="0"/>
          </a:p>
        </p:txBody>
      </p:sp>
      <p:sp>
        <p:nvSpPr>
          <p:cNvPr id="22" name="오른쪽 화살표 21"/>
          <p:cNvSpPr/>
          <p:nvPr/>
        </p:nvSpPr>
        <p:spPr>
          <a:xfrm>
            <a:off x="681783" y="4165392"/>
            <a:ext cx="490538" cy="1612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212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55E2D-0F77-44A7-24C5-69BB6707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C779CE3-1432-E6DB-9370-45404A364C44}"/>
              </a:ext>
            </a:extLst>
          </p:cNvPr>
          <p:cNvSpPr/>
          <p:nvPr/>
        </p:nvSpPr>
        <p:spPr>
          <a:xfrm>
            <a:off x="4823863" y="1454800"/>
            <a:ext cx="25442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모델 선정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CBC7F-153B-4AC3-6AA3-C0ACA70D3E99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4.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773ACD98-263A-49DA-6188-D6364A8FB4B1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6797B64-18F9-736A-7F79-A489EE6792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C0737E-FC98-CBF0-2CF2-DC7D643C06C0}"/>
              </a:ext>
            </a:extLst>
          </p:cNvPr>
          <p:cNvSpPr/>
          <p:nvPr/>
        </p:nvSpPr>
        <p:spPr>
          <a:xfrm>
            <a:off x="4466923" y="1904476"/>
            <a:ext cx="343921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2400" spc="-150" dirty="0">
                <a:latin typeface="+mn-ea"/>
              </a:rPr>
              <a:t>최종 모델 </a:t>
            </a:r>
            <a:r>
              <a:rPr lang="en-US" altLang="ko-KR" sz="2400" spc="-150" dirty="0">
                <a:latin typeface="+mn-ea"/>
              </a:rPr>
              <a:t>: </a:t>
            </a:r>
            <a:r>
              <a:rPr lang="en-US" altLang="ko-KR" sz="2400" spc="-150" dirty="0" err="1">
                <a:latin typeface="+mn-ea"/>
              </a:rPr>
              <a:t>RandomForest</a:t>
            </a:r>
            <a:endParaRPr lang="ko-KR" altLang="en-US" sz="2400" spc="-150" dirty="0"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67100" y="2920139"/>
            <a:ext cx="5762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다양한 모델을 사용해 점진적으로 성능을 향상시키자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!</a:t>
            </a:r>
            <a:endParaRPr lang="ko-KR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608266" y="4305134"/>
            <a:ext cx="10975467" cy="1152692"/>
            <a:chOff x="692277" y="4448007"/>
            <a:chExt cx="10975467" cy="1152692"/>
          </a:xfrm>
        </p:grpSpPr>
        <p:sp>
          <p:nvSpPr>
            <p:cNvPr id="4" name="오른쪽 화살표 설명선 3"/>
            <p:cNvSpPr/>
            <p:nvPr/>
          </p:nvSpPr>
          <p:spPr>
            <a:xfrm>
              <a:off x="3467100" y="4448008"/>
              <a:ext cx="2650998" cy="1152691"/>
            </a:xfrm>
            <a:prstGeom prst="rightArrowCallout">
              <a:avLst>
                <a:gd name="adj1" fmla="val 20238"/>
                <a:gd name="adj2" fmla="val 22619"/>
                <a:gd name="adj3" fmla="val 25000"/>
                <a:gd name="adj4" fmla="val 77233"/>
              </a:avLst>
            </a:prstGeom>
            <a:noFill/>
            <a:ln w="9525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오른쪽 화살표 설명선 14"/>
            <p:cNvSpPr/>
            <p:nvPr/>
          </p:nvSpPr>
          <p:spPr>
            <a:xfrm>
              <a:off x="692277" y="4448008"/>
              <a:ext cx="2650998" cy="1152691"/>
            </a:xfrm>
            <a:prstGeom prst="rightArrowCallout">
              <a:avLst>
                <a:gd name="adj1" fmla="val 20238"/>
                <a:gd name="adj2" fmla="val 22619"/>
                <a:gd name="adj3" fmla="val 25000"/>
                <a:gd name="adj4" fmla="val 77233"/>
              </a:avLst>
            </a:prstGeom>
            <a:noFill/>
            <a:ln w="9525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오른쪽 화살표 설명선 15"/>
            <p:cNvSpPr/>
            <p:nvPr/>
          </p:nvSpPr>
          <p:spPr>
            <a:xfrm>
              <a:off x="6241923" y="4448008"/>
              <a:ext cx="2650998" cy="1152691"/>
            </a:xfrm>
            <a:prstGeom prst="rightArrowCallout">
              <a:avLst>
                <a:gd name="adj1" fmla="val 20238"/>
                <a:gd name="adj2" fmla="val 22619"/>
                <a:gd name="adj3" fmla="val 25000"/>
                <a:gd name="adj4" fmla="val 77233"/>
              </a:avLst>
            </a:prstGeom>
            <a:noFill/>
            <a:ln w="9525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오른쪽 화살표 설명선 16"/>
            <p:cNvSpPr/>
            <p:nvPr/>
          </p:nvSpPr>
          <p:spPr>
            <a:xfrm>
              <a:off x="9016746" y="4448007"/>
              <a:ext cx="2650998" cy="1152691"/>
            </a:xfrm>
            <a:prstGeom prst="rightArrowCallout">
              <a:avLst>
                <a:gd name="adj1" fmla="val 20238"/>
                <a:gd name="adj2" fmla="val 22619"/>
                <a:gd name="adj3" fmla="val 25000"/>
                <a:gd name="adj4" fmla="val 77233"/>
              </a:avLst>
            </a:prstGeom>
            <a:noFill/>
            <a:ln w="9525" cap="flat" cmpd="sng" algn="ctr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97241" y="4558313"/>
            <a:ext cx="1755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retendard Bold"/>
              </a:rPr>
              <a:t>Logistic Regression</a:t>
            </a:r>
            <a:endParaRPr lang="ko-KR" altLang="en-US" b="1" dirty="0">
              <a:latin typeface="Pretendard 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28723" y="4656266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Pretendard Bold"/>
              </a:rPr>
              <a:t>Catboost</a:t>
            </a:r>
            <a:endParaRPr lang="en-US" altLang="ko-KR" b="1" dirty="0">
              <a:latin typeface="Pretendard Bold"/>
            </a:endParaRPr>
          </a:p>
          <a:p>
            <a:endParaRPr lang="ko-KR" altLang="en-US" b="1" dirty="0">
              <a:latin typeface="Pretendard 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9098" y="4656266"/>
            <a:ext cx="1581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Pretendard Bold"/>
              </a:rPr>
              <a:t>LightGBM</a:t>
            </a:r>
            <a:endParaRPr lang="ko-KR" altLang="en-US" b="1" dirty="0">
              <a:latin typeface="Pretendard 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29725" y="4558313"/>
            <a:ext cx="1628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retendard Bold"/>
              </a:rPr>
              <a:t>Random</a:t>
            </a:r>
          </a:p>
          <a:p>
            <a:r>
              <a:rPr lang="en-US" altLang="ko-KR" b="1" dirty="0">
                <a:latin typeface="Pretendard Bold"/>
              </a:rPr>
              <a:t>Forest</a:t>
            </a:r>
            <a:endParaRPr lang="ko-KR" altLang="en-US" b="1" dirty="0">
              <a:latin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1230360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55E2D-0F77-44A7-24C5-69BB6707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C779CE3-1432-E6DB-9370-45404A364C44}"/>
              </a:ext>
            </a:extLst>
          </p:cNvPr>
          <p:cNvSpPr/>
          <p:nvPr/>
        </p:nvSpPr>
        <p:spPr>
          <a:xfrm>
            <a:off x="4823857" y="1135035"/>
            <a:ext cx="25442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-150" normalizeH="0" baseline="0" noProof="0" dirty="0">
                <a:ln>
                  <a:noFill/>
                </a:ln>
                <a:solidFill>
                  <a:srgbClr val="37654A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모델 선정</a:t>
            </a:r>
            <a:endParaRPr kumimoji="0" lang="en-US" altLang="ko-KR" sz="4400" b="1" i="0" u="none" strike="noStrike" kern="1200" cap="none" spc="-150" normalizeH="0" baseline="0" noProof="0" dirty="0">
              <a:ln>
                <a:noFill/>
              </a:ln>
              <a:solidFill>
                <a:srgbClr val="37654A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CBC7F-153B-4AC3-6AA3-C0ACA70D3E99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</a:t>
            </a:r>
            <a:r>
              <a:rPr kumimoji="0" lang="ko-KR" altLang="en-US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Track</a:t>
            </a:r>
            <a:endParaRPr kumimoji="0" lang="ko-KR" altLang="en-US" sz="1400" b="1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773ACD98-263A-49DA-6188-D6364A8FB4B1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6797B64-18F9-736A-7F79-A489EE6792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C0737E-FC98-CBF0-2CF2-DC7D643C06C0}"/>
              </a:ext>
            </a:extLst>
          </p:cNvPr>
          <p:cNvSpPr/>
          <p:nvPr/>
        </p:nvSpPr>
        <p:spPr>
          <a:xfrm>
            <a:off x="979903" y="1649698"/>
            <a:ext cx="350550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ko-KR" sz="2400" b="1" dirty="0">
                <a:latin typeface="Pretendard Bold"/>
              </a:rPr>
              <a:t>Logistic Regression</a:t>
            </a:r>
            <a:endParaRPr lang="ko-KR" altLang="en-US" sz="2400" b="1" dirty="0">
              <a:latin typeface="Pretendard Bold"/>
            </a:endParaRPr>
          </a:p>
          <a:p>
            <a:pPr marL="0" marR="0" lvl="0" indent="0" algn="l" defTabSz="914400" rtl="0" eaLnBrk="1" fontAlgn="auto" latin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727" y="3428405"/>
            <a:ext cx="5027161" cy="32057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6727" y="3836389"/>
            <a:ext cx="3124636" cy="57158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9105" y="4928964"/>
            <a:ext cx="4636635" cy="1677848"/>
          </a:xfrm>
          <a:prstGeom prst="rect">
            <a:avLst/>
          </a:prstGeom>
        </p:spPr>
      </p:pic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135997"/>
              </p:ext>
            </p:extLst>
          </p:nvPr>
        </p:nvGraphicFramePr>
        <p:xfrm>
          <a:off x="979904" y="2675232"/>
          <a:ext cx="5765836" cy="18542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717689">
                  <a:extLst>
                    <a:ext uri="{9D8B030D-6E8A-4147-A177-3AD203B41FA5}">
                      <a16:colId xmlns:a16="http://schemas.microsoft.com/office/drawing/2014/main" val="1259545199"/>
                    </a:ext>
                  </a:extLst>
                </a:gridCol>
                <a:gridCol w="4048147">
                  <a:extLst>
                    <a:ext uri="{9D8B030D-6E8A-4147-A177-3AD203B41FA5}">
                      <a16:colId xmlns:a16="http://schemas.microsoft.com/office/drawing/2014/main" val="1292401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전처리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Standard Scaler + PCA + SMOTE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851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모델링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Logistic</a:t>
                      </a:r>
                      <a:r>
                        <a:rPr lang="en-US" altLang="ko-KR" baseline="0" dirty="0"/>
                        <a:t> Regression + 5-fold CV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18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모델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Grid Search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67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최적</a:t>
                      </a:r>
                      <a:r>
                        <a:rPr lang="ko-KR" altLang="en-US" baseline="0" dirty="0"/>
                        <a:t> </a:t>
                      </a:r>
                      <a:r>
                        <a:rPr lang="ko-KR" altLang="en-US" baseline="0" dirty="0" err="1"/>
                        <a:t>임계값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0.609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824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성능이 낮음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3818"/>
                  </a:ext>
                </a:extLst>
              </a:tr>
            </a:tbl>
          </a:graphicData>
        </a:graphic>
      </p:graphicFrame>
      <p:pic>
        <p:nvPicPr>
          <p:cNvPr id="22" name="그림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6727" y="4928964"/>
            <a:ext cx="3508080" cy="65931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19949" y="5857937"/>
            <a:ext cx="4019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→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기본적으로 성능이 낮다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!</a:t>
            </a:r>
          </a:p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선형 모델인 아닌 트리 기반으로</a:t>
            </a:r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6610350" y="3602332"/>
            <a:ext cx="314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>
            <a:off x="6591300" y="4038600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/>
          <p:nvPr/>
        </p:nvCxnSpPr>
        <p:spPr>
          <a:xfrm>
            <a:off x="6591300" y="4407969"/>
            <a:ext cx="333375" cy="345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396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55E2D-0F77-44A7-24C5-69BB6707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C779CE3-1432-E6DB-9370-45404A364C44}"/>
              </a:ext>
            </a:extLst>
          </p:cNvPr>
          <p:cNvSpPr/>
          <p:nvPr/>
        </p:nvSpPr>
        <p:spPr>
          <a:xfrm>
            <a:off x="4823857" y="1135035"/>
            <a:ext cx="25442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-150" normalizeH="0" baseline="0" noProof="0" dirty="0">
                <a:ln>
                  <a:noFill/>
                </a:ln>
                <a:solidFill>
                  <a:srgbClr val="37654A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모델 선정</a:t>
            </a:r>
            <a:endParaRPr kumimoji="0" lang="en-US" altLang="ko-KR" sz="4400" b="1" i="0" u="none" strike="noStrike" kern="1200" cap="none" spc="-150" normalizeH="0" baseline="0" noProof="0" dirty="0">
              <a:ln>
                <a:noFill/>
              </a:ln>
              <a:solidFill>
                <a:srgbClr val="37654A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CBC7F-153B-4AC3-6AA3-C0ACA70D3E99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</a:t>
            </a:r>
            <a:r>
              <a:rPr kumimoji="0" lang="ko-KR" altLang="en-US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Track</a:t>
            </a:r>
            <a:endParaRPr kumimoji="0" lang="ko-KR" altLang="en-US" sz="1400" b="1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773ACD98-263A-49DA-6188-D6364A8FB4B1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6797B64-18F9-736A-7F79-A489EE6792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C0737E-FC98-CBF0-2CF2-DC7D643C06C0}"/>
              </a:ext>
            </a:extLst>
          </p:cNvPr>
          <p:cNvSpPr/>
          <p:nvPr/>
        </p:nvSpPr>
        <p:spPr>
          <a:xfrm>
            <a:off x="979904" y="2313441"/>
            <a:ext cx="350550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b="1" noProof="0" dirty="0" err="1">
                <a:solidFill>
                  <a:prstClr val="black"/>
                </a:solidFill>
                <a:latin typeface="Pretendard Bold"/>
                <a:ea typeface="맑은 고딕" panose="020B0503020000020004" pitchFamily="50" charset="-127"/>
              </a:rPr>
              <a:t>CatBoost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Bold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940539"/>
              </p:ext>
            </p:extLst>
          </p:nvPr>
        </p:nvGraphicFramePr>
        <p:xfrm>
          <a:off x="979904" y="3325333"/>
          <a:ext cx="5765836" cy="18542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717689">
                  <a:extLst>
                    <a:ext uri="{9D8B030D-6E8A-4147-A177-3AD203B41FA5}">
                      <a16:colId xmlns:a16="http://schemas.microsoft.com/office/drawing/2014/main" val="1259545199"/>
                    </a:ext>
                  </a:extLst>
                </a:gridCol>
                <a:gridCol w="4048147">
                  <a:extLst>
                    <a:ext uri="{9D8B030D-6E8A-4147-A177-3AD203B41FA5}">
                      <a16:colId xmlns:a16="http://schemas.microsoft.com/office/drawing/2014/main" val="1292401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전처리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상관계수 </a:t>
                      </a:r>
                      <a:r>
                        <a:rPr lang="en-US" altLang="ko-KR" b="0" dirty="0"/>
                        <a:t>+ VIF </a:t>
                      </a:r>
                      <a:r>
                        <a:rPr lang="ko-KR" altLang="en-US" b="0" dirty="0"/>
                        <a:t>처리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851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모델링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CatBoostClassifier</a:t>
                      </a:r>
                      <a:r>
                        <a:rPr lang="en-US" altLang="ko-KR" baseline="0" dirty="0"/>
                        <a:t> + 5-fold CV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18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모델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Grid Search,</a:t>
                      </a:r>
                      <a:r>
                        <a:rPr lang="en-US" altLang="ko-KR" baseline="0" dirty="0"/>
                        <a:t> Random Search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67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과적합</a:t>
                      </a:r>
                      <a:r>
                        <a:rPr lang="ko-KR" altLang="en-US" dirty="0"/>
                        <a:t> 해결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Early</a:t>
                      </a:r>
                      <a:r>
                        <a:rPr lang="en-US" altLang="ko-KR" baseline="0" dirty="0"/>
                        <a:t> Stopping, </a:t>
                      </a:r>
                      <a:r>
                        <a:rPr lang="ko-KR" altLang="en-US" baseline="0" dirty="0"/>
                        <a:t>규제 강화 등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824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과적합이</a:t>
                      </a:r>
                      <a:r>
                        <a:rPr lang="ko-KR" altLang="en-US" dirty="0"/>
                        <a:t> 심함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3818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103565" y="5615800"/>
            <a:ext cx="6659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→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맑은 고딕" panose="020F0502020204030204"/>
                <a:ea typeface="맑은 고딕" panose="020B0503020000020004" pitchFamily="50" charset="-127"/>
              </a:rPr>
              <a:t>선형 모델에 비해 성능이 올라갔지만 과적함이 심함</a:t>
            </a:r>
            <a:endParaRPr lang="en-US" altLang="ko-KR" dirty="0">
              <a:solidFill>
                <a:schemeClr val="accent6">
                  <a:lumMod val="75000"/>
                </a:schemeClr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과적합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해결을 위해</a:t>
            </a:r>
            <a:r>
              <a:rPr kumimoji="0" lang="ko-KR" altLang="en-US" sz="1800" b="0" i="0" u="none" strike="noStrike" kern="1200" cap="none" spc="0" normalizeH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noProof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하이퍼파라미터</a:t>
            </a:r>
            <a:r>
              <a:rPr kumimoji="0" lang="ko-KR" altLang="en-US" sz="1800" b="0" i="0" u="none" strike="noStrike" kern="1200" cap="none" spc="0" normalizeH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변경 시 성능이 낮아짐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6610350" y="4252433"/>
            <a:ext cx="314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>
            <a:off x="6591300" y="4688701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010400" y="3925408"/>
            <a:ext cx="464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CatBoostClassifier</a:t>
            </a:r>
            <a:r>
              <a:rPr lang="en-US" altLang="ko-KR" sz="1200" dirty="0"/>
              <a:t>(border_(count=32, depth=4, iterations=300, l2_leaf_reg=11, </a:t>
            </a:r>
            <a:r>
              <a:rPr lang="en-US" altLang="ko-KR" sz="1200" dirty="0" err="1"/>
              <a:t>learning_rate</a:t>
            </a:r>
            <a:r>
              <a:rPr lang="en-US" altLang="ko-KR" sz="1200" dirty="0"/>
              <a:t>=0.03,verbose=0)</a:t>
            </a:r>
            <a:endParaRPr lang="ko-KR" altLang="en-US" sz="1200" dirty="0"/>
          </a:p>
        </p:txBody>
      </p:sp>
      <p:grpSp>
        <p:nvGrpSpPr>
          <p:cNvPr id="4" name="그룹 3"/>
          <p:cNvGrpSpPr/>
          <p:nvPr/>
        </p:nvGrpSpPr>
        <p:grpSpPr>
          <a:xfrm>
            <a:off x="7010400" y="4400807"/>
            <a:ext cx="4781002" cy="575787"/>
            <a:chOff x="7006186" y="3832182"/>
            <a:chExt cx="4781002" cy="575787"/>
          </a:xfrm>
        </p:grpSpPr>
        <p:pic>
          <p:nvPicPr>
            <p:cNvPr id="19" name="shape1025"/>
            <p:cNvPicPr/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762" r="11761" b="25371"/>
            <a:stretch/>
          </p:blipFill>
          <p:spPr>
            <a:xfrm>
              <a:off x="7006186" y="3832182"/>
              <a:ext cx="2462684" cy="575787"/>
            </a:xfrm>
            <a:prstGeom prst="rect">
              <a:avLst/>
            </a:prstGeom>
          </p:spPr>
        </p:pic>
        <p:pic>
          <p:nvPicPr>
            <p:cNvPr id="20" name="shape1029"/>
            <p:cNvPicPr/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16336" r="2205" b="14205"/>
            <a:stretch/>
          </p:blipFill>
          <p:spPr>
            <a:xfrm>
              <a:off x="9550381" y="3872425"/>
              <a:ext cx="2236807" cy="495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4367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55E2D-0F77-44A7-24C5-69BB6707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C779CE3-1432-E6DB-9370-45404A364C44}"/>
              </a:ext>
            </a:extLst>
          </p:cNvPr>
          <p:cNvSpPr/>
          <p:nvPr/>
        </p:nvSpPr>
        <p:spPr>
          <a:xfrm>
            <a:off x="4823857" y="1135035"/>
            <a:ext cx="25442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-150" normalizeH="0" baseline="0" noProof="0" dirty="0">
                <a:ln>
                  <a:noFill/>
                </a:ln>
                <a:solidFill>
                  <a:srgbClr val="37654A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모델 선정</a:t>
            </a:r>
            <a:endParaRPr kumimoji="0" lang="en-US" altLang="ko-KR" sz="4400" b="1" i="0" u="none" strike="noStrike" kern="1200" cap="none" spc="-150" normalizeH="0" baseline="0" noProof="0" dirty="0">
              <a:ln>
                <a:noFill/>
              </a:ln>
              <a:solidFill>
                <a:srgbClr val="37654A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CBC7F-153B-4AC3-6AA3-C0ACA70D3E99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</a:t>
            </a:r>
            <a:r>
              <a:rPr kumimoji="0" lang="ko-KR" altLang="en-US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Track</a:t>
            </a:r>
            <a:endParaRPr kumimoji="0" lang="ko-KR" altLang="en-US" sz="1400" b="1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773ACD98-263A-49DA-6188-D6364A8FB4B1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6797B64-18F9-736A-7F79-A489EE6792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C0737E-FC98-CBF0-2CF2-DC7D643C06C0}"/>
              </a:ext>
            </a:extLst>
          </p:cNvPr>
          <p:cNvSpPr/>
          <p:nvPr/>
        </p:nvSpPr>
        <p:spPr>
          <a:xfrm>
            <a:off x="979904" y="1821146"/>
            <a:ext cx="350550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b="1" dirty="0" err="1">
                <a:solidFill>
                  <a:prstClr val="black"/>
                </a:solidFill>
                <a:latin typeface="Pretendard Bold"/>
                <a:ea typeface="맑은 고딕" panose="020B0503020000020004" pitchFamily="50" charset="-127"/>
              </a:rPr>
              <a:t>LightGBM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Bold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255118"/>
              </p:ext>
            </p:extLst>
          </p:nvPr>
        </p:nvGraphicFramePr>
        <p:xfrm>
          <a:off x="979904" y="2876878"/>
          <a:ext cx="5765836" cy="18542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972846">
                  <a:extLst>
                    <a:ext uri="{9D8B030D-6E8A-4147-A177-3AD203B41FA5}">
                      <a16:colId xmlns:a16="http://schemas.microsoft.com/office/drawing/2014/main" val="1259545199"/>
                    </a:ext>
                  </a:extLst>
                </a:gridCol>
                <a:gridCol w="3792990">
                  <a:extLst>
                    <a:ext uri="{9D8B030D-6E8A-4147-A177-3AD203B41FA5}">
                      <a16:colId xmlns:a16="http://schemas.microsoft.com/office/drawing/2014/main" val="1292401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전처리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상관계수처리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851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모델링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dirty="0" err="1">
                          <a:solidFill>
                            <a:prstClr val="black"/>
                          </a:solidFill>
                          <a:latin typeface="+mn-lt"/>
                          <a:ea typeface="+mn-ea"/>
                        </a:rPr>
                        <a:t>LightGBM</a:t>
                      </a:r>
                      <a:r>
                        <a:rPr lang="en-US" altLang="ko-KR" baseline="0" dirty="0"/>
                        <a:t> + 5-fold CV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18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모델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Grid Search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67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최적의</a:t>
                      </a:r>
                      <a:r>
                        <a:rPr lang="ko-KR" altLang="en-US" baseline="0" dirty="0"/>
                        <a:t> </a:t>
                      </a:r>
                      <a:r>
                        <a:rPr lang="en-US" altLang="ko-KR" dirty="0"/>
                        <a:t>threshold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OOF</a:t>
                      </a:r>
                      <a:r>
                        <a:rPr lang="ko-KR" altLang="en-US" dirty="0"/>
                        <a:t>기반 </a:t>
                      </a:r>
                      <a:r>
                        <a:rPr lang="en-US" altLang="ko-KR" dirty="0"/>
                        <a:t>threshold</a:t>
                      </a:r>
                      <a:r>
                        <a:rPr lang="ko-KR" altLang="en-US" dirty="0"/>
                        <a:t>탐색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824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준수한 성능을 보임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83818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979904" y="5163334"/>
            <a:ext cx="714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휴먼편지체" panose="02030504000101010101" pitchFamily="18" charset="-127"/>
                <a:ea typeface="휴먼편지체" panose="02030504000101010101" pitchFamily="18" charset="-127"/>
              </a:rPr>
              <a:t>→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준수한 성능을 보였으나</a:t>
            </a:r>
            <a:r>
              <a:rPr lang="en-US" altLang="ko-KR" dirty="0">
                <a:solidFill>
                  <a:srgbClr val="70AD47">
                    <a:lumMod val="7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70AD47">
                    <a:lumMod val="7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튜닝할수록 부도 예측 비율이 올라감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7" name="직선 화살표 연결선 26"/>
          <p:cNvCxnSpPr/>
          <p:nvPr/>
        </p:nvCxnSpPr>
        <p:spPr>
          <a:xfrm>
            <a:off x="6574290" y="4164826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551" y="3917141"/>
            <a:ext cx="4744112" cy="49536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1478" y="5100315"/>
            <a:ext cx="3267531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86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22F32-E0C2-81EE-423C-6B3B63292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5998419-2199-6960-F5A7-5915D3367069}"/>
              </a:ext>
            </a:extLst>
          </p:cNvPr>
          <p:cNvSpPr/>
          <p:nvPr/>
        </p:nvSpPr>
        <p:spPr>
          <a:xfrm>
            <a:off x="4823862" y="1454800"/>
            <a:ext cx="25442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튜닝 방법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32DAAA-5E31-F559-8F21-912C7E60E394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5.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DCEEB099-7F71-E33B-22AC-BABD91D9A993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6D8E115-9A87-4FA8-E4F7-BA948AD852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EA818EB3-4384-5972-DE9E-613E549B0525}"/>
              </a:ext>
            </a:extLst>
          </p:cNvPr>
          <p:cNvSpPr/>
          <p:nvPr/>
        </p:nvSpPr>
        <p:spPr>
          <a:xfrm>
            <a:off x="4241967" y="1708695"/>
            <a:ext cx="3708066" cy="26243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ko-KR" sz="8000" b="1" spc="-150" dirty="0" err="1">
                <a:solidFill>
                  <a:srgbClr val="FF0000"/>
                </a:solidFill>
                <a:latin typeface="+mn-ea"/>
              </a:rPr>
              <a:t>Optuna</a:t>
            </a:r>
            <a:endParaRPr lang="ko-KR" altLang="en-US" sz="8000" b="1" spc="-15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69494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BB291-23D5-7BFF-7CFE-A9723BEE4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A304F01-ACC3-3E67-1164-1F03EAECC10E}"/>
              </a:ext>
            </a:extLst>
          </p:cNvPr>
          <p:cNvSpPr/>
          <p:nvPr/>
        </p:nvSpPr>
        <p:spPr>
          <a:xfrm>
            <a:off x="4823862" y="1454800"/>
            <a:ext cx="25442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튜닝 방법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0C67D-1A13-6814-DD61-A1ED07165365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5.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AE2D3B59-C134-01A7-BD25-E519E174CF0F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1724C8E-3F65-664F-8894-DAF8E5306D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EFF4EB-1ABC-DB9A-1629-C3CE7751A02E}"/>
              </a:ext>
            </a:extLst>
          </p:cNvPr>
          <p:cNvSpPr/>
          <p:nvPr/>
        </p:nvSpPr>
        <p:spPr>
          <a:xfrm>
            <a:off x="690094" y="3413728"/>
            <a:ext cx="2044534" cy="1358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ko-KR" sz="4000" b="1" spc="-150" dirty="0" err="1">
                <a:latin typeface="+mn-ea"/>
              </a:rPr>
              <a:t>Optuna</a:t>
            </a:r>
            <a:endParaRPr lang="ko-KR" altLang="en-US" sz="4000" b="1" spc="-15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F4EF3C-5D43-6790-6327-D29272C04FD2}"/>
              </a:ext>
            </a:extLst>
          </p:cNvPr>
          <p:cNvSpPr/>
          <p:nvPr/>
        </p:nvSpPr>
        <p:spPr>
          <a:xfrm>
            <a:off x="3308985" y="2352597"/>
            <a:ext cx="6995160" cy="1765034"/>
          </a:xfrm>
          <a:prstGeom prst="rect">
            <a:avLst/>
          </a:prstGeom>
          <a:noFill/>
          <a:ln w="57150">
            <a:solidFill>
              <a:srgbClr val="3765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2F306CC-0A49-CA5A-E4A4-806F85A6CD34}"/>
              </a:ext>
            </a:extLst>
          </p:cNvPr>
          <p:cNvSpPr/>
          <p:nvPr/>
        </p:nvSpPr>
        <p:spPr>
          <a:xfrm>
            <a:off x="3308985" y="4621530"/>
            <a:ext cx="6995160" cy="1765034"/>
          </a:xfrm>
          <a:prstGeom prst="rect">
            <a:avLst/>
          </a:prstGeom>
          <a:noFill/>
          <a:ln w="57150">
            <a:solidFill>
              <a:srgbClr val="3765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853165-22E1-BA00-C290-C98300753666}"/>
              </a:ext>
            </a:extLst>
          </p:cNvPr>
          <p:cNvSpPr txBox="1"/>
          <p:nvPr/>
        </p:nvSpPr>
        <p:spPr>
          <a:xfrm>
            <a:off x="3657600" y="2749807"/>
            <a:ext cx="6297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1. </a:t>
            </a:r>
            <a:r>
              <a:rPr lang="ko-KR" altLang="en-US" sz="3600" dirty="0"/>
              <a:t>모델 </a:t>
            </a:r>
            <a:r>
              <a:rPr lang="ko-KR" altLang="en-US" sz="3600" dirty="0" err="1"/>
              <a:t>하이퍼파라미터</a:t>
            </a:r>
            <a:r>
              <a:rPr lang="en-US" altLang="ko-KR" sz="3600" dirty="0"/>
              <a:t>(Random Forest)</a:t>
            </a:r>
            <a:endParaRPr lang="ko-KR" alt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03D447-D42F-9811-68DA-43398682867C}"/>
              </a:ext>
            </a:extLst>
          </p:cNvPr>
          <p:cNvSpPr txBox="1"/>
          <p:nvPr/>
        </p:nvSpPr>
        <p:spPr>
          <a:xfrm>
            <a:off x="3657600" y="5080034"/>
            <a:ext cx="6297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2. Threshold(</a:t>
            </a:r>
            <a:r>
              <a:rPr lang="ko-KR" altLang="en-US" sz="3600" dirty="0" err="1"/>
              <a:t>분류기준값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43CBCE0-3763-3DBD-CA71-06F5073583B2}"/>
              </a:ext>
            </a:extLst>
          </p:cNvPr>
          <p:cNvCxnSpPr/>
          <p:nvPr/>
        </p:nvCxnSpPr>
        <p:spPr>
          <a:xfrm flipV="1">
            <a:off x="2686051" y="3349971"/>
            <a:ext cx="400049" cy="421929"/>
          </a:xfrm>
          <a:prstGeom prst="straightConnector1">
            <a:avLst/>
          </a:prstGeom>
          <a:ln w="76200">
            <a:solidFill>
              <a:srgbClr val="3765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D75D267-A603-7DA0-7741-4A726AB0921D}"/>
              </a:ext>
            </a:extLst>
          </p:cNvPr>
          <p:cNvCxnSpPr>
            <a:cxnSpLocks/>
          </p:cNvCxnSpPr>
          <p:nvPr/>
        </p:nvCxnSpPr>
        <p:spPr>
          <a:xfrm>
            <a:off x="2734628" y="5148614"/>
            <a:ext cx="442912" cy="355433"/>
          </a:xfrm>
          <a:prstGeom prst="straightConnector1">
            <a:avLst/>
          </a:prstGeom>
          <a:ln w="76200">
            <a:solidFill>
              <a:srgbClr val="3765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021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B6DBD-BBF8-01E5-B1A6-002329E00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84BAEC8-CDDB-E604-F703-253B718A7DD9}"/>
              </a:ext>
            </a:extLst>
          </p:cNvPr>
          <p:cNvSpPr/>
          <p:nvPr/>
        </p:nvSpPr>
        <p:spPr>
          <a:xfrm>
            <a:off x="4278841" y="1454800"/>
            <a:ext cx="36343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파라미터 튜닝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5C3119-817A-26F3-30F9-1744B50F9E0A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5.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4BE24E6D-FEE4-EA50-EAE1-1A6980E3D63C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96266CB-E0E7-0B95-F30D-DFD50913F0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9354506-14CF-890D-C4E4-3B3BA4A6E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34064"/>
            <a:ext cx="12192000" cy="6466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044A1B2-CD38-D1CF-B620-C5851F284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5906" y="3090528"/>
            <a:ext cx="6515887" cy="342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39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4EDE4-DC4C-CB46-3C8C-9A927B92B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91082B3-173D-C250-8412-734F09DF1020}"/>
              </a:ext>
            </a:extLst>
          </p:cNvPr>
          <p:cNvSpPr/>
          <p:nvPr/>
        </p:nvSpPr>
        <p:spPr>
          <a:xfrm>
            <a:off x="4278841" y="1454800"/>
            <a:ext cx="36343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파라미터 튜닝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D5BD98-6289-4961-551D-E8EEF9CBDC35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5.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3A9EFD69-2584-1BA6-96B7-D109DB7BEFB8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0658D2A-2377-BFE8-487B-D0A897716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337F49-83CA-7DCD-7C2E-3DDEBEC234B9}"/>
              </a:ext>
            </a:extLst>
          </p:cNvPr>
          <p:cNvSpPr/>
          <p:nvPr/>
        </p:nvSpPr>
        <p:spPr>
          <a:xfrm>
            <a:off x="2571413" y="2224241"/>
            <a:ext cx="7228710" cy="17752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주요 </a:t>
            </a:r>
            <a:r>
              <a:rPr lang="ko-KR" altLang="en-US" sz="2400" spc="-150" dirty="0" err="1">
                <a:latin typeface="+mn-ea"/>
              </a:rPr>
              <a:t>하이퍼</a:t>
            </a:r>
            <a:r>
              <a:rPr lang="ko-KR" altLang="en-US" sz="2400" spc="-150" dirty="0">
                <a:latin typeface="+mn-ea"/>
              </a:rPr>
              <a:t> 파라미터</a:t>
            </a:r>
            <a:r>
              <a:rPr lang="en-US" altLang="ko-KR" sz="2400" spc="-150" dirty="0">
                <a:latin typeface="+mn-ea"/>
              </a:rPr>
              <a:t>: Random Forest </a:t>
            </a:r>
            <a:r>
              <a:rPr lang="ko-KR" altLang="en-US" sz="2400" spc="-150" dirty="0">
                <a:latin typeface="+mn-ea"/>
              </a:rPr>
              <a:t>주요 파라미터</a:t>
            </a:r>
            <a:endParaRPr lang="en-US" altLang="ko-KR" sz="2400" spc="-150" dirty="0">
              <a:latin typeface="+mn-ea"/>
            </a:endParaRPr>
          </a:p>
          <a:p>
            <a:pPr>
              <a:lnSpc>
                <a:spcPct val="250000"/>
              </a:lnSpc>
            </a:pPr>
            <a:r>
              <a:rPr lang="en-US" altLang="ko-KR" sz="2400" spc="-150" dirty="0">
                <a:latin typeface="+mn-ea"/>
              </a:rPr>
              <a:t>Ex. </a:t>
            </a:r>
            <a:r>
              <a:rPr lang="en-US" altLang="ko-KR" sz="2400" spc="-150" dirty="0" err="1">
                <a:latin typeface="+mn-ea"/>
              </a:rPr>
              <a:t>n_estimators</a:t>
            </a:r>
            <a:r>
              <a:rPr lang="en-US" altLang="ko-KR" sz="2400" spc="-150" dirty="0">
                <a:latin typeface="+mn-ea"/>
              </a:rPr>
              <a:t>, </a:t>
            </a:r>
            <a:r>
              <a:rPr lang="en-US" altLang="ko-KR" sz="2400" spc="-150" dirty="0" err="1">
                <a:latin typeface="+mn-ea"/>
              </a:rPr>
              <a:t>max_depth</a:t>
            </a:r>
            <a:endParaRPr lang="en-US" altLang="ko-KR" sz="2400" spc="-150" dirty="0">
              <a:latin typeface="+mn-ea"/>
            </a:endParaRPr>
          </a:p>
        </p:txBody>
      </p:sp>
      <p:pic>
        <p:nvPicPr>
          <p:cNvPr id="2" name="shape1035">
            <a:extLst>
              <a:ext uri="{FF2B5EF4-FFF2-40B4-BE49-F238E27FC236}">
                <a16:creationId xmlns:a16="http://schemas.microsoft.com/office/drawing/2014/main" id="{DBC6F37B-8E19-71A2-7A9A-0901537E38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20498" y="4648364"/>
            <a:ext cx="4951004" cy="202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87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55E2D-0F77-44A7-24C5-69BB6707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C779CE3-1432-E6DB-9370-45404A364C44}"/>
              </a:ext>
            </a:extLst>
          </p:cNvPr>
          <p:cNvSpPr/>
          <p:nvPr/>
        </p:nvSpPr>
        <p:spPr>
          <a:xfrm>
            <a:off x="4823861" y="1454800"/>
            <a:ext cx="254428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성능 변화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CBC7F-153B-4AC3-6AA3-C0ACA70D3E99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6.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773ACD98-263A-49DA-6188-D6364A8FB4B1}"/>
              </a:ext>
            </a:extLst>
          </p:cNvPr>
          <p:cNvCxnSpPr>
            <a:cxnSpLocks/>
          </p:cNvCxnSpPr>
          <p:nvPr/>
        </p:nvCxnSpPr>
        <p:spPr>
          <a:xfrm>
            <a:off x="487375" y="8263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6797B64-18F9-736A-7F79-A489EE6792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371D7CB-2737-0B80-4FDD-F701FB33B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99" y="2659569"/>
            <a:ext cx="11509401" cy="7694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05030E-FD72-2E02-3B75-C1A8EC0D1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5600" y="4634998"/>
            <a:ext cx="6606580" cy="1372797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441C328-4EB5-A40C-6A07-07193F4D27F2}"/>
              </a:ext>
            </a:extLst>
          </p:cNvPr>
          <p:cNvCxnSpPr>
            <a:cxnSpLocks/>
          </p:cNvCxnSpPr>
          <p:nvPr/>
        </p:nvCxnSpPr>
        <p:spPr>
          <a:xfrm>
            <a:off x="5977890" y="3669030"/>
            <a:ext cx="0" cy="765810"/>
          </a:xfrm>
          <a:prstGeom prst="straightConnector1">
            <a:avLst/>
          </a:prstGeom>
          <a:ln w="76200">
            <a:solidFill>
              <a:srgbClr val="3765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923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E64A4-FA03-900C-381C-B6EFC2E9F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895E0D3-E9AC-9374-FA1D-742FF383B409}"/>
              </a:ext>
            </a:extLst>
          </p:cNvPr>
          <p:cNvSpPr/>
          <p:nvPr/>
        </p:nvSpPr>
        <p:spPr>
          <a:xfrm>
            <a:off x="4823861" y="1454800"/>
            <a:ext cx="254428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성능 변화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366EF-DB53-7380-BD18-871DF4A1935D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6.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22194164-C199-6B8A-903A-A9462D591B8E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C986AC0-E860-82C2-A378-FF12C2320F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6CFEB7A-8CAB-3224-353A-F1A0A551CC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5" b="16805"/>
          <a:stretch>
            <a:fillRect/>
          </a:stretch>
        </p:blipFill>
        <p:spPr>
          <a:xfrm>
            <a:off x="758951" y="2290917"/>
            <a:ext cx="4832224" cy="422599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0F5A859-D7A8-C9FC-93EB-D52AA6DE9E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85966" r="40894" b="4405"/>
          <a:stretch>
            <a:fillRect/>
          </a:stretch>
        </p:blipFill>
        <p:spPr>
          <a:xfrm>
            <a:off x="4823861" y="4065003"/>
            <a:ext cx="8375524" cy="143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913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D3A16-8A73-F293-FCC6-A361510D8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BF5B6F4-C2AA-0A2D-68E9-0D823341E365}"/>
              </a:ext>
            </a:extLst>
          </p:cNvPr>
          <p:cNvSpPr/>
          <p:nvPr/>
        </p:nvSpPr>
        <p:spPr>
          <a:xfrm>
            <a:off x="4913631" y="1454800"/>
            <a:ext cx="236475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성능평가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C24D04-CB4A-4EA0-73CE-247AC62CC99B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7.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E411F591-3140-74F2-0AF5-220995D4AF2B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3B193EC-61F5-54D6-E1A4-21054EC587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2FF6030-7FD4-BEEA-B8A2-38C6963138B7}"/>
              </a:ext>
            </a:extLst>
          </p:cNvPr>
          <p:cNvSpPr/>
          <p:nvPr/>
        </p:nvSpPr>
        <p:spPr>
          <a:xfrm>
            <a:off x="267090" y="2628738"/>
            <a:ext cx="3833742" cy="17752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타 모델 </a:t>
            </a:r>
            <a:r>
              <a:rPr lang="en-US" altLang="ko-KR" sz="2400" spc="-150" dirty="0">
                <a:latin typeface="+mn-ea"/>
              </a:rPr>
              <a:t>-&gt;5-Fold CV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최종모델 </a:t>
            </a:r>
            <a:r>
              <a:rPr lang="en-US" altLang="ko-KR" sz="2400" spc="-150" dirty="0">
                <a:latin typeface="+mn-ea"/>
              </a:rPr>
              <a:t>-&gt; </a:t>
            </a:r>
            <a:r>
              <a:rPr lang="en-US" altLang="ko-KR" sz="2400" spc="-150" dirty="0" err="1">
                <a:latin typeface="+mn-ea"/>
              </a:rPr>
              <a:t>train_test_split</a:t>
            </a:r>
            <a:endParaRPr lang="en-US" altLang="ko-KR" sz="2400" spc="-150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466B648-EF87-81EC-4F7B-433E97087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467" y="2628738"/>
            <a:ext cx="7792376" cy="293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613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FA397-C77C-BCDC-2378-9064D4C7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B1CFCD5-61CC-E44B-D566-92479B776C30}"/>
              </a:ext>
            </a:extLst>
          </p:cNvPr>
          <p:cNvSpPr/>
          <p:nvPr/>
        </p:nvSpPr>
        <p:spPr>
          <a:xfrm>
            <a:off x="4913631" y="1454800"/>
            <a:ext cx="236475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성능평가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0414C1-1113-6382-1C59-BB8C47131DB5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7.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296FA743-9A15-4454-B6D4-3A49F5C1F0E0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56F35ED-4541-0047-9FA1-CC8E8C50AA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55BD041-8D1D-4CCF-92A1-A59443A5A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9863" y="2224241"/>
            <a:ext cx="6582728" cy="441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55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8CBDF-0348-DF47-EEF0-4E250BC3C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B1C1CEA-FF5A-C31F-945F-24DBF5A89859}"/>
              </a:ext>
            </a:extLst>
          </p:cNvPr>
          <p:cNvSpPr/>
          <p:nvPr/>
        </p:nvSpPr>
        <p:spPr>
          <a:xfrm>
            <a:off x="4823877" y="1454800"/>
            <a:ext cx="25442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모델 해석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7D8868-AAA0-51BD-B56E-26737DC6B756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8.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F060CB66-0968-EF17-731E-1AE894ADFB2B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265F609-3342-E620-3A5A-1031EAC3F7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E3C40BA-46EE-5B3A-CC42-11E2C670D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0010" y="2741983"/>
            <a:ext cx="8305910" cy="378355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6ED8542-6C8F-4146-2E88-D3CD015D55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6444" y="2821993"/>
            <a:ext cx="3569336" cy="340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00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86B43-8351-87A4-A278-C58C2052C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7509504-C4AF-8BD1-4E48-2DEC57DEC80E}"/>
              </a:ext>
            </a:extLst>
          </p:cNvPr>
          <p:cNvSpPr/>
          <p:nvPr/>
        </p:nvSpPr>
        <p:spPr>
          <a:xfrm>
            <a:off x="3916585" y="1454800"/>
            <a:ext cx="43588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결론 및 인사이트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EFBA4-E574-C718-4E91-0603E31B3FCA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8.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8C7261AF-38BF-7FBA-40E9-A6D2E0A1AC95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21C0D9A-50CC-0D63-D26F-D2815D9268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A21F95-638D-525B-512F-2DD8AF03BC97}"/>
              </a:ext>
            </a:extLst>
          </p:cNvPr>
          <p:cNvSpPr/>
          <p:nvPr/>
        </p:nvSpPr>
        <p:spPr>
          <a:xfrm>
            <a:off x="938488" y="2021225"/>
            <a:ext cx="10514372" cy="4545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이상치를 포함한 변수들이 파산 예측에 유의미한 영향을 줌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 err="1">
                <a:latin typeface="+mn-ea"/>
              </a:rPr>
              <a:t>다중공선성</a:t>
            </a:r>
            <a:r>
              <a:rPr lang="ko-KR" altLang="en-US" sz="2400" spc="-150" dirty="0">
                <a:latin typeface="+mn-ea"/>
              </a:rPr>
              <a:t> 제거</a:t>
            </a:r>
            <a:r>
              <a:rPr lang="en-US" altLang="ko-KR" sz="2400" spc="-150" dirty="0">
                <a:latin typeface="+mn-ea"/>
              </a:rPr>
              <a:t>+ </a:t>
            </a:r>
            <a:r>
              <a:rPr lang="ko-KR" altLang="en-US" sz="2400" spc="-150" dirty="0">
                <a:latin typeface="+mn-ea"/>
              </a:rPr>
              <a:t>불균형 해소</a:t>
            </a:r>
            <a:r>
              <a:rPr lang="en-US" altLang="ko-KR" sz="2400" spc="-150" dirty="0">
                <a:latin typeface="+mn-ea"/>
              </a:rPr>
              <a:t>+</a:t>
            </a:r>
            <a:r>
              <a:rPr lang="ko-KR" altLang="en-US" sz="2400" spc="-150" dirty="0" err="1">
                <a:latin typeface="+mn-ea"/>
              </a:rPr>
              <a:t>임계값</a:t>
            </a:r>
            <a:r>
              <a:rPr lang="ko-KR" altLang="en-US" sz="2400" spc="-150" dirty="0">
                <a:latin typeface="+mn-ea"/>
              </a:rPr>
              <a:t> 최적화가 핵심 성능 개선 포인트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수익성 지표가 파산을 가장 잘 설명한다</a:t>
            </a:r>
          </a:p>
          <a:p>
            <a:pPr>
              <a:lnSpc>
                <a:spcPct val="250000"/>
              </a:lnSpc>
            </a:pPr>
            <a:r>
              <a:rPr lang="ko-KR" altLang="en-US" sz="2400" spc="-150" dirty="0">
                <a:latin typeface="+mn-ea"/>
              </a:rPr>
              <a:t> → </a:t>
            </a:r>
            <a:r>
              <a:rPr lang="en-US" altLang="ko-KR" sz="2400" spc="-150" dirty="0">
                <a:latin typeface="+mn-ea"/>
              </a:rPr>
              <a:t>After-tax net Interest Rate, Continuous interest rate (after tax), Net Income to Stockholder's Equity </a:t>
            </a:r>
            <a:r>
              <a:rPr lang="ko-KR" altLang="en-US" sz="2400" spc="-150" dirty="0">
                <a:latin typeface="+mn-ea"/>
              </a:rPr>
              <a:t>가 </a:t>
            </a:r>
            <a:r>
              <a:rPr lang="en-US" altLang="ko-KR" sz="2400" spc="-150" dirty="0">
                <a:latin typeface="+mn-ea"/>
              </a:rPr>
              <a:t>TOP 3</a:t>
            </a:r>
          </a:p>
        </p:txBody>
      </p:sp>
    </p:spTree>
    <p:extLst>
      <p:ext uri="{BB962C8B-B14F-4D97-AF65-F5344CB8AC3E}">
        <p14:creationId xmlns:p14="http://schemas.microsoft.com/office/powerpoint/2010/main" val="3841164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95B90-4D0E-0238-F1D7-535DBA87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BB38BB2-624D-D00C-E2E6-512AC2936CF7}"/>
              </a:ext>
            </a:extLst>
          </p:cNvPr>
          <p:cNvSpPr/>
          <p:nvPr/>
        </p:nvSpPr>
        <p:spPr>
          <a:xfrm>
            <a:off x="3916585" y="1454800"/>
            <a:ext cx="43588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rgbClr val="37654A"/>
                </a:solidFill>
                <a:latin typeface="+mn-ea"/>
              </a:rPr>
              <a:t>결론 및 인사이트</a:t>
            </a:r>
            <a:endParaRPr lang="en-US" altLang="ko-KR" sz="4400" b="1" spc="-150" dirty="0">
              <a:solidFill>
                <a:srgbClr val="37654A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06478F-BDC1-78C0-2B5B-5523F288287B}"/>
              </a:ext>
            </a:extLst>
          </p:cNvPr>
          <p:cNvSpPr txBox="1"/>
          <p:nvPr/>
        </p:nvSpPr>
        <p:spPr>
          <a:xfrm>
            <a:off x="414337" y="463411"/>
            <a:ext cx="689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8.</a:t>
            </a:r>
            <a:r>
              <a:rPr lang="ko-KR" altLang="en-US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lang="en-US" altLang="ko-KR" sz="1400" b="1" spc="-15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Track</a:t>
            </a:r>
            <a:endParaRPr lang="ko-KR" altLang="en-US" sz="1400" b="1" spc="-150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77B8881C-97D8-B8BA-B873-84339244E708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DFAAAA1-F457-CFDF-ED12-F91F75F5AA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E33B3916-4DAD-9CD5-691B-DE03EE6EB117}"/>
              </a:ext>
            </a:extLst>
          </p:cNvPr>
          <p:cNvSpPr/>
          <p:nvPr/>
        </p:nvSpPr>
        <p:spPr>
          <a:xfrm>
            <a:off x="938488" y="2021225"/>
            <a:ext cx="10514372" cy="4545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2400" spc="-150" dirty="0">
                <a:latin typeface="+mn-ea"/>
              </a:rPr>
              <a:t>ROA</a:t>
            </a:r>
            <a:r>
              <a:rPr lang="ko-KR" altLang="en-US" sz="2400" spc="-150" dirty="0">
                <a:latin typeface="+mn-ea"/>
              </a:rPr>
              <a:t>가 여러 형태로 반복 등장 </a:t>
            </a:r>
          </a:p>
          <a:p>
            <a:pPr>
              <a:lnSpc>
                <a:spcPct val="250000"/>
              </a:lnSpc>
            </a:pPr>
            <a:r>
              <a:rPr lang="ko-KR" altLang="en-US" sz="2400" spc="-150" dirty="0">
                <a:latin typeface="+mn-ea"/>
              </a:rPr>
              <a:t> → 자산 수익성이 일관된 신호</a:t>
            </a:r>
            <a:r>
              <a:rPr lang="en-US" altLang="ko-KR" sz="2400" spc="-150" dirty="0">
                <a:latin typeface="+mn-ea"/>
              </a:rPr>
              <a:t>ROA(A), ROA(B), ROA(C) </a:t>
            </a:r>
            <a:r>
              <a:rPr lang="ko-KR" altLang="en-US" sz="2400" spc="-150" dirty="0">
                <a:latin typeface="+mn-ea"/>
              </a:rPr>
              <a:t>세 가지 버전이 모두 등장      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2400" spc="-150" dirty="0">
                <a:latin typeface="+mn-ea"/>
              </a:rPr>
              <a:t>유동성 지표</a:t>
            </a:r>
            <a:r>
              <a:rPr lang="en-US" altLang="ko-KR" sz="2400" spc="-150" dirty="0">
                <a:latin typeface="+mn-ea"/>
              </a:rPr>
              <a:t>(Quick Ratio)</a:t>
            </a:r>
            <a:r>
              <a:rPr lang="ko-KR" altLang="en-US" sz="2400" spc="-150" dirty="0">
                <a:latin typeface="+mn-ea"/>
              </a:rPr>
              <a:t>는 상대적으로 덜 중요</a:t>
            </a:r>
            <a:endParaRPr lang="en-US" altLang="ko-KR" sz="2400" spc="-150" dirty="0">
              <a:latin typeface="+mn-ea"/>
            </a:endParaRPr>
          </a:p>
          <a:p>
            <a:pPr>
              <a:lnSpc>
                <a:spcPct val="250000"/>
              </a:lnSpc>
            </a:pPr>
            <a:r>
              <a:rPr lang="en-US" altLang="ko-KR" sz="2400" spc="-150" dirty="0">
                <a:latin typeface="+mn-ea"/>
              </a:rPr>
              <a:t> </a:t>
            </a:r>
            <a:r>
              <a:rPr lang="ko-KR" altLang="en-US" sz="2400" spc="-150" dirty="0">
                <a:latin typeface="+mn-ea"/>
              </a:rPr>
              <a:t> →  </a:t>
            </a:r>
            <a:r>
              <a:rPr lang="en-US" altLang="ko-KR" sz="2400" spc="-150" dirty="0">
                <a:latin typeface="+mn-ea"/>
              </a:rPr>
              <a:t>Quick Ratio</a:t>
            </a:r>
            <a:r>
              <a:rPr lang="ko-KR" altLang="en-US" sz="2400" spc="-150" dirty="0">
                <a:latin typeface="+mn-ea"/>
              </a:rPr>
              <a:t>가 최하위권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n-US" altLang="ko-KR" sz="2400" spc="-1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82685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55E2D-0F77-44A7-24C5-69BB6707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C779CE3-1432-E6DB-9370-45404A364C44}"/>
              </a:ext>
            </a:extLst>
          </p:cNvPr>
          <p:cNvSpPr/>
          <p:nvPr/>
        </p:nvSpPr>
        <p:spPr>
          <a:xfrm>
            <a:off x="4324163" y="2354235"/>
            <a:ext cx="3124574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0" b="1" spc="-150" dirty="0">
                <a:solidFill>
                  <a:srgbClr val="37654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Q&amp;A</a:t>
            </a:r>
            <a:endParaRPr kumimoji="0" lang="en-US" altLang="ko-KR" sz="10000" b="1" i="0" u="none" strike="noStrike" kern="1200" cap="none" spc="-150" normalizeH="0" baseline="0" noProof="0" dirty="0">
              <a:ln>
                <a:noFill/>
              </a:ln>
              <a:solidFill>
                <a:srgbClr val="37654A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773ACD98-263A-49DA-6188-D6364A8FB4B1}"/>
              </a:ext>
            </a:extLst>
          </p:cNvPr>
          <p:cNvCxnSpPr>
            <a:cxnSpLocks/>
          </p:cNvCxnSpPr>
          <p:nvPr/>
        </p:nvCxnSpPr>
        <p:spPr>
          <a:xfrm>
            <a:off x="414338" y="850205"/>
            <a:ext cx="11363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상징, 스크린샷, 그래픽, 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6797B64-18F9-736A-7F79-A489EE6792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009" y="287651"/>
            <a:ext cx="538654" cy="53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608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6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상징, 그래픽, 로고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17CF05E-47D2-7BC2-84C0-7395490316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476" y="-114001"/>
            <a:ext cx="6721040" cy="6721038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3E26F027-C6EB-4ED3-B8A4-08E38B951580}"/>
              </a:ext>
            </a:extLst>
          </p:cNvPr>
          <p:cNvGrpSpPr/>
          <p:nvPr/>
        </p:nvGrpSpPr>
        <p:grpSpPr>
          <a:xfrm>
            <a:off x="352425" y="414338"/>
            <a:ext cx="11487150" cy="6029325"/>
            <a:chOff x="352425" y="400836"/>
            <a:chExt cx="11487150" cy="6029325"/>
          </a:xfrm>
        </p:grpSpPr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9316A8CD-437F-4D8E-9391-48648A8E6029}"/>
                </a:ext>
              </a:extLst>
            </p:cNvPr>
            <p:cNvCxnSpPr>
              <a:cxnSpLocks/>
            </p:cNvCxnSpPr>
            <p:nvPr/>
          </p:nvCxnSpPr>
          <p:spPr>
            <a:xfrm>
              <a:off x="352425" y="6430161"/>
              <a:ext cx="114871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E3F56A21-36FE-4277-845C-3C042FF8C1EA}"/>
                </a:ext>
              </a:extLst>
            </p:cNvPr>
            <p:cNvCxnSpPr>
              <a:cxnSpLocks/>
            </p:cNvCxnSpPr>
            <p:nvPr/>
          </p:nvCxnSpPr>
          <p:spPr>
            <a:xfrm>
              <a:off x="352425" y="400836"/>
              <a:ext cx="114871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5102480" y="5358906"/>
            <a:ext cx="19870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Bold"/>
                <a:ea typeface="맑은 고딕" panose="020B0503020000020004" pitchFamily="50" charset="-127"/>
                <a:cs typeface="+mn-cs"/>
              </a:rPr>
              <a:t>삼각김밥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Bold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Bold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Bold"/>
                <a:ea typeface="맑은 고딕" panose="020B0503020000020004" pitchFamily="50" charset="-127"/>
                <a:cs typeface="+mn-cs"/>
              </a:rPr>
              <a:t>신재원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Bold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Bold"/>
                <a:ea typeface="맑은 고딕" panose="020B0503020000020004" pitchFamily="50" charset="-127"/>
                <a:cs typeface="+mn-cs"/>
              </a:rPr>
              <a:t>이채현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Bold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8140" y="2843362"/>
            <a:ext cx="9995712" cy="806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감사합니다</a:t>
            </a:r>
            <a:endParaRPr kumimoji="0" lang="en-US" altLang="ko-KR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44591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616</Words>
  <Application>Microsoft Office PowerPoint</Application>
  <PresentationFormat>와이드스크린</PresentationFormat>
  <Paragraphs>180</Paragraphs>
  <Slides>23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23</vt:i4>
      </vt:variant>
    </vt:vector>
  </HeadingPairs>
  <TitlesOfParts>
    <vt:vector size="31" baseType="lpstr">
      <vt:lpstr>Pretendard Bold</vt:lpstr>
      <vt:lpstr>맑은 고딕</vt:lpstr>
      <vt:lpstr>휴먼편지체</vt:lpstr>
      <vt:lpstr>Arial</vt:lpstr>
      <vt:lpstr>Calibri</vt:lpstr>
      <vt:lpstr>Calibri Light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김도균</dc:creator>
  <cp:lastModifiedBy>재원 신</cp:lastModifiedBy>
  <cp:revision>111</cp:revision>
  <dcterms:created xsi:type="dcterms:W3CDTF">2018-12-12T10:08:26Z</dcterms:created>
  <dcterms:modified xsi:type="dcterms:W3CDTF">2026-03-30T14:25:33Z</dcterms:modified>
  <cp:version/>
</cp:coreProperties>
</file>