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0083800" cy="1426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1206" y="225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presProps" Target="presProps.xml"  /><Relationship Id="rId5" Type="http://schemas.openxmlformats.org/officeDocument/2006/relationships/viewProps" Target="viewProps.xml"  /><Relationship Id="rId6" Type="http://schemas.openxmlformats.org/officeDocument/2006/relationships/theme" Target="theme/theme1.xml"  /><Relationship Id="rId7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12.png"  /><Relationship Id="rId14" Type="http://schemas.openxmlformats.org/officeDocument/2006/relationships/image" Target="../media/image13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8.png"  /><Relationship Id="rId11" Type="http://schemas.openxmlformats.org/officeDocument/2006/relationships/image" Target="../media/image19.png"  /><Relationship Id="rId12" Type="http://schemas.openxmlformats.org/officeDocument/2006/relationships/image" Target="../media/image6.png"  /><Relationship Id="rId13" Type="http://schemas.openxmlformats.org/officeDocument/2006/relationships/image" Target="../media/image7.png"  /><Relationship Id="rId14" Type="http://schemas.openxmlformats.org/officeDocument/2006/relationships/image" Target="../media/image20.png"  /><Relationship Id="rId15" Type="http://schemas.openxmlformats.org/officeDocument/2006/relationships/image" Target="../media/image21.png"  /><Relationship Id="rId16" Type="http://schemas.openxmlformats.org/officeDocument/2006/relationships/image" Target="../media/image22.png"  /><Relationship Id="rId17" Type="http://schemas.openxmlformats.org/officeDocument/2006/relationships/image" Target="../media/image23.png"  /><Relationship Id="rId18" Type="http://schemas.openxmlformats.org/officeDocument/2006/relationships/image" Target="../media/image24.png"  /><Relationship Id="rId2" Type="http://schemas.openxmlformats.org/officeDocument/2006/relationships/image" Target="../media/image14.png"  /><Relationship Id="rId3" Type="http://schemas.openxmlformats.org/officeDocument/2006/relationships/image" Target="../media/image13.png"  /><Relationship Id="rId4" Type="http://schemas.openxmlformats.org/officeDocument/2006/relationships/image" Target="../media/image15.png"  /><Relationship Id="rId5" Type="http://schemas.openxmlformats.org/officeDocument/2006/relationships/image" Target="../media/image16.png"  /><Relationship Id="rId6" Type="http://schemas.openxmlformats.org/officeDocument/2006/relationships/image" Target="../media/image11.png"  /><Relationship Id="rId7" Type="http://schemas.openxmlformats.org/officeDocument/2006/relationships/image" Target="../media/image17.png"  /><Relationship Id="rId8" Type="http://schemas.openxmlformats.org/officeDocument/2006/relationships/image" Target="../media/image3.png"  /><Relationship Id="rId9" Type="http://schemas.openxmlformats.org/officeDocument/2006/relationships/image" Target="../media/image4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3000"/>
          </a:blip>
          <a:stretch>
            <a:fillRect/>
          </a:stretch>
        </p:blipFill>
        <p:spPr>
          <a:xfrm>
            <a:off x="4292600" y="-12700"/>
            <a:ext cx="5815445" cy="1930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609600" y="2590800"/>
            <a:ext cx="4343400" cy="5080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900" y="2197100"/>
            <a:ext cx="2032000" cy="4064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762000" y="229870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en-US" sz="1600" b="1" i="0" u="none" strike="noStrike" cap="all" dirty="0">
                <a:solidFill>
                  <a:srgbClr val="FFFFFF"/>
                </a:solidFill>
                <a:latin typeface="+mn-ea"/>
                <a:cs typeface="S-Core Dream 5 Medium"/>
              </a:rPr>
              <a:t>EDA (</a:t>
            </a:r>
            <a:r>
              <a:rPr lang="en-US" sz="1600" b="1" i="0" u="none" strike="noStrike" cap="all" dirty="0" err="1">
                <a:solidFill>
                  <a:srgbClr val="FFFFFF"/>
                </a:solidFill>
                <a:latin typeface="+mn-ea"/>
                <a:cs typeface="S-Core Dream 5 Medium"/>
              </a:rPr>
              <a:t>데이터</a:t>
            </a:r>
            <a:r>
              <a:rPr lang="en-US" sz="1600" b="1" i="0" u="none" strike="noStrike" cap="all" dirty="0">
                <a:solidFill>
                  <a:srgbClr val="FFFFFF"/>
                </a:solidFill>
                <a:latin typeface="+mn-ea"/>
                <a:cs typeface="S-Core Dream 5 Medium"/>
              </a:rPr>
              <a:t> </a:t>
            </a:r>
            <a:r>
              <a:rPr lang="en-US" sz="1600" b="1" i="0" u="none" strike="noStrike" cap="all" dirty="0" err="1">
                <a:solidFill>
                  <a:srgbClr val="FFFFFF"/>
                </a:solidFill>
                <a:latin typeface="+mn-ea"/>
                <a:cs typeface="S-Core Dream 5 Medium"/>
              </a:rPr>
              <a:t>이해</a:t>
            </a:r>
            <a:r>
              <a:rPr lang="en-US" sz="1600" b="1" i="0" u="none" strike="noStrike" cap="all" dirty="0">
                <a:solidFill>
                  <a:srgbClr val="FFFFFF"/>
                </a:solidFill>
                <a:latin typeface="+mn-ea"/>
                <a:cs typeface="S-Core Dream 5 Medium"/>
              </a:rPr>
              <a:t>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900" y="2578100"/>
            <a:ext cx="4343400" cy="127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>
            <a:alphaModFix amt="40000"/>
          </a:blip>
          <a:stretch>
            <a:fillRect/>
          </a:stretch>
        </p:blipFill>
        <p:spPr>
          <a:xfrm>
            <a:off x="0" y="8255000"/>
            <a:ext cx="8940800" cy="49657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734002" y="2667000"/>
            <a:ext cx="3987800" cy="27749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데이터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</a:t>
            </a:r>
            <a:r>
              <a:rPr 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구조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</a:t>
            </a:r>
            <a:r>
              <a:rPr lang="en-US" sz="1264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: </a:t>
            </a:r>
            <a:r>
              <a:rPr lang="ko-KR" altLang="en-US" sz="1264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수치형 변수 중심</a:t>
            </a:r>
            <a:r>
              <a:rPr lang="en-US" altLang="ko-KR" sz="1264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, </a:t>
            </a:r>
            <a:r>
              <a:rPr lang="ko-KR" altLang="en-US" sz="1264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최대</a:t>
            </a:r>
            <a:r>
              <a:rPr lang="en-US" altLang="ko-KR" sz="1264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·</a:t>
            </a:r>
            <a:r>
              <a:rPr lang="ko-KR" altLang="en-US" sz="1264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최솟값 차이가 큰 컬럼 다수 존재</a:t>
            </a:r>
            <a:endParaRPr lang="en-US" sz="1264" b="0" i="0" u="none" strike="noStrike" dirty="0">
              <a:solidFill>
                <a:srgbClr val="595959"/>
              </a:solidFill>
              <a:latin typeface="+mj-ea"/>
              <a:ea typeface="+mj-ea"/>
              <a:cs typeface="S-Core Dream 3 Light"/>
            </a:endParaRP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타겟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</a:t>
            </a:r>
            <a:r>
              <a:rPr 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분포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/ </a:t>
            </a:r>
            <a:r>
              <a:rPr 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불균형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</a:t>
            </a:r>
            <a:r>
              <a:rPr 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여부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: 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타겟 분포 약 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0.97 : 0.03 → 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심각한 불균형 데이터</a:t>
            </a:r>
            <a:endParaRPr lang="en-US" sz="1264" b="0" i="0" u="none" strike="noStrike" dirty="0">
              <a:solidFill>
                <a:srgbClr val="595959"/>
              </a:solidFill>
              <a:latin typeface="+mj-ea"/>
              <a:ea typeface="+mj-ea"/>
              <a:cs typeface="S-Core Dream 3 Light"/>
            </a:endParaRP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결측치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/ </a:t>
            </a:r>
            <a:r>
              <a:rPr 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이상치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</a:t>
            </a:r>
            <a:r>
              <a:rPr 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특징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: </a:t>
            </a:r>
            <a:r>
              <a:rPr lang="ko-KR" alt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결측치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없음 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/ 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이상치가 오히려 파산 예측에 유의미한 영향을 줄 것으로 판단</a:t>
            </a:r>
            <a:endParaRPr lang="en-US" altLang="ko-KR" sz="1264" b="0" i="0" u="none" strike="noStrike" dirty="0">
              <a:solidFill>
                <a:srgbClr val="595959"/>
              </a:solidFill>
              <a:latin typeface="+mj-ea"/>
              <a:ea typeface="+mj-ea"/>
              <a:cs typeface="S-Core Dream 3 Light"/>
            </a:endParaRP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다중공선성이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매우 심한 데이터 → 변수 선택이 핵심</a:t>
            </a:r>
            <a:endParaRPr lang="en-US" sz="1264" b="0" i="0" u="none" strike="noStrike" dirty="0">
              <a:solidFill>
                <a:srgbClr val="595959"/>
              </a:solidFill>
              <a:latin typeface="+mj-ea"/>
              <a:ea typeface="+mj-ea"/>
              <a:cs typeface="S-Core Dream 3 Light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" y="8026400"/>
            <a:ext cx="1384300" cy="4064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900" y="8420100"/>
            <a:ext cx="8915400" cy="127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9">
            <a:alphaModFix amt="40000"/>
          </a:blip>
          <a:stretch>
            <a:fillRect/>
          </a:stretch>
        </p:blipFill>
        <p:spPr>
          <a:xfrm>
            <a:off x="5207000" y="2590800"/>
            <a:ext cx="4343400" cy="50800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359400" y="228600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en-US" sz="1333" b="0" i="0" u="none" strike="noStrike" cap="all">
                <a:solidFill>
                  <a:srgbClr val="FFFFFF"/>
                </a:solidFill>
                <a:latin typeface="S-Core Dream 5 Medium"/>
                <a:ea typeface="S-Core Dream 5 Medium"/>
                <a:cs typeface="S-Core Dream 5 Medium"/>
              </a:rPr>
              <a:t>INTRODUCTION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000" y="2578100"/>
            <a:ext cx="43434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04100" y="0"/>
            <a:ext cx="2703945" cy="1906732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-1" y="-12700"/>
            <a:ext cx="10031845" cy="19050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508000" y="431800"/>
            <a:ext cx="9093200" cy="1092200"/>
          </a:xfrm>
          <a:prstGeom prst="rect">
            <a:avLst/>
          </a:prstGeom>
        </p:spPr>
        <p:txBody>
          <a:bodyPr lIns="0" tIns="20449" rIns="0" bIns="11643" rtlCol="0" anchor="ctr"/>
          <a:lstStyle/>
          <a:p>
            <a:pPr lvl="0" algn="ctr">
              <a:lnSpc>
                <a:spcPct val="109559"/>
              </a:lnSpc>
            </a:pPr>
            <a:r>
              <a:rPr lang="en-US" sz="4025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Taiwanese Bankruptcy Prediction</a:t>
            </a:r>
          </a:p>
          <a:p>
            <a:pPr lvl="0" algn="ctr">
              <a:lnSpc>
                <a:spcPct val="109559"/>
              </a:lnSpc>
            </a:pPr>
            <a:r>
              <a:rPr lang="en-US" sz="2291" b="0" i="0" u="none" strike="noStrike" spc="-15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대만</a:t>
            </a:r>
            <a:r>
              <a:rPr lang="en-US" sz="2291" b="0" i="0" u="none" strike="noStrike" spc="-15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 </a:t>
            </a:r>
            <a:r>
              <a:rPr lang="en-US" sz="2291" b="0" i="0" u="none" strike="noStrike" spc="-15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기업</a:t>
            </a:r>
            <a:r>
              <a:rPr lang="en-US" sz="2291" b="0" i="0" u="none" strike="noStrike" spc="-15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 </a:t>
            </a:r>
            <a:r>
              <a:rPr lang="en-US" sz="2291" b="0" i="0" u="none" strike="noStrike" spc="-15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파산</a:t>
            </a:r>
            <a:r>
              <a:rPr lang="en-US" sz="2291" b="0" i="0" u="none" strike="noStrike" spc="-15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 </a:t>
            </a:r>
            <a:r>
              <a:rPr lang="en-US" sz="2291" b="0" i="0" u="none" strike="noStrike" spc="-15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예측</a:t>
            </a:r>
            <a:r>
              <a:rPr lang="en-US" sz="2291" b="0" i="0" u="none" strike="noStrike" spc="-15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 </a:t>
            </a:r>
            <a:r>
              <a:rPr lang="en-US" sz="2291" b="0" i="0" u="none" strike="noStrike" spc="-15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데이터톤</a:t>
            </a:r>
            <a:endParaRPr lang="en-US" sz="2291" b="0" i="0" u="none" strike="noStrike" spc="-150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8089900" y="1574800"/>
            <a:ext cx="1485900" cy="241300"/>
          </a:xfrm>
          <a:prstGeom prst="rect">
            <a:avLst/>
          </a:prstGeom>
        </p:spPr>
        <p:txBody>
          <a:bodyPr lIns="0" tIns="16932" rIns="0" bIns="16932" rtlCol="0" anchor="ctr"/>
          <a:lstStyle/>
          <a:p>
            <a:pPr lvl="0" algn="l">
              <a:lnSpc>
                <a:spcPct val="99600"/>
              </a:lnSpc>
            </a:pPr>
            <a:r>
              <a:rPr lang="en-US" sz="1333" b="0" i="0" u="none" strike="noStrike" dirty="0">
                <a:solidFill>
                  <a:srgbClr val="FFFFFF"/>
                </a:solidFill>
                <a:latin typeface="Pretendard Thin"/>
                <a:ea typeface="Pretendard Thin"/>
                <a:cs typeface="Pretendard Thin"/>
              </a:rPr>
              <a:t>EPOCH Team name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84200" y="241300"/>
            <a:ext cx="1562100" cy="190500"/>
          </a:xfrm>
          <a:prstGeom prst="rect">
            <a:avLst/>
          </a:prstGeom>
        </p:spPr>
        <p:txBody>
          <a:bodyPr lIns="0" tIns="13546" rIns="0" bIns="13546" rtlCol="0" anchor="ctr"/>
          <a:lstStyle/>
          <a:p>
            <a:pPr lvl="0" algn="l">
              <a:lnSpc>
                <a:spcPct val="99600"/>
              </a:lnSpc>
            </a:pPr>
            <a:r>
              <a:rPr lang="en-US" sz="1066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EPOCH 4TH DATATHON</a:t>
            </a: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3200" y="139700"/>
            <a:ext cx="406400" cy="368300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07000" y="2171700"/>
            <a:ext cx="2387600" cy="4064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5359400" y="2273300"/>
            <a:ext cx="21971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en-US" sz="1200" b="1" i="0" u="none" strike="noStrike" cap="all" dirty="0">
                <a:solidFill>
                  <a:srgbClr val="FFFFFF"/>
                </a:solidFill>
                <a:latin typeface="+mn-ea"/>
                <a:cs typeface="S-Core Dream 5 Medium"/>
              </a:rPr>
              <a:t>Feature Engineering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5222875" y="2806700"/>
            <a:ext cx="4035425" cy="10287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전처리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: 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상관계수 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0.9 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이상 컬럼 제거 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/ VIF 10 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이상 컬럼 제거 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(</a:t>
            </a:r>
            <a:r>
              <a:rPr lang="ko-KR" altLang="en-US" sz="1264" b="0" i="0" u="none" strike="noStrike" dirty="0" err="1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다중공선성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 해소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) / SMOTE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j-ea"/>
                <a:ea typeface="+mj-ea"/>
                <a:cs typeface="S-Core Dream 3 Light"/>
              </a:rPr>
              <a:t>로 클래스 불균형 해소</a:t>
            </a:r>
            <a:endParaRPr lang="en-US" sz="1264" b="0" i="0" u="none" strike="noStrike" dirty="0">
              <a:solidFill>
                <a:srgbClr val="595959"/>
              </a:solidFill>
              <a:latin typeface="+mj-ea"/>
              <a:ea typeface="+mj-ea"/>
              <a:cs typeface="S-Core Dream 3 Ligh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08000" y="8299450"/>
            <a:ext cx="6426200" cy="19875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사용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모델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: Random Forest</a:t>
            </a:r>
            <a:endParaRPr lang="en-US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선택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이유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: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앙상블 기반으로 이상치</a:t>
            </a: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,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불균형 데이터에 강건</a:t>
            </a:r>
            <a:endParaRPr lang="en-US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기본 모델 → 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SMOTE 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적용 → </a:t>
            </a:r>
            <a:r>
              <a:rPr lang="en-US" altLang="ko-KR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Optuna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ko-KR" alt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하이퍼파라미터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최적화 → </a:t>
            </a:r>
            <a:r>
              <a:rPr lang="ko-KR" alt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임계값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최적화 순으로 개선</a:t>
            </a:r>
            <a:endParaRPr lang="en-US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0D4DAC62-30B9-1FAB-F014-257110B762B6}"/>
              </a:ext>
            </a:extLst>
          </p:cNvPr>
          <p:cNvSpPr txBox="1"/>
          <p:nvPr/>
        </p:nvSpPr>
        <p:spPr>
          <a:xfrm>
            <a:off x="768927" y="812165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cap="all" dirty="0">
                <a:solidFill>
                  <a:srgbClr val="FFFFFF"/>
                </a:solidFill>
                <a:latin typeface="+mn-ea"/>
                <a:cs typeface="S-Core Dream 5 Medium"/>
              </a:rPr>
              <a:t>모델 설계</a:t>
            </a:r>
            <a:endParaRPr lang="en-US" sz="1600" b="1" i="0" u="none" strike="noStrike" cap="all" dirty="0">
              <a:solidFill>
                <a:srgbClr val="FFFFFF"/>
              </a:solidFill>
              <a:latin typeface="+mn-ea"/>
              <a:cs typeface="S-Core Dream 5 Medium"/>
            </a:endParaRPr>
          </a:p>
        </p:txBody>
      </p:sp>
      <p:pic>
        <p:nvPicPr>
          <p:cNvPr id="27" name="Picture 3">
            <a:extLst>
              <a:ext uri="{FF2B5EF4-FFF2-40B4-BE49-F238E27FC236}">
                <a16:creationId xmlns:a16="http://schemas.microsoft.com/office/drawing/2014/main" id="{ADE10B4E-68B6-35F4-5E5A-B6534B466558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3906500"/>
            <a:ext cx="100838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53000"/>
          </a:blip>
          <a:stretch>
            <a:fillRect/>
          </a:stretch>
        </p:blipFill>
        <p:spPr>
          <a:xfrm>
            <a:off x="4292600" y="0"/>
            <a:ext cx="5791200" cy="736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906500"/>
            <a:ext cx="10083800" cy="355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1300" y="0"/>
            <a:ext cx="2222500" cy="736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0121900" cy="736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584200" y="241300"/>
            <a:ext cx="1562100" cy="190500"/>
          </a:xfrm>
          <a:prstGeom prst="rect">
            <a:avLst/>
          </a:prstGeom>
        </p:spPr>
        <p:txBody>
          <a:bodyPr lIns="0" tIns="13546" rIns="0" bIns="13546" rtlCol="0" anchor="ctr"/>
          <a:lstStyle/>
          <a:p>
            <a:pPr lvl="0" algn="l">
              <a:lnSpc>
                <a:spcPct val="99600"/>
              </a:lnSpc>
            </a:pPr>
            <a:r>
              <a:rPr lang="en-US" sz="1066" b="0" i="0" u="none" strike="noStrike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EPOCH 4TH DATATHON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200" y="139700"/>
            <a:ext cx="406400" cy="3683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40000"/>
          </a:blip>
          <a:stretch>
            <a:fillRect/>
          </a:stretch>
        </p:blipFill>
        <p:spPr>
          <a:xfrm>
            <a:off x="609600" y="1600200"/>
            <a:ext cx="4343400" cy="4381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00" y="1219200"/>
            <a:ext cx="1879600" cy="4064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900" y="1600200"/>
            <a:ext cx="4343400" cy="127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>
            <a:alphaModFix amt="40000"/>
          </a:blip>
          <a:stretch>
            <a:fillRect/>
          </a:stretch>
        </p:blipFill>
        <p:spPr>
          <a:xfrm>
            <a:off x="5168900" y="1504950"/>
            <a:ext cx="4343400" cy="43815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68900" y="1219200"/>
            <a:ext cx="1549400" cy="406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81600" y="1600200"/>
            <a:ext cx="4343400" cy="12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>
            <a:alphaModFix amt="40000"/>
          </a:blip>
          <a:stretch>
            <a:fillRect/>
          </a:stretch>
        </p:blipFill>
        <p:spPr>
          <a:xfrm>
            <a:off x="609600" y="6705600"/>
            <a:ext cx="8940800" cy="31242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900" y="6273800"/>
            <a:ext cx="1473200" cy="4064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4200" y="6654800"/>
            <a:ext cx="8915400" cy="127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14">
            <a:alphaModFix amt="40000"/>
          </a:blip>
          <a:stretch>
            <a:fillRect/>
          </a:stretch>
        </p:blipFill>
        <p:spPr>
          <a:xfrm>
            <a:off x="571500" y="10528300"/>
            <a:ext cx="8940800" cy="31750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71500" y="10121900"/>
            <a:ext cx="2003136" cy="406400"/>
          </a:xfrm>
          <a:prstGeom prst="rect">
            <a:avLst/>
          </a:prstGeom>
        </p:spPr>
      </p:pic>
      <p:pic>
        <p:nvPicPr>
          <p:cNvPr id="23" name="Picture 2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1500" y="10515600"/>
            <a:ext cx="8915400" cy="127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856600" y="1593850"/>
            <a:ext cx="4016520" cy="200342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주요하이퍼파라미터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: </a:t>
            </a:r>
          </a:p>
          <a:p>
            <a:pPr marL="0" lvl="1" algn="just">
              <a:lnSpc>
                <a:spcPct val="139440"/>
              </a:lnSpc>
              <a:buClr>
                <a:srgbClr val="000000"/>
              </a:buClr>
            </a:pPr>
            <a:r>
              <a:rPr 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Random Forest </a:t>
            </a:r>
            <a:r>
              <a:rPr lang="ko-KR" alt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주요파라미터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endParaRPr lang="en-US" altLang="ko-KR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0" lvl="1" algn="just">
              <a:lnSpc>
                <a:spcPct val="139440"/>
              </a:lnSpc>
              <a:buClr>
                <a:srgbClr val="000000"/>
              </a:buClr>
            </a:pPr>
            <a:r>
              <a:rPr lang="en-US" altLang="ko-KR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n_estimators,max_depth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등</a:t>
            </a:r>
            <a:endParaRPr lang="en-US" altLang="ko-KR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0" lvl="1" algn="just">
              <a:lnSpc>
                <a:spcPct val="139440"/>
              </a:lnSpc>
              <a:buClr>
                <a:srgbClr val="000000"/>
              </a:buClr>
            </a:pPr>
            <a:r>
              <a:rPr 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튜닝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방법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: </a:t>
            </a:r>
            <a:r>
              <a:rPr lang="en-US" sz="1264" dirty="0" err="1">
                <a:solidFill>
                  <a:srgbClr val="595959"/>
                </a:solidFill>
                <a:latin typeface="+mn-ea"/>
                <a:cs typeface="S-Core Dream 3 Light"/>
              </a:rPr>
              <a:t>Optuna</a:t>
            </a:r>
            <a:r>
              <a:rPr 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사용</a:t>
            </a:r>
            <a:endParaRPr lang="en-US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성능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변화</a:t>
            </a: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: </a:t>
            </a:r>
            <a:r>
              <a:rPr lang="en-US" sz="1264" dirty="0" err="1">
                <a:solidFill>
                  <a:srgbClr val="595959"/>
                </a:solidFill>
                <a:latin typeface="+mn-ea"/>
                <a:cs typeface="S-Core Dream 3 Light"/>
              </a:rPr>
              <a:t>Optuna</a:t>
            </a:r>
            <a:r>
              <a:rPr 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적용 후 </a:t>
            </a: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F2 Score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향상</a:t>
            </a:r>
            <a:endParaRPr lang="en-US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5319280" y="558800"/>
            <a:ext cx="3962400" cy="363855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Validation 방식:5-Fold CV (</a:t>
            </a:r>
            <a:r>
              <a:rPr lang="ko-KR" alt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과적합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방지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)</a:t>
            </a:r>
            <a:endParaRPr lang="en-US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추가검증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: 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별도 검증 데이터셋으로 </a:t>
            </a: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F2 score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최대화 </a:t>
            </a: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,</a:t>
            </a:r>
            <a:r>
              <a:rPr lang="ko-KR" altLang="en-US" sz="1264" dirty="0" err="1">
                <a:solidFill>
                  <a:srgbClr val="595959"/>
                </a:solidFill>
                <a:latin typeface="+mn-ea"/>
                <a:cs typeface="S-Core Dream 3 Light"/>
              </a:rPr>
              <a:t>임계값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 탐색</a:t>
            </a:r>
            <a:endParaRPr lang="en-US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84250" y="6235700"/>
            <a:ext cx="4403725" cy="21209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Random Forest 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내 변수 중요도 확인</a:t>
            </a:r>
            <a:endParaRPr lang="en-US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</p:txBody>
      </p:sp>
      <p:sp>
        <p:nvSpPr>
          <p:cNvPr id="27" name="TextBox 27"/>
          <p:cNvSpPr txBox="1"/>
          <p:nvPr/>
        </p:nvSpPr>
        <p:spPr>
          <a:xfrm>
            <a:off x="815674" y="10401299"/>
            <a:ext cx="8264826" cy="3643069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이상치를 포함한 변수들이 파산 예측에 유의미한 영향을 줌</a:t>
            </a:r>
            <a:endParaRPr lang="en-US" sz="1264" b="0" i="0" u="none" strike="noStrike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264" b="0" i="0" u="none" strike="noStrike" dirty="0" err="1">
                <a:solidFill>
                  <a:srgbClr val="595959"/>
                </a:solidFill>
                <a:latin typeface="+mn-ea"/>
                <a:cs typeface="S-Core Dream 3 Light"/>
              </a:rPr>
              <a:t>다중공선성</a:t>
            </a:r>
            <a:r>
              <a:rPr lang="ko-KR" altLang="en-US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 제거</a:t>
            </a:r>
            <a:r>
              <a:rPr lang="en-US" altLang="ko-KR" sz="1264" b="0" i="0" u="none" strike="noStrike" dirty="0">
                <a:solidFill>
                  <a:srgbClr val="595959"/>
                </a:solidFill>
                <a:latin typeface="+mn-ea"/>
                <a:cs typeface="S-Core Dream 3 Light"/>
              </a:rPr>
              <a:t>+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불균형 해소</a:t>
            </a: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+</a:t>
            </a:r>
            <a:r>
              <a:rPr lang="ko-KR" altLang="en-US" sz="1264" dirty="0" err="1">
                <a:solidFill>
                  <a:srgbClr val="595959"/>
                </a:solidFill>
                <a:latin typeface="+mn-ea"/>
                <a:cs typeface="S-Core Dream 3 Light"/>
              </a:rPr>
              <a:t>임계값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 최적화가 핵심 성능 개선 포인트</a:t>
            </a:r>
            <a:endParaRPr lang="en-US" altLang="ko-KR" sz="1264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수익성 지표가 파산을 가장 잘 설명한다</a:t>
            </a:r>
            <a:endParaRPr lang="en-US" altLang="ko-KR" sz="1264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0" lvl="1" algn="just">
              <a:lnSpc>
                <a:spcPct val="139440"/>
              </a:lnSpc>
              <a:buClr>
                <a:srgbClr val="000000"/>
              </a:buClr>
            </a:pP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→ </a:t>
            </a: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After-tax net Interest Rate, Continuous interest rate (after tax), Net Income to Stockholder's Equity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가 </a:t>
            </a: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TOP 3</a:t>
            </a: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ROA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가 여러 형태로 반복 등장 </a:t>
            </a:r>
            <a:endParaRPr lang="en-US" altLang="ko-KR" sz="1264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0" lvl="1" algn="just">
              <a:lnSpc>
                <a:spcPct val="139440"/>
              </a:lnSpc>
              <a:buClr>
                <a:srgbClr val="000000"/>
              </a:buClr>
            </a:pP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→ 자산 수익성이 일관된 신호</a:t>
            </a: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ROA(A), ROA(B), ROA(C)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세 가지 버전이 모두 등장      </a:t>
            </a:r>
            <a:endParaRPr lang="en-US" altLang="ko-KR" sz="1264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342900" lvl="1" indent="-342900" algn="just">
              <a:lnSpc>
                <a:spcPct val="139440"/>
              </a:lnSpc>
              <a:buClr>
                <a:srgbClr val="000000"/>
              </a:buClr>
              <a:buFont typeface="Arial"/>
              <a:buChar char="●"/>
            </a:pP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유동성 지표</a:t>
            </a: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(Quick Ratio)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는 상대적으로 덜 중요</a:t>
            </a:r>
            <a:endParaRPr lang="en-US" altLang="ko-KR" sz="1264" dirty="0">
              <a:solidFill>
                <a:srgbClr val="595959"/>
              </a:solidFill>
              <a:latin typeface="+mn-ea"/>
              <a:cs typeface="S-Core Dream 3 Light"/>
            </a:endParaRPr>
          </a:p>
          <a:p>
            <a:pPr marL="0" lvl="1" algn="just">
              <a:lnSpc>
                <a:spcPct val="139440"/>
              </a:lnSpc>
              <a:buClr>
                <a:srgbClr val="000000"/>
              </a:buClr>
            </a:pP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 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→</a:t>
            </a:r>
            <a:r>
              <a:rPr lang="en-US" altLang="ko-KR" sz="1264" dirty="0">
                <a:solidFill>
                  <a:srgbClr val="595959"/>
                </a:solidFill>
                <a:latin typeface="+mn-ea"/>
                <a:cs typeface="S-Core Dream 3 Light"/>
              </a:rPr>
              <a:t>  Quick Ratio</a:t>
            </a:r>
            <a:r>
              <a:rPr lang="ko-KR" altLang="en-US" sz="1264" dirty="0">
                <a:solidFill>
                  <a:srgbClr val="595959"/>
                </a:solidFill>
                <a:latin typeface="+mn-ea"/>
                <a:cs typeface="S-Core Dream 3 Light"/>
              </a:rPr>
              <a:t>가 최하위권</a:t>
            </a:r>
            <a:endParaRPr lang="en-US" altLang="ko-KR" sz="1264" dirty="0">
              <a:solidFill>
                <a:srgbClr val="595959"/>
              </a:solidFill>
              <a:latin typeface="+mn-ea"/>
              <a:cs typeface="S-Core Dream 3 Light"/>
            </a:endParaRPr>
          </a:p>
        </p:txBody>
      </p:sp>
      <p:sp>
        <p:nvSpPr>
          <p:cNvPr id="29" name="TextBox 6">
            <a:extLst>
              <a:ext uri="{FF2B5EF4-FFF2-40B4-BE49-F238E27FC236}">
                <a16:creationId xmlns:a16="http://schemas.microsoft.com/office/drawing/2014/main" id="{D0F3B2E2-64E8-05EC-9343-F70BE5E77E02}"/>
              </a:ext>
            </a:extLst>
          </p:cNvPr>
          <p:cNvSpPr txBox="1"/>
          <p:nvPr/>
        </p:nvSpPr>
        <p:spPr>
          <a:xfrm>
            <a:off x="735445" y="131445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cap="all" dirty="0">
                <a:solidFill>
                  <a:srgbClr val="FFFFFF"/>
                </a:solidFill>
                <a:latin typeface="+mj-ea"/>
                <a:ea typeface="+mj-ea"/>
                <a:cs typeface="S-Core Dream 5 Medium"/>
              </a:rPr>
              <a:t>파라미터 튜닝</a:t>
            </a:r>
            <a:endParaRPr lang="en-US" sz="1600" b="1" i="0" u="none" strike="noStrike" cap="all" dirty="0">
              <a:solidFill>
                <a:srgbClr val="FFFFFF"/>
              </a:solidFill>
              <a:latin typeface="+mj-ea"/>
              <a:ea typeface="+mj-ea"/>
              <a:cs typeface="S-Core Dream 5 Medium"/>
            </a:endParaRPr>
          </a:p>
        </p:txBody>
      </p:sp>
      <p:sp>
        <p:nvSpPr>
          <p:cNvPr id="30" name="TextBox 6">
            <a:extLst>
              <a:ext uri="{FF2B5EF4-FFF2-40B4-BE49-F238E27FC236}">
                <a16:creationId xmlns:a16="http://schemas.microsoft.com/office/drawing/2014/main" id="{A924091A-4940-B393-9015-5D4D245A7EB7}"/>
              </a:ext>
            </a:extLst>
          </p:cNvPr>
          <p:cNvSpPr txBox="1"/>
          <p:nvPr/>
        </p:nvSpPr>
        <p:spPr>
          <a:xfrm>
            <a:off x="5342082" y="130810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cap="all" dirty="0">
                <a:solidFill>
                  <a:srgbClr val="FFFFFF"/>
                </a:solidFill>
                <a:latin typeface="+mj-ea"/>
                <a:ea typeface="+mj-ea"/>
                <a:cs typeface="S-Core Dream 5 Medium"/>
              </a:rPr>
              <a:t>성능 평가</a:t>
            </a:r>
            <a:endParaRPr lang="en-US" sz="1600" b="1" i="0" u="none" strike="noStrike" cap="all" dirty="0">
              <a:solidFill>
                <a:srgbClr val="FFFFFF"/>
              </a:solidFill>
              <a:latin typeface="+mj-ea"/>
              <a:ea typeface="+mj-ea"/>
              <a:cs typeface="S-Core Dream 5 Medium"/>
            </a:endParaRPr>
          </a:p>
        </p:txBody>
      </p:sp>
      <p:sp>
        <p:nvSpPr>
          <p:cNvPr id="31" name="TextBox 6">
            <a:extLst>
              <a:ext uri="{FF2B5EF4-FFF2-40B4-BE49-F238E27FC236}">
                <a16:creationId xmlns:a16="http://schemas.microsoft.com/office/drawing/2014/main" id="{75D46E9A-4F3B-DC7B-78DF-B25EB326FD65}"/>
              </a:ext>
            </a:extLst>
          </p:cNvPr>
          <p:cNvSpPr txBox="1"/>
          <p:nvPr/>
        </p:nvSpPr>
        <p:spPr>
          <a:xfrm>
            <a:off x="723900" y="6369050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cap="all" dirty="0">
                <a:solidFill>
                  <a:srgbClr val="FFFFFF"/>
                </a:solidFill>
                <a:latin typeface="+mj-ea"/>
                <a:ea typeface="+mj-ea"/>
                <a:cs typeface="S-Core Dream 5 Medium"/>
              </a:rPr>
              <a:t>모델 해석</a:t>
            </a:r>
            <a:endParaRPr lang="en-US" sz="1600" b="1" i="0" u="none" strike="noStrike" cap="all" dirty="0">
              <a:solidFill>
                <a:srgbClr val="FFFFFF"/>
              </a:solidFill>
              <a:latin typeface="+mj-ea"/>
              <a:ea typeface="+mj-ea"/>
              <a:cs typeface="S-Core Dream 5 Medium"/>
            </a:endParaRPr>
          </a:p>
        </p:txBody>
      </p:sp>
      <p:sp>
        <p:nvSpPr>
          <p:cNvPr id="32" name="TextBox 6">
            <a:extLst>
              <a:ext uri="{FF2B5EF4-FFF2-40B4-BE49-F238E27FC236}">
                <a16:creationId xmlns:a16="http://schemas.microsoft.com/office/drawing/2014/main" id="{4CD821CD-0519-A176-59AE-8BD4CDFA1E26}"/>
              </a:ext>
            </a:extLst>
          </p:cNvPr>
          <p:cNvSpPr txBox="1"/>
          <p:nvPr/>
        </p:nvSpPr>
        <p:spPr>
          <a:xfrm>
            <a:off x="695036" y="10225809"/>
            <a:ext cx="1879600" cy="241300"/>
          </a:xfrm>
          <a:prstGeom prst="rect">
            <a:avLst/>
          </a:prstGeom>
        </p:spPr>
        <p:txBody>
          <a:bodyPr lIns="0" tIns="16933" rIns="0" bIns="16933" rtlCol="0" anchor="ctr"/>
          <a:lstStyle/>
          <a:p>
            <a:pPr lvl="0" algn="l">
              <a:lnSpc>
                <a:spcPct val="99600"/>
              </a:lnSpc>
            </a:pPr>
            <a:r>
              <a:rPr lang="ko-KR" altLang="en-US" sz="1600" b="1" i="0" u="none" strike="noStrike" cap="all" dirty="0">
                <a:solidFill>
                  <a:srgbClr val="FFFFFF"/>
                </a:solidFill>
                <a:latin typeface="+mj-ea"/>
                <a:ea typeface="+mj-ea"/>
                <a:cs typeface="S-Core Dream 5 Medium"/>
              </a:rPr>
              <a:t>결론 및 인사이트</a:t>
            </a:r>
            <a:endParaRPr lang="en-US" sz="1600" b="1" i="0" u="none" strike="noStrike" cap="all" dirty="0">
              <a:solidFill>
                <a:srgbClr val="FFFFFF"/>
              </a:solidFill>
              <a:latin typeface="+mj-ea"/>
              <a:ea typeface="+mj-ea"/>
              <a:cs typeface="S-Core Dream 5 Medium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5E138768-18EB-7DB7-42D3-A2B1AA16C0F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15674" y="7607300"/>
            <a:ext cx="4572301" cy="2082800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CEF4486-D122-478C-4BE1-CD342C28075D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68975" y="7581900"/>
            <a:ext cx="2118914" cy="2022475"/>
          </a:xfrm>
          <a:prstGeom prst="rect">
            <a:avLst/>
          </a:prstGeom>
        </p:spPr>
      </p:pic>
      <p:pic>
        <p:nvPicPr>
          <p:cNvPr id="28" name="shape1035">
            <a:extLst>
              <a:ext uri="{FF2B5EF4-FFF2-40B4-BE49-F238E27FC236}">
                <a16:creationId xmlns:a16="http://schemas.microsoft.com/office/drawing/2014/main" id="{EC48CB59-D254-A56C-8BE8-8954F9F6A611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12861" y="3555999"/>
            <a:ext cx="3827859" cy="1562101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B4504877-0212-1A31-42A8-E800D2282AD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469660" y="2999032"/>
            <a:ext cx="2235725" cy="25490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231</ep:Words>
  <ep:PresentationFormat>사용자 지정</ep:PresentationFormat>
  <ep:Paragraphs>37</ep:Paragraphs>
  <ep:Slides>2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Office Theme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dc:creator>JiSong Oh</dc:creator>
  <cp:lastModifiedBy>cogus</cp:lastModifiedBy>
  <dcterms:modified xsi:type="dcterms:W3CDTF">2026-03-28T20:00:31.134</dcterms:modified>
  <cp:revision>5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